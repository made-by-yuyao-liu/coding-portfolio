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1356" r:id="rId2"/>
    <p:sldId id="259" r:id="rId3"/>
    <p:sldId id="260" r:id="rId4"/>
    <p:sldId id="1376" r:id="rId5"/>
    <p:sldId id="1358" r:id="rId6"/>
    <p:sldId id="1372" r:id="rId7"/>
    <p:sldId id="1378" r:id="rId8"/>
    <p:sldId id="1377" r:id="rId9"/>
    <p:sldId id="1379" r:id="rId10"/>
    <p:sldId id="1371" r:id="rId11"/>
    <p:sldId id="1363" r:id="rId12"/>
    <p:sldId id="1367" r:id="rId13"/>
    <p:sldId id="1368" r:id="rId14"/>
    <p:sldId id="13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1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EEED48-6EBB-8C49-B9B3-EB666E5235BB}" v="705" dt="2026-04-13T01:29:12.519"/>
    <p1510:client id="{E917F0E8-0606-8546-8CA9-C95E6CA48400}" v="209" dt="2026-04-13T02:13:49.897"/>
  </p1510:revLst>
</p1510:revInfo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9"/>
    <p:restoredTop sz="94580"/>
  </p:normalViewPr>
  <p:slideViewPr>
    <p:cSldViewPr snapToGrid="0">
      <p:cViewPr varScale="1">
        <p:scale>
          <a:sx n="107" d="100"/>
          <a:sy n="107" d="100"/>
        </p:scale>
        <p:origin x="448" y="160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D7F8C3-DCCD-E341-9A27-4FA77A0E7969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58F26-12AD-F842-93CD-20D09EBFF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28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61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39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3562-41D1-9FB2-7AC4-23AC2348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09DEB6-027B-2C58-683D-304257C38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D0EE2-BBD6-DDE1-A19C-70C40185EC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1D278-230E-1259-83D7-DA2FBCE0C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9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258DD-5D87-31AE-D21C-1923D3A4D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7B77B-2D64-AEC1-EB34-C8DF3CCE2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5A9E1B-584E-2F08-24E6-73BF1525E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444FE-D079-7FFD-8F6B-0904C8CDB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52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CB52D-A35C-2496-D6BD-C3989F50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C73DA-4B6B-F542-A4D9-D62EEC651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EDB53-E3D2-A65D-D2DD-F361E4930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840FA-9F8F-EC1F-2DF5-E93867670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58F26-12AD-F842-93CD-20D09EBFF1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D1DC-4792-6F5C-1951-53EB3497C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1B8C1-6530-41A8-17F4-473AA6266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5A5BA5-916F-5ABD-1CF1-A7F1D4CF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A190E-E0A7-444A-A53B-CFCA2D96D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FAE8-20F3-CF82-4D5B-97207511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8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015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orient="horz" pos="795" userDrawn="1">
          <p15:clr>
            <a:srgbClr val="FBAE40"/>
          </p15:clr>
        </p15:guide>
        <p15:guide id="6" pos="66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4930-89B5-E91C-A13E-587900DB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F184E-F086-1320-17E5-9AAF52A0A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239E-140F-E609-060F-37F6FABD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0A96C-99FC-C202-001A-017997917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602A5-2471-4A86-25DD-34964477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617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506" userDrawn="1">
          <p15:clr>
            <a:srgbClr val="FBAE40"/>
          </p15:clr>
        </p15:guide>
        <p15:guide id="4" pos="7174" userDrawn="1">
          <p15:clr>
            <a:srgbClr val="FBAE40"/>
          </p15:clr>
        </p15:guide>
        <p15:guide id="5" orient="horz" pos="799" userDrawn="1">
          <p15:clr>
            <a:srgbClr val="FBAE40"/>
          </p15:clr>
        </p15:guide>
        <p15:guide id="6" orient="horz" pos="397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87E28-413D-B79D-B737-496203898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7817A-B1A9-B301-206A-B0B9A0894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FA8AE-E1F1-080D-E999-AB40E0D3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3EC6-66DD-A27F-3151-97ADD9DE6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2EAA7-1C02-5976-2221-8B1331DA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563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7EB9-CBAB-7AAE-8FD7-C81A4E5BB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17229-8CF1-28DD-F1B6-319A024DF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BB0C71-CF6C-EA15-FDB8-32E991607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F805E-3B7C-BA76-8D54-0CFF791A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B514D-FA45-7659-AD4B-9327FC949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C6A2C-4631-5C12-457D-7320E28A8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9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6935-AACC-05D3-1D66-18F5A67D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7633-30CD-9FF6-17E8-07C61F0E23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509CF-F3A8-3D05-FB96-286349245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234A3E-AA8F-81B6-A331-359ACD231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91728-0600-132F-D2D0-25194BD60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A2630-D499-283B-D4DF-85DF52C8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7CADE5-DC9C-7FB6-7F65-A5AACEC7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F6493-70D8-1FBB-B393-DAD8E95E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735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9B29-23A6-69ED-86F0-9F922615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54A19-C082-1A07-F221-E56297C3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C0EBF-189C-09D6-061E-1A5D58503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2CAF9-B8FA-21F6-E3EF-F06E145CF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4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6A937-D9B6-A45E-E14E-08C302E0A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DEBFA3-382E-BAFC-888F-C0D415AF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C07C5-E49F-C4CC-98ED-528F5EC7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75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FE58F-FA31-CF71-651D-45EF3E7F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741D6-A176-E743-B84F-D77016CF5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FA87-E0C3-8606-07C4-A4E31E442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F8098-F3BD-41F0-DAD5-477E6C50E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C9194-D419-FF33-7B14-8205713B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AEF0F-84D7-BA16-0A5E-0D4F8597F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8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777B-CD7E-6FAF-D7A5-53973A1F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448F3C-59B1-918B-5A7E-894C8DCFC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652F5-C91E-0384-450D-088462923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DB082-F3A9-0AC2-4136-66F6BA6F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25F48-7215-32DF-77A4-7F4EA678E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4D9BC-CB74-DD7E-486D-252B6F5FD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14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18F9-6174-E18F-24F8-11E4C46F2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4F9C3-2CFA-B072-27EE-BD5F44F0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6D671-EB76-0071-1B9B-74B269F1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0D1FF-073E-773F-66B9-F0FE90A5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ADAB0-8701-2FDC-8DFD-BC8853D11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2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11C44-EB24-F5FD-415E-C734D6ADF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FE96E-CC56-4115-A3F2-609A23C6D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39EAB-DE26-7D6E-02A3-5DBD9F465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4FCD3-0555-AE4B-910D-595A2BE2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20FFA-95EA-974C-3860-68F3F5D4D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9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5C83E3-00CA-8C6D-E9AA-02C9DC3F0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6FECA-EFD0-C176-511F-743A2AA82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A7F54-C694-5C8F-F0CA-CF32F1AE6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A3CD6-81EB-4049-A8E9-863B4446189F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39FC-6F10-E264-9E2A-ABF23389B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50326-3CF9-C1BC-A1F3-FFC2F977A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C77DAA-0C4F-2D49-AF8F-114B89D05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Airport Photos, Download The BEST Free Airport Stock Photos &amp; HD Images">
            <a:extLst>
              <a:ext uri="{FF2B5EF4-FFF2-40B4-BE49-F238E27FC236}">
                <a16:creationId xmlns:a16="http://schemas.microsoft.com/office/drawing/2014/main" id="{3D037437-E545-333D-93EB-E063D78C0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7811" y="0"/>
            <a:ext cx="12429811" cy="932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868A0CEE-7A2A-7155-3886-4038B4B78012}"/>
              </a:ext>
            </a:extLst>
          </p:cNvPr>
          <p:cNvSpPr/>
          <p:nvPr/>
        </p:nvSpPr>
        <p:spPr>
          <a:xfrm>
            <a:off x="5355771" y="1905000"/>
            <a:ext cx="6836229" cy="2636125"/>
          </a:xfrm>
          <a:custGeom>
            <a:avLst/>
            <a:gdLst/>
            <a:ahLst/>
            <a:cxnLst/>
            <a:rect l="l" t="t" r="r" b="b"/>
            <a:pathLst>
              <a:path w="6096000" h="3419475">
                <a:moveTo>
                  <a:pt x="6096000" y="0"/>
                </a:moveTo>
                <a:lnTo>
                  <a:pt x="0" y="0"/>
                </a:lnTo>
                <a:lnTo>
                  <a:pt x="0" y="3419475"/>
                </a:lnTo>
                <a:lnTo>
                  <a:pt x="6096000" y="3419475"/>
                </a:lnTo>
                <a:lnTo>
                  <a:pt x="6096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2931DB02-BC58-3646-A87F-7EDC2CE8487B}"/>
              </a:ext>
            </a:extLst>
          </p:cNvPr>
          <p:cNvSpPr txBox="1">
            <a:spLocks/>
          </p:cNvSpPr>
          <p:nvPr/>
        </p:nvSpPr>
        <p:spPr>
          <a:xfrm>
            <a:off x="5693229" y="2271319"/>
            <a:ext cx="6388704" cy="1170064"/>
          </a:xfrm>
          <a:prstGeom prst="rect">
            <a:avLst/>
          </a:prstGeom>
        </p:spPr>
        <p:txBody>
          <a:bodyPr vert="horz" wrap="square" lIns="0" tIns="8128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b="1" kern="0" spc="95" dirty="0">
                <a:solidFill>
                  <a:srgbClr val="FFFFFF"/>
                </a:solidFill>
                <a:latin typeface="Palatino"/>
              </a:rPr>
              <a:t>NYC Layover </a:t>
            </a:r>
          </a:p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b="1" kern="0" spc="95" dirty="0">
                <a:solidFill>
                  <a:srgbClr val="FFFFFF"/>
                </a:solidFill>
                <a:latin typeface="Palatino"/>
              </a:rPr>
              <a:t>Itinerary Chatbot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91FB41A-C63E-F455-D5AF-96948613F373}"/>
              </a:ext>
            </a:extLst>
          </p:cNvPr>
          <p:cNvGrpSpPr/>
          <p:nvPr/>
        </p:nvGrpSpPr>
        <p:grpSpPr>
          <a:xfrm>
            <a:off x="6096000" y="4073086"/>
            <a:ext cx="5276850" cy="1141979"/>
            <a:chOff x="6096000" y="4263585"/>
            <a:chExt cx="5276850" cy="1141979"/>
          </a:xfrm>
        </p:grpSpPr>
        <p:sp>
          <p:nvSpPr>
            <p:cNvPr id="7" name="object 9">
              <a:extLst>
                <a:ext uri="{FF2B5EF4-FFF2-40B4-BE49-F238E27FC236}">
                  <a16:creationId xmlns:a16="http://schemas.microsoft.com/office/drawing/2014/main" id="{0AF54E1C-67C8-3F54-5F36-5C2336CD5980}"/>
                </a:ext>
              </a:extLst>
            </p:cNvPr>
            <p:cNvSpPr/>
            <p:nvPr/>
          </p:nvSpPr>
          <p:spPr>
            <a:xfrm>
              <a:off x="6096000" y="4352925"/>
              <a:ext cx="5276850" cy="1028700"/>
            </a:xfrm>
            <a:custGeom>
              <a:avLst/>
              <a:gdLst/>
              <a:ahLst/>
              <a:cxnLst/>
              <a:rect l="l" t="t" r="r" b="b"/>
              <a:pathLst>
                <a:path w="5276850" h="1028700">
                  <a:moveTo>
                    <a:pt x="5276850" y="0"/>
                  </a:moveTo>
                  <a:lnTo>
                    <a:pt x="0" y="0"/>
                  </a:lnTo>
                  <a:lnTo>
                    <a:pt x="0" y="1028700"/>
                  </a:lnTo>
                  <a:lnTo>
                    <a:pt x="5276850" y="1028700"/>
                  </a:lnTo>
                  <a:lnTo>
                    <a:pt x="5276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n-US"/>
            </a:p>
          </p:txBody>
        </p:sp>
        <p:sp>
          <p:nvSpPr>
            <p:cNvPr id="9" name="object 19">
              <a:extLst>
                <a:ext uri="{FF2B5EF4-FFF2-40B4-BE49-F238E27FC236}">
                  <a16:creationId xmlns:a16="http://schemas.microsoft.com/office/drawing/2014/main" id="{C0FD3470-7D2B-4165-BCBD-C7C15B33F818}"/>
                </a:ext>
              </a:extLst>
            </p:cNvPr>
            <p:cNvSpPr txBox="1"/>
            <p:nvPr/>
          </p:nvSpPr>
          <p:spPr>
            <a:xfrm>
              <a:off x="6221515" y="4263585"/>
              <a:ext cx="4924444" cy="1141979"/>
            </a:xfrm>
            <a:prstGeom prst="rect">
              <a:avLst/>
            </a:prstGeom>
          </p:spPr>
          <p:txBody>
            <a:bodyPr vert="horz" wrap="square" lIns="0" tIns="130175" rIns="0" bIns="0" rtlCol="0" anchor="ctr">
              <a:spAutoFit/>
            </a:bodyPr>
            <a:lstStyle/>
            <a:p>
              <a:pPr marL="12700">
                <a:spcBef>
                  <a:spcPts val="1025"/>
                </a:spcBef>
              </a:pPr>
              <a:endParaRPr lang="en-US" sz="1550" spc="105" dirty="0">
                <a:solidFill>
                  <a:schemeClr val="accent5">
                    <a:lumMod val="50000"/>
                  </a:schemeClr>
                </a:solidFill>
                <a:latin typeface="+mj-lt"/>
                <a:cs typeface="Trebuchet MS"/>
              </a:endParaRPr>
            </a:p>
            <a:p>
              <a:pPr marL="12700">
                <a:lnSpc>
                  <a:spcPct val="100000"/>
                </a:lnSpc>
                <a:spcBef>
                  <a:spcPts val="1025"/>
                </a:spcBef>
              </a:pPr>
              <a:r>
                <a:rPr lang="en-US" sz="1550" spc="105" dirty="0">
                  <a:solidFill>
                    <a:schemeClr val="accent5">
                      <a:lumMod val="50000"/>
                    </a:schemeClr>
                  </a:solidFill>
                  <a:latin typeface="+mj-lt"/>
                  <a:cs typeface="Trebuchet MS"/>
                </a:rPr>
                <a:t>Yuyao (Cindy) Liu</a:t>
              </a:r>
            </a:p>
            <a:p>
              <a:pPr marL="12700">
                <a:lnSpc>
                  <a:spcPct val="100000"/>
                </a:lnSpc>
                <a:spcBef>
                  <a:spcPts val="1025"/>
                </a:spcBef>
              </a:pPr>
              <a:endParaRPr 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851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37A0-CFB0-BAF5-41F4-292FA36D5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1DD2AE-426A-C973-0687-C2DE2338F913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8BE83-5258-805C-CFC8-758D0B3C1B96}"/>
              </a:ext>
            </a:extLst>
          </p:cNvPr>
          <p:cNvSpPr txBox="1"/>
          <p:nvPr/>
        </p:nvSpPr>
        <p:spPr>
          <a:xfrm>
            <a:off x="802748" y="186342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 pitchFamily="2" charset="77"/>
                <a:ea typeface="Palatino" pitchFamily="2" charset="77"/>
              </a:rPr>
              <a:t>IMAGINE </a:t>
            </a:r>
          </a:p>
        </p:txBody>
      </p:sp>
      <p:pic>
        <p:nvPicPr>
          <p:cNvPr id="8" name="Graphic 7" descr="Flying Money with solid fill">
            <a:extLst>
              <a:ext uri="{FF2B5EF4-FFF2-40B4-BE49-F238E27FC236}">
                <a16:creationId xmlns:a16="http://schemas.microsoft.com/office/drawing/2014/main" id="{FDEC19F1-605D-72B8-6389-36D9E75C3B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1032" y="1681419"/>
            <a:ext cx="947530" cy="947530"/>
          </a:xfrm>
          <a:prstGeom prst="rect">
            <a:avLst/>
          </a:prstGeom>
        </p:spPr>
      </p:pic>
      <p:pic>
        <p:nvPicPr>
          <p:cNvPr id="13" name="Graphic 12" descr="Hourglass 90% with solid fill">
            <a:extLst>
              <a:ext uri="{FF2B5EF4-FFF2-40B4-BE49-F238E27FC236}">
                <a16:creationId xmlns:a16="http://schemas.microsoft.com/office/drawing/2014/main" id="{54508A22-9771-93F2-A1F7-3C2F6BEB0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7002" y="1697984"/>
            <a:ext cx="914400" cy="914400"/>
          </a:xfrm>
          <a:prstGeom prst="rect">
            <a:avLst/>
          </a:prstGeom>
        </p:spPr>
      </p:pic>
      <p:pic>
        <p:nvPicPr>
          <p:cNvPr id="15" name="Graphic 14" descr="Flip calendar with solid fill">
            <a:extLst>
              <a:ext uri="{FF2B5EF4-FFF2-40B4-BE49-F238E27FC236}">
                <a16:creationId xmlns:a16="http://schemas.microsoft.com/office/drawing/2014/main" id="{1BFF9E01-0D49-A38C-0508-28D382202B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69842" y="1697984"/>
            <a:ext cx="914400" cy="914400"/>
          </a:xfrm>
          <a:prstGeom prst="rect">
            <a:avLst/>
          </a:prstGeom>
        </p:spPr>
      </p:pic>
      <p:pic>
        <p:nvPicPr>
          <p:cNvPr id="17" name="Graphic 16" descr="Selfie Stick with solid fill">
            <a:extLst>
              <a:ext uri="{FF2B5EF4-FFF2-40B4-BE49-F238E27FC236}">
                <a16:creationId xmlns:a16="http://schemas.microsoft.com/office/drawing/2014/main" id="{4B5530C5-6969-0C98-2CA6-08C95DA616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87597" y="3539711"/>
            <a:ext cx="914400" cy="914400"/>
          </a:xfrm>
          <a:prstGeom prst="rect">
            <a:avLst/>
          </a:prstGeom>
        </p:spPr>
      </p:pic>
      <p:pic>
        <p:nvPicPr>
          <p:cNvPr id="19" name="Graphic 18" descr="Idea with solid fill">
            <a:extLst>
              <a:ext uri="{FF2B5EF4-FFF2-40B4-BE49-F238E27FC236}">
                <a16:creationId xmlns:a16="http://schemas.microsoft.com/office/drawing/2014/main" id="{F67B2502-9E17-73A8-9917-D7C10EF4A6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87002" y="3539711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C67B462-354A-6337-76F4-B92987241CD7}"/>
              </a:ext>
            </a:extLst>
          </p:cNvPr>
          <p:cNvSpPr txBox="1"/>
          <p:nvPr/>
        </p:nvSpPr>
        <p:spPr>
          <a:xfrm>
            <a:off x="908704" y="2753389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$50 to spend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5F319-7BF5-192F-E6C8-4D5764F97963}"/>
              </a:ext>
            </a:extLst>
          </p:cNvPr>
          <p:cNvSpPr txBox="1"/>
          <p:nvPr/>
        </p:nvSpPr>
        <p:spPr>
          <a:xfrm>
            <a:off x="4908110" y="2753389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6 hours to kill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438458-26D1-3EFE-2423-BEACDFB26EA9}"/>
              </a:ext>
            </a:extLst>
          </p:cNvPr>
          <p:cNvSpPr txBox="1"/>
          <p:nvPr/>
        </p:nvSpPr>
        <p:spPr>
          <a:xfrm>
            <a:off x="803274" y="1215405"/>
            <a:ext cx="694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You just arrived at the JFK airport for your layover, and you have…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FF8920-BFA6-7F72-000B-6F51B7675607}"/>
              </a:ext>
            </a:extLst>
          </p:cNvPr>
          <p:cNvSpPr txBox="1"/>
          <p:nvPr/>
        </p:nvSpPr>
        <p:spPr>
          <a:xfrm>
            <a:off x="8890949" y="2753389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0 planned activities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5C2429-6378-9D06-795E-8F7D310A3102}"/>
              </a:ext>
            </a:extLst>
          </p:cNvPr>
          <p:cNvSpPr txBox="1"/>
          <p:nvPr/>
        </p:nvSpPr>
        <p:spPr>
          <a:xfrm>
            <a:off x="908704" y="4433156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 urge to tour the city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947EC0-6EAC-E155-A203-A798A3F43E5F}"/>
              </a:ext>
            </a:extLst>
          </p:cNvPr>
          <p:cNvSpPr txBox="1"/>
          <p:nvPr/>
        </p:nvSpPr>
        <p:spPr>
          <a:xfrm>
            <a:off x="4908110" y="4450881"/>
            <a:ext cx="2472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clue what’s popular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1BC20A-92FB-98B6-DD23-58C75DD74C2D}"/>
              </a:ext>
            </a:extLst>
          </p:cNvPr>
          <p:cNvSpPr txBox="1"/>
          <p:nvPr/>
        </p:nvSpPr>
        <p:spPr>
          <a:xfrm>
            <a:off x="8890949" y="4458236"/>
            <a:ext cx="2472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 clue what the traffic situation is</a:t>
            </a:r>
          </a:p>
        </p:txBody>
      </p:sp>
      <p:pic>
        <p:nvPicPr>
          <p:cNvPr id="30" name="Graphic 29" descr="Traffic light with solid fill">
            <a:extLst>
              <a:ext uri="{FF2B5EF4-FFF2-40B4-BE49-F238E27FC236}">
                <a16:creationId xmlns:a16="http://schemas.microsoft.com/office/drawing/2014/main" id="{4752C755-A0DA-8D80-DBD6-A3CD24E406F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69842" y="3539711"/>
            <a:ext cx="914400" cy="914400"/>
          </a:xfrm>
          <a:prstGeom prst="rect">
            <a:avLst/>
          </a:prstGeom>
        </p:spPr>
      </p:pic>
      <p:sp>
        <p:nvSpPr>
          <p:cNvPr id="31" name="Triangle 30">
            <a:extLst>
              <a:ext uri="{FF2B5EF4-FFF2-40B4-BE49-F238E27FC236}">
                <a16:creationId xmlns:a16="http://schemas.microsoft.com/office/drawing/2014/main" id="{6E191CCD-B8E0-B882-0B4F-7E8CBBCA3171}"/>
              </a:ext>
            </a:extLst>
          </p:cNvPr>
          <p:cNvSpPr/>
          <p:nvPr/>
        </p:nvSpPr>
        <p:spPr>
          <a:xfrm rot="10800000">
            <a:off x="4181060" y="4997828"/>
            <a:ext cx="3829878" cy="17760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651B19-A562-6244-64FB-42882910B49E}"/>
              </a:ext>
            </a:extLst>
          </p:cNvPr>
          <p:cNvSpPr/>
          <p:nvPr/>
        </p:nvSpPr>
        <p:spPr>
          <a:xfrm>
            <a:off x="3272387" y="5310574"/>
            <a:ext cx="5647226" cy="99815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B1E534-738C-12CB-1750-A757B2B86F69}"/>
              </a:ext>
            </a:extLst>
          </p:cNvPr>
          <p:cNvSpPr txBox="1"/>
          <p:nvPr/>
        </p:nvSpPr>
        <p:spPr>
          <a:xfrm>
            <a:off x="4181060" y="5486483"/>
            <a:ext cx="4446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So, how do you account for all these variables without wasting too much time?</a:t>
            </a:r>
          </a:p>
        </p:txBody>
      </p:sp>
      <p:pic>
        <p:nvPicPr>
          <p:cNvPr id="35" name="Graphic 34" descr="Question Mark with solid fill">
            <a:extLst>
              <a:ext uri="{FF2B5EF4-FFF2-40B4-BE49-F238E27FC236}">
                <a16:creationId xmlns:a16="http://schemas.microsoft.com/office/drawing/2014/main" id="{D0326431-0EF3-769B-16BC-46FE1BD000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380889" y="5463814"/>
            <a:ext cx="691668" cy="69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36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E44AEE-715E-4EBF-BD3D-575D1F825EB5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FE431E-10E3-1BB9-C0F4-5481FA4FC41C}"/>
              </a:ext>
            </a:extLst>
          </p:cNvPr>
          <p:cNvSpPr txBox="1"/>
          <p:nvPr/>
        </p:nvSpPr>
        <p:spPr>
          <a:xfrm>
            <a:off x="803274" y="170152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 pitchFamily="2" charset="77"/>
                <a:ea typeface="Palatino" pitchFamily="2" charset="77"/>
              </a:rPr>
              <a:t>THE PROBLEM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B000FD-24EF-4EC2-E7A5-6B2D269656E4}"/>
              </a:ext>
            </a:extLst>
          </p:cNvPr>
          <p:cNvSpPr txBox="1"/>
          <p:nvPr/>
        </p:nvSpPr>
        <p:spPr>
          <a:xfrm>
            <a:off x="803274" y="1215405"/>
            <a:ext cx="6949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This isn’t some rare edge case.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B9C16-E4AD-7847-43C2-FE8869883B7C}"/>
              </a:ext>
            </a:extLst>
          </p:cNvPr>
          <p:cNvSpPr/>
          <p:nvPr/>
        </p:nvSpPr>
        <p:spPr>
          <a:xfrm>
            <a:off x="812899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8C330D-36DF-0A5E-D269-6EFDF4BFF976}"/>
              </a:ext>
            </a:extLst>
          </p:cNvPr>
          <p:cNvSpPr/>
          <p:nvPr/>
        </p:nvSpPr>
        <p:spPr>
          <a:xfrm>
            <a:off x="6218997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BD0A7C-D556-08A8-F529-C7199A0CD53A}"/>
              </a:ext>
            </a:extLst>
          </p:cNvPr>
          <p:cNvSpPr/>
          <p:nvPr/>
        </p:nvSpPr>
        <p:spPr>
          <a:xfrm>
            <a:off x="8926858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49C58F-5047-893E-C848-E0D102F69388}"/>
              </a:ext>
            </a:extLst>
          </p:cNvPr>
          <p:cNvSpPr/>
          <p:nvPr/>
        </p:nvSpPr>
        <p:spPr>
          <a:xfrm>
            <a:off x="3511580" y="2027583"/>
            <a:ext cx="2443508" cy="29022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965F07-E083-D1FE-791E-9AD1886DCD1F}"/>
              </a:ext>
            </a:extLst>
          </p:cNvPr>
          <p:cNvSpPr/>
          <p:nvPr/>
        </p:nvSpPr>
        <p:spPr>
          <a:xfrm>
            <a:off x="812453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F4552C-7DD4-D513-5775-EC23E5061F1A}"/>
              </a:ext>
            </a:extLst>
          </p:cNvPr>
          <p:cNvSpPr/>
          <p:nvPr/>
        </p:nvSpPr>
        <p:spPr>
          <a:xfrm>
            <a:off x="3511134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1065CB-3203-F91B-6F35-11C6A045CF89}"/>
              </a:ext>
            </a:extLst>
          </p:cNvPr>
          <p:cNvSpPr/>
          <p:nvPr/>
        </p:nvSpPr>
        <p:spPr>
          <a:xfrm>
            <a:off x="6214578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14A20B-5BD4-9F16-94E0-1E2DCFE5BB5B}"/>
              </a:ext>
            </a:extLst>
          </p:cNvPr>
          <p:cNvSpPr/>
          <p:nvPr/>
        </p:nvSpPr>
        <p:spPr>
          <a:xfrm>
            <a:off x="8931273" y="2044986"/>
            <a:ext cx="2444400" cy="11926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6288DC-A807-6E7D-454D-9966EAD594FE}"/>
              </a:ext>
            </a:extLst>
          </p:cNvPr>
          <p:cNvSpPr txBox="1"/>
          <p:nvPr/>
        </p:nvSpPr>
        <p:spPr>
          <a:xfrm>
            <a:off x="1000983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145M+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771E74-76FC-0A42-42BE-1A5F289C6B30}"/>
              </a:ext>
            </a:extLst>
          </p:cNvPr>
          <p:cNvSpPr txBox="1"/>
          <p:nvPr/>
        </p:nvSpPr>
        <p:spPr>
          <a:xfrm>
            <a:off x="3699664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6-12 </a:t>
            </a:r>
            <a:r>
              <a:rPr lang="en-US" sz="4000" b="1" err="1">
                <a:latin typeface="Calibri" panose="020F0502020204030204" pitchFamily="34" charset="0"/>
                <a:cs typeface="Calibri" panose="020F0502020204030204" pitchFamily="34" charset="0"/>
              </a:rPr>
              <a:t>hrs</a:t>
            </a:r>
            <a:endParaRPr lang="en-US" sz="4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189521-28AC-CB98-9203-F5303F312FE3}"/>
              </a:ext>
            </a:extLst>
          </p:cNvPr>
          <p:cNvSpPr txBox="1"/>
          <p:nvPr/>
        </p:nvSpPr>
        <p:spPr>
          <a:xfrm>
            <a:off x="6407081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100+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3B599B-5B16-7FCE-DF36-FA9280254512}"/>
              </a:ext>
            </a:extLst>
          </p:cNvPr>
          <p:cNvSpPr txBox="1"/>
          <p:nvPr/>
        </p:nvSpPr>
        <p:spPr>
          <a:xfrm>
            <a:off x="9114942" y="2481313"/>
            <a:ext cx="2067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05BE2-8CEF-D044-9DBF-F135B4BA1489}"/>
              </a:ext>
            </a:extLst>
          </p:cNvPr>
          <p:cNvSpPr txBox="1"/>
          <p:nvPr/>
        </p:nvSpPr>
        <p:spPr>
          <a:xfrm>
            <a:off x="974689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annual passengers flying into JFK, EWR and LGA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9FBADA-49F4-EE46-0F9E-C00EC0661466}"/>
              </a:ext>
            </a:extLst>
          </p:cNvPr>
          <p:cNvSpPr txBox="1"/>
          <p:nvPr/>
        </p:nvSpPr>
        <p:spPr>
          <a:xfrm>
            <a:off x="3704637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typical international layover window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BB4B958-AF3C-2334-D177-2E656379BAB4}"/>
              </a:ext>
            </a:extLst>
          </p:cNvPr>
          <p:cNvSpPr txBox="1"/>
          <p:nvPr/>
        </p:nvSpPr>
        <p:spPr>
          <a:xfrm>
            <a:off x="6408080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airlines flying into JFK from 50+ different countries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AE2578-2606-6E13-DC1D-08E08CF890AE}"/>
              </a:ext>
            </a:extLst>
          </p:cNvPr>
          <p:cNvSpPr txBox="1"/>
          <p:nvPr/>
        </p:nvSpPr>
        <p:spPr>
          <a:xfrm>
            <a:off x="9124776" y="3666449"/>
            <a:ext cx="206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time-aware travel itinerary tools that exist today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EFD3E1-53CE-C356-BE1B-765C87DF4303}"/>
              </a:ext>
            </a:extLst>
          </p:cNvPr>
          <p:cNvSpPr/>
          <p:nvPr/>
        </p:nvSpPr>
        <p:spPr>
          <a:xfrm rot="16200000">
            <a:off x="386837" y="5794412"/>
            <a:ext cx="939930" cy="8869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9D82B3-FE9B-6EF0-E901-2FE8CC8B5437}"/>
              </a:ext>
            </a:extLst>
          </p:cNvPr>
          <p:cNvSpPr txBox="1"/>
          <p:nvPr/>
        </p:nvSpPr>
        <p:spPr>
          <a:xfrm>
            <a:off x="1000982" y="5368794"/>
            <a:ext cx="10369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Millions of travelers land in NYC every year with time to explore and tour the city, but without a structured way to use it.</a:t>
            </a:r>
          </a:p>
          <a:p>
            <a:r>
              <a:rPr lang="en-US"/>
              <a:t>Google, Tripadvisor and others gives laundry lists, not an actionable plan.</a:t>
            </a:r>
          </a:p>
        </p:txBody>
      </p:sp>
    </p:spTree>
    <p:extLst>
      <p:ext uri="{BB962C8B-B14F-4D97-AF65-F5344CB8AC3E}">
        <p14:creationId xmlns:p14="http://schemas.microsoft.com/office/powerpoint/2010/main" val="363873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16787-61AF-6A16-B10F-860B29DA9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3248F4-6D17-1A32-75B1-CE2BDF4CB8C7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8F3582-F57C-BCED-182A-87613DDC6C8A}"/>
              </a:ext>
            </a:extLst>
          </p:cNvPr>
          <p:cNvSpPr txBox="1"/>
          <p:nvPr/>
        </p:nvSpPr>
        <p:spPr>
          <a:xfrm>
            <a:off x="803274" y="170152"/>
            <a:ext cx="1040694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  <a:ea typeface="Palatino" pitchFamily="2" charset="77"/>
              </a:rPr>
              <a:t>THE SOLUTIO</a:t>
            </a:r>
            <a:r>
              <a:rPr lang="en-US" sz="3000" b="1">
                <a:solidFill>
                  <a:schemeClr val="bg1"/>
                </a:solidFill>
                <a:latin typeface="Palatino"/>
              </a:rPr>
              <a:t>N – NYC Layover Itinerary Chatbot</a:t>
            </a:r>
          </a:p>
          <a:p>
            <a:endParaRPr lang="en-US" sz="3000" b="1">
              <a:solidFill>
                <a:schemeClr val="bg1"/>
              </a:solidFill>
              <a:latin typeface="Palatino" pitchFamily="2" charset="77"/>
              <a:ea typeface="Palatino" pitchFamily="2" charset="7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668764-3697-F995-192E-EC934A9BA165}"/>
              </a:ext>
            </a:extLst>
          </p:cNvPr>
          <p:cNvSpPr/>
          <p:nvPr/>
        </p:nvSpPr>
        <p:spPr>
          <a:xfrm>
            <a:off x="803275" y="1455819"/>
            <a:ext cx="4839274" cy="485206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317353-B9CD-D9E8-B3BF-7DEAF79FE6AA}"/>
              </a:ext>
            </a:extLst>
          </p:cNvPr>
          <p:cNvSpPr txBox="1"/>
          <p:nvPr/>
        </p:nvSpPr>
        <p:spPr>
          <a:xfrm>
            <a:off x="2245651" y="1268413"/>
            <a:ext cx="192200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Calibri" panose="020F0502020204030204" pitchFamily="34" charset="0"/>
                <a:cs typeface="Calibri" panose="020F0502020204030204" pitchFamily="34" charset="0"/>
              </a:rPr>
              <a:t> We Built This For</a:t>
            </a:r>
          </a:p>
        </p:txBody>
      </p:sp>
      <p:pic>
        <p:nvPicPr>
          <p:cNvPr id="25" name="Picture 2" descr="New York City Tourism's new brand identity builds on the graphic heritage  of the city">
            <a:extLst>
              <a:ext uri="{FF2B5EF4-FFF2-40B4-BE49-F238E27FC236}">
                <a16:creationId xmlns:a16="http://schemas.microsoft.com/office/drawing/2014/main" id="{7861FD4A-D6AC-55DB-7AB5-12EF5A3B7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05" y="1989391"/>
            <a:ext cx="643867" cy="722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84E6A92-3D33-6586-069F-DD964D762F56}"/>
              </a:ext>
            </a:extLst>
          </p:cNvPr>
          <p:cNvSpPr txBox="1"/>
          <p:nvPr/>
        </p:nvSpPr>
        <p:spPr>
          <a:xfrm>
            <a:off x="1908532" y="1894941"/>
            <a:ext cx="33617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NYC Tourism + Conventions is NYC's official destination marketing organization, promoting the city as a premier global travel destination.</a:t>
            </a:r>
            <a:endParaRPr lang="en-CA">
              <a:effectLst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EA3583-A46C-AEC9-90AF-3461CB78EF77}"/>
              </a:ext>
            </a:extLst>
          </p:cNvPr>
          <p:cNvSpPr txBox="1"/>
          <p:nvPr/>
        </p:nvSpPr>
        <p:spPr>
          <a:xfrm>
            <a:off x="1093605" y="3583582"/>
            <a:ext cx="194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Current Offerings: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EDDEFF-E96C-4D8D-9658-7A14F4CBBC86}"/>
              </a:ext>
            </a:extLst>
          </p:cNvPr>
          <p:cNvSpPr txBox="1"/>
          <p:nvPr/>
        </p:nvSpPr>
        <p:spPr>
          <a:xfrm>
            <a:off x="1415538" y="3933039"/>
            <a:ext cx="3854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General tourism resources designed for traditional visitors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A70670-4860-1B18-2C98-4AA04115062D}"/>
              </a:ext>
            </a:extLst>
          </p:cNvPr>
          <p:cNvSpPr txBox="1"/>
          <p:nvPr/>
        </p:nvSpPr>
        <p:spPr>
          <a:xfrm>
            <a:off x="1415539" y="4563525"/>
            <a:ext cx="3854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Provides tourists with a curated list of food and beverage, attractions, accommodations and various guides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B25A9B02-AC2E-7FB1-1E9E-ACF541D2CD5F}"/>
              </a:ext>
            </a:extLst>
          </p:cNvPr>
          <p:cNvSpPr/>
          <p:nvPr/>
        </p:nvSpPr>
        <p:spPr>
          <a:xfrm rot="5400000">
            <a:off x="1210439" y="4058145"/>
            <a:ext cx="100254" cy="92766"/>
          </a:xfrm>
          <a:prstGeom prst="triangle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riangle 30">
            <a:extLst>
              <a:ext uri="{FF2B5EF4-FFF2-40B4-BE49-F238E27FC236}">
                <a16:creationId xmlns:a16="http://schemas.microsoft.com/office/drawing/2014/main" id="{83D68CF5-478C-B135-BA81-22FB95B2F28F}"/>
              </a:ext>
            </a:extLst>
          </p:cNvPr>
          <p:cNvSpPr/>
          <p:nvPr/>
        </p:nvSpPr>
        <p:spPr>
          <a:xfrm rot="5400000">
            <a:off x="1210439" y="4681276"/>
            <a:ext cx="100254" cy="92766"/>
          </a:xfrm>
          <a:prstGeom prst="triangle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riangle 36">
            <a:extLst>
              <a:ext uri="{FF2B5EF4-FFF2-40B4-BE49-F238E27FC236}">
                <a16:creationId xmlns:a16="http://schemas.microsoft.com/office/drawing/2014/main" id="{350AC24B-DFA4-6739-1913-A8A20702013F}"/>
              </a:ext>
            </a:extLst>
          </p:cNvPr>
          <p:cNvSpPr/>
          <p:nvPr/>
        </p:nvSpPr>
        <p:spPr>
          <a:xfrm rot="5400000">
            <a:off x="1209749" y="5608574"/>
            <a:ext cx="100254" cy="92766"/>
          </a:xfrm>
          <a:prstGeom prst="triangle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615926-0306-38DD-4461-FA681AAE950D}"/>
              </a:ext>
            </a:extLst>
          </p:cNvPr>
          <p:cNvSpPr txBox="1"/>
          <p:nvPr/>
        </p:nvSpPr>
        <p:spPr>
          <a:xfrm>
            <a:off x="1415538" y="5470291"/>
            <a:ext cx="38547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/>
              <a:t>No presence in airports or platforms serving transient travelers</a:t>
            </a:r>
            <a:endParaRPr lang="en-CA">
              <a:effectLst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F705D66-373D-3DC8-6800-1CCC046F9E78}"/>
              </a:ext>
            </a:extLst>
          </p:cNvPr>
          <p:cNvSpPr/>
          <p:nvPr/>
        </p:nvSpPr>
        <p:spPr>
          <a:xfrm>
            <a:off x="1093605" y="3428159"/>
            <a:ext cx="4176657" cy="45719"/>
          </a:xfrm>
          <a:prstGeom prst="rect">
            <a:avLst/>
          </a:prstGeom>
          <a:solidFill>
            <a:srgbClr val="5116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373D4B-2610-BE47-1533-4D4AC297026D}"/>
              </a:ext>
            </a:extLst>
          </p:cNvPr>
          <p:cNvSpPr txBox="1"/>
          <p:nvPr/>
        </p:nvSpPr>
        <p:spPr>
          <a:xfrm>
            <a:off x="6254812" y="1234233"/>
            <a:ext cx="5713663" cy="6607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Chatbot</a:t>
            </a:r>
            <a:r>
              <a:rPr lang="en-US" b="1">
                <a:ea typeface="+mn-lt"/>
                <a:cs typeface="+mn-lt"/>
              </a:rPr>
              <a:t> that helps travelers make use of their airport layover time by recommending attractions in NYC.</a:t>
            </a:r>
            <a:endParaRPr lang="en-US" b="1"/>
          </a:p>
        </p:txBody>
      </p:sp>
      <p:pic>
        <p:nvPicPr>
          <p:cNvPr id="41" name="Graphic 40" descr="Thought bubble with solid fill">
            <a:extLst>
              <a:ext uri="{FF2B5EF4-FFF2-40B4-BE49-F238E27FC236}">
                <a16:creationId xmlns:a16="http://schemas.microsoft.com/office/drawing/2014/main" id="{CF8B6F90-FE9C-4E72-A3CC-4B4AC6049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2298" y="2012784"/>
            <a:ext cx="813491" cy="813491"/>
          </a:xfrm>
          <a:prstGeom prst="rect">
            <a:avLst/>
          </a:prstGeom>
        </p:spPr>
      </p:pic>
      <p:pic>
        <p:nvPicPr>
          <p:cNvPr id="42" name="Graphic 41" descr="Filter with solid fill">
            <a:extLst>
              <a:ext uri="{FF2B5EF4-FFF2-40B4-BE49-F238E27FC236}">
                <a16:creationId xmlns:a16="http://schemas.microsoft.com/office/drawing/2014/main" id="{D05EDFB8-AFE2-5BAE-FDF2-53E83BFDDA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22299" y="2897775"/>
            <a:ext cx="813491" cy="813491"/>
          </a:xfrm>
          <a:prstGeom prst="rect">
            <a:avLst/>
          </a:prstGeom>
        </p:spPr>
      </p:pic>
      <p:pic>
        <p:nvPicPr>
          <p:cNvPr id="43" name="Graphic 42" descr="List with solid fill">
            <a:extLst>
              <a:ext uri="{FF2B5EF4-FFF2-40B4-BE49-F238E27FC236}">
                <a16:creationId xmlns:a16="http://schemas.microsoft.com/office/drawing/2014/main" id="{493A670E-DB01-9550-6745-657E12C573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2299" y="3782766"/>
            <a:ext cx="813491" cy="813491"/>
          </a:xfrm>
          <a:prstGeom prst="rect">
            <a:avLst/>
          </a:prstGeom>
        </p:spPr>
      </p:pic>
      <p:pic>
        <p:nvPicPr>
          <p:cNvPr id="44" name="Graphic 43" descr="Bus with solid fill">
            <a:extLst>
              <a:ext uri="{FF2B5EF4-FFF2-40B4-BE49-F238E27FC236}">
                <a16:creationId xmlns:a16="http://schemas.microsoft.com/office/drawing/2014/main" id="{F0356336-3E2E-4E3E-EFCD-DA42762953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22298" y="4667757"/>
            <a:ext cx="813491" cy="813491"/>
          </a:xfrm>
          <a:prstGeom prst="rect">
            <a:avLst/>
          </a:prstGeom>
        </p:spPr>
      </p:pic>
      <p:pic>
        <p:nvPicPr>
          <p:cNvPr id="45" name="Graphic 44" descr="Presentation with pie chart with solid fill">
            <a:extLst>
              <a:ext uri="{FF2B5EF4-FFF2-40B4-BE49-F238E27FC236}">
                <a16:creationId xmlns:a16="http://schemas.microsoft.com/office/drawing/2014/main" id="{C5D4A827-7012-9B57-E4E1-9939B31D3F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2299" y="5552749"/>
            <a:ext cx="813600" cy="8136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B928D6-AB9B-7A1E-AA31-0E33448955FA}"/>
              </a:ext>
            </a:extLst>
          </p:cNvPr>
          <p:cNvSpPr txBox="1"/>
          <p:nvPr/>
        </p:nvSpPr>
        <p:spPr>
          <a:xfrm>
            <a:off x="7208066" y="1952988"/>
            <a:ext cx="430695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Takes available time, departure airport, time, budget and attraction preferences as input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66881E-24FD-A652-412A-6414C67CFFB1}"/>
              </a:ext>
            </a:extLst>
          </p:cNvPr>
          <p:cNvSpPr txBox="1"/>
          <p:nvPr/>
        </p:nvSpPr>
        <p:spPr>
          <a:xfrm>
            <a:off x="7208065" y="2979853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Filters 81 curated NYC attractions by category, time slot and budget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883E5C-FE63-B32A-680E-B60EF0E4723D}"/>
              </a:ext>
            </a:extLst>
          </p:cNvPr>
          <p:cNvSpPr txBox="1"/>
          <p:nvPr/>
        </p:nvSpPr>
        <p:spPr>
          <a:xfrm>
            <a:off x="7208065" y="3867748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Scores each attraction using a 6-factor algorithm for the best possible response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FE9135-83E5-4BA1-F10E-97FA11737651}"/>
              </a:ext>
            </a:extLst>
          </p:cNvPr>
          <p:cNvSpPr txBox="1"/>
          <p:nvPr/>
        </p:nvSpPr>
        <p:spPr>
          <a:xfrm>
            <a:off x="7208065" y="4755643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Accounts for realistic airport transit and inter-attraction travel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BCC2F2-5F51-6D3B-74CE-6B1B7B3C6AD3}"/>
              </a:ext>
            </a:extLst>
          </p:cNvPr>
          <p:cNvSpPr txBox="1"/>
          <p:nvPr/>
        </p:nvSpPr>
        <p:spPr>
          <a:xfrm>
            <a:off x="7208065" y="5630287"/>
            <a:ext cx="4306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Outputs a ready-to-use itinerary with cost and time summary</a:t>
            </a:r>
          </a:p>
        </p:txBody>
      </p:sp>
    </p:spTree>
    <p:extLst>
      <p:ext uri="{BB962C8B-B14F-4D97-AF65-F5344CB8AC3E}">
        <p14:creationId xmlns:p14="http://schemas.microsoft.com/office/powerpoint/2010/main" val="295498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158CA0-F3C6-8DF8-E6C5-E703E2E0F938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8B5EF-B926-7153-1060-7C31F5CD7518}"/>
              </a:ext>
            </a:extLst>
          </p:cNvPr>
          <p:cNvSpPr txBox="1"/>
          <p:nvPr/>
        </p:nvSpPr>
        <p:spPr>
          <a:xfrm>
            <a:off x="803274" y="170152"/>
            <a:ext cx="609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 pitchFamily="2" charset="77"/>
                <a:ea typeface="Palatino" pitchFamily="2" charset="77"/>
              </a:rPr>
              <a:t>DIFFERENTIATION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32281F-C9C6-3192-6597-57D73934AAE2}"/>
              </a:ext>
            </a:extLst>
          </p:cNvPr>
          <p:cNvSpPr txBox="1"/>
          <p:nvPr/>
        </p:nvSpPr>
        <p:spPr>
          <a:xfrm>
            <a:off x="803274" y="1409357"/>
            <a:ext cx="212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Features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82DFC4-C4F8-7D56-5116-9E93B91B9262}"/>
              </a:ext>
            </a:extLst>
          </p:cNvPr>
          <p:cNvSpPr txBox="1"/>
          <p:nvPr/>
        </p:nvSpPr>
        <p:spPr>
          <a:xfrm>
            <a:off x="3347692" y="1409357"/>
            <a:ext cx="229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TripAdvisor / Google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5CB110-F2B7-0F62-3296-49818AB3E258}"/>
              </a:ext>
            </a:extLst>
          </p:cNvPr>
          <p:cNvSpPr txBox="1"/>
          <p:nvPr/>
        </p:nvSpPr>
        <p:spPr>
          <a:xfrm>
            <a:off x="6365115" y="1409357"/>
            <a:ext cx="212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NYC Tourism Site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E78567-83D9-1F14-08D5-B062E3053A43}"/>
              </a:ext>
            </a:extLst>
          </p:cNvPr>
          <p:cNvSpPr txBox="1"/>
          <p:nvPr/>
        </p:nvSpPr>
        <p:spPr>
          <a:xfrm>
            <a:off x="9077739" y="1409357"/>
            <a:ext cx="1484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Our Chatbot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8D8BD-635E-056A-1506-95010FF1D689}"/>
              </a:ext>
            </a:extLst>
          </p:cNvPr>
          <p:cNvSpPr/>
          <p:nvPr/>
        </p:nvSpPr>
        <p:spPr>
          <a:xfrm>
            <a:off x="803274" y="1919566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FB2568-F96C-A991-C052-EAEC49011B40}"/>
              </a:ext>
            </a:extLst>
          </p:cNvPr>
          <p:cNvSpPr txBox="1"/>
          <p:nvPr/>
        </p:nvSpPr>
        <p:spPr>
          <a:xfrm>
            <a:off x="901147" y="1921943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Personalized to time available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D5C58E-38B4-041F-A47C-F6F0B6FE7679}"/>
              </a:ext>
            </a:extLst>
          </p:cNvPr>
          <p:cNvSpPr/>
          <p:nvPr/>
        </p:nvSpPr>
        <p:spPr>
          <a:xfrm>
            <a:off x="803274" y="2656869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F61809-CC4A-D4D8-D8E5-A1F5A8969474}"/>
              </a:ext>
            </a:extLst>
          </p:cNvPr>
          <p:cNvSpPr txBox="1"/>
          <p:nvPr/>
        </p:nvSpPr>
        <p:spPr>
          <a:xfrm>
            <a:off x="901147" y="2659246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Accounts for airport transit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28888A-CA0F-9321-A847-C1BFBD68C50E}"/>
              </a:ext>
            </a:extLst>
          </p:cNvPr>
          <p:cNvSpPr/>
          <p:nvPr/>
        </p:nvSpPr>
        <p:spPr>
          <a:xfrm>
            <a:off x="803275" y="5606082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4E6D7D-3C8E-4D0D-D225-118EC3AEF9F8}"/>
              </a:ext>
            </a:extLst>
          </p:cNvPr>
          <p:cNvSpPr txBox="1"/>
          <p:nvPr/>
        </p:nvSpPr>
        <p:spPr>
          <a:xfrm>
            <a:off x="901148" y="5608459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Ready-to-use itinerary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50D3B6-8B2A-1DFF-605D-03401B65510A}"/>
              </a:ext>
            </a:extLst>
          </p:cNvPr>
          <p:cNvSpPr/>
          <p:nvPr/>
        </p:nvSpPr>
        <p:spPr>
          <a:xfrm>
            <a:off x="803275" y="4868778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7514053-67A8-05E5-DDA8-ED947EFBFC6B}"/>
              </a:ext>
            </a:extLst>
          </p:cNvPr>
          <p:cNvSpPr txBox="1"/>
          <p:nvPr/>
        </p:nvSpPr>
        <p:spPr>
          <a:xfrm>
            <a:off x="901148" y="4871155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Prioritizes iconic landmarks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E8B171-BCC7-AEA2-630C-E1FFF264794A}"/>
              </a:ext>
            </a:extLst>
          </p:cNvPr>
          <p:cNvSpPr/>
          <p:nvPr/>
        </p:nvSpPr>
        <p:spPr>
          <a:xfrm>
            <a:off x="803275" y="3394172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978FE1-5BA7-8F2B-7BE3-D2E37E4BD90E}"/>
              </a:ext>
            </a:extLst>
          </p:cNvPr>
          <p:cNvSpPr txBox="1"/>
          <p:nvPr/>
        </p:nvSpPr>
        <p:spPr>
          <a:xfrm>
            <a:off x="901148" y="3535048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Budget filtering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03657C-F47F-3082-38F8-ECAEB842FEDA}"/>
              </a:ext>
            </a:extLst>
          </p:cNvPr>
          <p:cNvSpPr/>
          <p:nvPr/>
        </p:nvSpPr>
        <p:spPr>
          <a:xfrm>
            <a:off x="803275" y="4131475"/>
            <a:ext cx="10585450" cy="6510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9A5B4-5025-674F-197C-CA7E9C747103}"/>
              </a:ext>
            </a:extLst>
          </p:cNvPr>
          <p:cNvSpPr txBox="1"/>
          <p:nvPr/>
        </p:nvSpPr>
        <p:spPr>
          <a:xfrm>
            <a:off x="901148" y="4133852"/>
            <a:ext cx="2027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Time-of-day awareness</a:t>
            </a:r>
          </a:p>
        </p:txBody>
      </p:sp>
      <p:pic>
        <p:nvPicPr>
          <p:cNvPr id="30" name="Graphic 29" descr="Close with solid fill">
            <a:extLst>
              <a:ext uri="{FF2B5EF4-FFF2-40B4-BE49-F238E27FC236}">
                <a16:creationId xmlns:a16="http://schemas.microsoft.com/office/drawing/2014/main" id="{F97EDC46-EE2F-49CB-221A-7608DBA56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959" y="2016509"/>
            <a:ext cx="457200" cy="457200"/>
          </a:xfrm>
          <a:prstGeom prst="rect">
            <a:avLst/>
          </a:prstGeom>
        </p:spPr>
      </p:pic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977055EC-0C2C-F667-C739-4882AA4DC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2016508"/>
            <a:ext cx="457200" cy="457200"/>
          </a:xfrm>
          <a:prstGeom prst="rect">
            <a:avLst/>
          </a:prstGeom>
        </p:spPr>
      </p:pic>
      <p:pic>
        <p:nvPicPr>
          <p:cNvPr id="33" name="Graphic 32" descr="Checkmark with solid fill">
            <a:extLst>
              <a:ext uri="{FF2B5EF4-FFF2-40B4-BE49-F238E27FC236}">
                <a16:creationId xmlns:a16="http://schemas.microsoft.com/office/drawing/2014/main" id="{24EA4978-1A22-E195-14FA-DDA3F51B87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2016507"/>
            <a:ext cx="457201" cy="457201"/>
          </a:xfrm>
          <a:prstGeom prst="rect">
            <a:avLst/>
          </a:prstGeom>
        </p:spPr>
      </p:pic>
      <p:pic>
        <p:nvPicPr>
          <p:cNvPr id="42" name="Graphic 41" descr="Checkmark with solid fill">
            <a:extLst>
              <a:ext uri="{FF2B5EF4-FFF2-40B4-BE49-F238E27FC236}">
                <a16:creationId xmlns:a16="http://schemas.microsoft.com/office/drawing/2014/main" id="{1CFE901F-7AB3-9070-06A1-200199FA3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2755034"/>
            <a:ext cx="457201" cy="457201"/>
          </a:xfrm>
          <a:prstGeom prst="rect">
            <a:avLst/>
          </a:prstGeom>
        </p:spPr>
      </p:pic>
      <p:pic>
        <p:nvPicPr>
          <p:cNvPr id="46" name="Graphic 45" descr="Checkmark with solid fill">
            <a:extLst>
              <a:ext uri="{FF2B5EF4-FFF2-40B4-BE49-F238E27FC236}">
                <a16:creationId xmlns:a16="http://schemas.microsoft.com/office/drawing/2014/main" id="{8073ACB1-154D-FE2E-23B9-53EA8E2BC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3487498"/>
            <a:ext cx="457201" cy="457201"/>
          </a:xfrm>
          <a:prstGeom prst="rect">
            <a:avLst/>
          </a:prstGeom>
        </p:spPr>
      </p:pic>
      <p:pic>
        <p:nvPicPr>
          <p:cNvPr id="51" name="Graphic 50" descr="Checkmark with solid fill">
            <a:extLst>
              <a:ext uri="{FF2B5EF4-FFF2-40B4-BE49-F238E27FC236}">
                <a16:creationId xmlns:a16="http://schemas.microsoft.com/office/drawing/2014/main" id="{5944FBD5-CA85-9E38-69EC-CD3554DB8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4229620"/>
            <a:ext cx="457201" cy="457201"/>
          </a:xfrm>
          <a:prstGeom prst="rect">
            <a:avLst/>
          </a:prstGeom>
        </p:spPr>
      </p:pic>
      <p:pic>
        <p:nvPicPr>
          <p:cNvPr id="52" name="Graphic 51" descr="Checkmark with solid fill">
            <a:extLst>
              <a:ext uri="{FF2B5EF4-FFF2-40B4-BE49-F238E27FC236}">
                <a16:creationId xmlns:a16="http://schemas.microsoft.com/office/drawing/2014/main" id="{67AB20CA-98CC-07D5-1102-E295DC503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4971742"/>
            <a:ext cx="457201" cy="457201"/>
          </a:xfrm>
          <a:prstGeom prst="rect">
            <a:avLst/>
          </a:prstGeom>
        </p:spPr>
      </p:pic>
      <p:pic>
        <p:nvPicPr>
          <p:cNvPr id="61" name="Graphic 60" descr="Checkmark with solid fill">
            <a:extLst>
              <a:ext uri="{FF2B5EF4-FFF2-40B4-BE49-F238E27FC236}">
                <a16:creationId xmlns:a16="http://schemas.microsoft.com/office/drawing/2014/main" id="{AC7CB174-89B2-E9A4-C164-5AE832598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91260" y="5703023"/>
            <a:ext cx="457201" cy="457201"/>
          </a:xfrm>
          <a:prstGeom prst="rect">
            <a:avLst/>
          </a:prstGeom>
        </p:spPr>
      </p:pic>
      <p:pic>
        <p:nvPicPr>
          <p:cNvPr id="62" name="Graphic 61" descr="Close with solid fill">
            <a:extLst>
              <a:ext uri="{FF2B5EF4-FFF2-40B4-BE49-F238E27FC236}">
                <a16:creationId xmlns:a16="http://schemas.microsoft.com/office/drawing/2014/main" id="{73AAD21A-792C-F1F7-17FE-44AD7AB94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2753811"/>
            <a:ext cx="457200" cy="457200"/>
          </a:xfrm>
          <a:prstGeom prst="rect">
            <a:avLst/>
          </a:prstGeom>
        </p:spPr>
      </p:pic>
      <p:pic>
        <p:nvPicPr>
          <p:cNvPr id="63" name="Graphic 62" descr="Close with solid fill">
            <a:extLst>
              <a:ext uri="{FF2B5EF4-FFF2-40B4-BE49-F238E27FC236}">
                <a16:creationId xmlns:a16="http://schemas.microsoft.com/office/drawing/2014/main" id="{4986E1FC-76CA-92CD-70D8-D63A34D4B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3491114"/>
            <a:ext cx="457200" cy="457200"/>
          </a:xfrm>
          <a:prstGeom prst="rect">
            <a:avLst/>
          </a:prstGeom>
        </p:spPr>
      </p:pic>
      <p:pic>
        <p:nvPicPr>
          <p:cNvPr id="64" name="Graphic 63" descr="Close with solid fill">
            <a:extLst>
              <a:ext uri="{FF2B5EF4-FFF2-40B4-BE49-F238E27FC236}">
                <a16:creationId xmlns:a16="http://schemas.microsoft.com/office/drawing/2014/main" id="{A3AEBC51-4A50-B7CD-E87A-C9FDA5DBC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4228417"/>
            <a:ext cx="457200" cy="457200"/>
          </a:xfrm>
          <a:prstGeom prst="rect">
            <a:avLst/>
          </a:prstGeom>
        </p:spPr>
      </p:pic>
      <p:pic>
        <p:nvPicPr>
          <p:cNvPr id="66" name="Graphic 65" descr="Close with solid fill">
            <a:extLst>
              <a:ext uri="{FF2B5EF4-FFF2-40B4-BE49-F238E27FC236}">
                <a16:creationId xmlns:a16="http://schemas.microsoft.com/office/drawing/2014/main" id="{1EFD6755-5915-45D2-791E-EAA481652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9242" y="5663939"/>
            <a:ext cx="457200" cy="457200"/>
          </a:xfrm>
          <a:prstGeom prst="rect">
            <a:avLst/>
          </a:prstGeom>
        </p:spPr>
      </p:pic>
      <p:pic>
        <p:nvPicPr>
          <p:cNvPr id="68" name="Graphic 67" descr="Checkmark with solid fill">
            <a:extLst>
              <a:ext uri="{FF2B5EF4-FFF2-40B4-BE49-F238E27FC236}">
                <a16:creationId xmlns:a16="http://schemas.microsoft.com/office/drawing/2014/main" id="{44200887-8B94-0FAD-CEC4-E1509687A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05868" y="4971742"/>
            <a:ext cx="457201" cy="457201"/>
          </a:xfrm>
          <a:prstGeom prst="rect">
            <a:avLst/>
          </a:prstGeom>
        </p:spPr>
      </p:pic>
      <p:pic>
        <p:nvPicPr>
          <p:cNvPr id="69" name="Graphic 68" descr="Close with solid fill">
            <a:extLst>
              <a:ext uri="{FF2B5EF4-FFF2-40B4-BE49-F238E27FC236}">
                <a16:creationId xmlns:a16="http://schemas.microsoft.com/office/drawing/2014/main" id="{C7307471-FDAB-E2CC-D210-B51E97F84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959" y="2758631"/>
            <a:ext cx="457200" cy="457200"/>
          </a:xfrm>
          <a:prstGeom prst="rect">
            <a:avLst/>
          </a:prstGeom>
        </p:spPr>
      </p:pic>
      <p:pic>
        <p:nvPicPr>
          <p:cNvPr id="70" name="Graphic 69" descr="Close with solid fill">
            <a:extLst>
              <a:ext uri="{FF2B5EF4-FFF2-40B4-BE49-F238E27FC236}">
                <a16:creationId xmlns:a16="http://schemas.microsoft.com/office/drawing/2014/main" id="{042116B1-2F09-0B30-297A-51B8E0E5E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7959" y="5660857"/>
            <a:ext cx="457200" cy="4572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ABE5BCF-4565-D5A8-9991-33FFD0F7BCE7}"/>
              </a:ext>
            </a:extLst>
          </p:cNvPr>
          <p:cNvSpPr txBox="1"/>
          <p:nvPr/>
        </p:nvSpPr>
        <p:spPr>
          <a:xfrm>
            <a:off x="3482768" y="3535048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partial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7BB889-F5B2-9288-7943-8C0D0F83D62A}"/>
              </a:ext>
            </a:extLst>
          </p:cNvPr>
          <p:cNvSpPr txBox="1"/>
          <p:nvPr/>
        </p:nvSpPr>
        <p:spPr>
          <a:xfrm>
            <a:off x="3482768" y="4277170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partial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DF0966-EC0D-3936-8957-3706C819205F}"/>
              </a:ext>
            </a:extLst>
          </p:cNvPr>
          <p:cNvSpPr txBox="1"/>
          <p:nvPr/>
        </p:nvSpPr>
        <p:spPr>
          <a:xfrm>
            <a:off x="3482768" y="5006039"/>
            <a:ext cx="2027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partial</a:t>
            </a:r>
          </a:p>
        </p:txBody>
      </p:sp>
    </p:spTree>
    <p:extLst>
      <p:ext uri="{BB962C8B-B14F-4D97-AF65-F5344CB8AC3E}">
        <p14:creationId xmlns:p14="http://schemas.microsoft.com/office/powerpoint/2010/main" val="2606206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292F-E6F5-C1A8-9E3B-66A63FE7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BB6B656-E339-F18F-BD7C-C37939BD8B43}"/>
              </a:ext>
            </a:extLst>
          </p:cNvPr>
          <p:cNvSpPr/>
          <p:nvPr/>
        </p:nvSpPr>
        <p:spPr>
          <a:xfrm>
            <a:off x="803275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E599CC-48DE-8FD7-CB70-DFC0E6392869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3103A-71E9-0257-9BEE-F93CB27DDAE0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Graphic 1" descr="Male profile with solid fill">
            <a:extLst>
              <a:ext uri="{FF2B5EF4-FFF2-40B4-BE49-F238E27FC236}">
                <a16:creationId xmlns:a16="http://schemas.microsoft.com/office/drawing/2014/main" id="{00849E37-F5D3-A8A7-D8FB-7230066505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039" y="3337225"/>
            <a:ext cx="754912" cy="754912"/>
          </a:xfrm>
          <a:prstGeom prst="rect">
            <a:avLst/>
          </a:prstGeom>
        </p:spPr>
      </p:pic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4DE70F1A-A3D1-2E90-8C58-8274CEE495A2}"/>
              </a:ext>
            </a:extLst>
          </p:cNvPr>
          <p:cNvSpPr/>
          <p:nvPr/>
        </p:nvSpPr>
        <p:spPr>
          <a:xfrm>
            <a:off x="1775792" y="1501779"/>
            <a:ext cx="3565296" cy="1742726"/>
          </a:xfrm>
          <a:prstGeom prst="wedgeRectCallout">
            <a:avLst>
              <a:gd name="adj1" fmla="val -54453"/>
              <a:gd name="adj2" fmla="val -381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C086B7E4-0296-599E-85BF-18ACA90C5CD7}"/>
              </a:ext>
            </a:extLst>
          </p:cNvPr>
          <p:cNvSpPr/>
          <p:nvPr/>
        </p:nvSpPr>
        <p:spPr>
          <a:xfrm>
            <a:off x="4078664" y="3480670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EA04AA-9FE6-6EBC-C706-B7F3ACC26A92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19AFAD8-28B3-A8E5-969A-45BC7688E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74" y="1204723"/>
            <a:ext cx="1700168" cy="113344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73FD3B0-FD64-6584-0A38-03E6F7DAFB4A}"/>
              </a:ext>
            </a:extLst>
          </p:cNvPr>
          <p:cNvSpPr txBox="1"/>
          <p:nvPr/>
        </p:nvSpPr>
        <p:spPr>
          <a:xfrm>
            <a:off x="1820419" y="1610276"/>
            <a:ext cx="34760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NYC AIRPORT LAYOVER ITINERARY CHATBOT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Welcome! I'll help you plan your NYC layover.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How many hours do you have available?</a:t>
            </a:r>
          </a:p>
          <a:p>
            <a:r>
              <a:rPr lang="en-US" sz="1400" dirty="0">
                <a:ea typeface="+mn-lt"/>
                <a:cs typeface="+mn-lt"/>
              </a:rPr>
              <a:t>(From when you can leave the airport until you need to be back)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390FDE-1B95-3921-3C27-86DD47B9A57E}"/>
              </a:ext>
            </a:extLst>
          </p:cNvPr>
          <p:cNvSpPr txBox="1"/>
          <p:nvPr/>
        </p:nvSpPr>
        <p:spPr>
          <a:xfrm>
            <a:off x="4226558" y="3577065"/>
            <a:ext cx="459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>
                <a:solidFill>
                  <a:srgbClr val="7030A0"/>
                </a:solidFill>
                <a:cs typeface="Calibri"/>
              </a:rPr>
              <a:t>9</a:t>
            </a:r>
            <a:endParaRPr lang="en-US" b="1">
              <a:solidFill>
                <a:srgbClr val="7030A0"/>
              </a:solidFill>
              <a:ea typeface="+mn-lt"/>
              <a:cs typeface="+mn-lt"/>
            </a:endParaRPr>
          </a:p>
        </p:txBody>
      </p:sp>
      <p:pic>
        <p:nvPicPr>
          <p:cNvPr id="23" name="Picture 22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48D8DE00-74AE-FD4F-A7A0-C4B2837C5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23" y="3856594"/>
            <a:ext cx="1700168" cy="1133445"/>
          </a:xfrm>
          <a:prstGeom prst="rect">
            <a:avLst/>
          </a:prstGeom>
        </p:spPr>
      </p:pic>
      <p:sp>
        <p:nvSpPr>
          <p:cNvPr id="28" name="Rectangular Callout 27">
            <a:extLst>
              <a:ext uri="{FF2B5EF4-FFF2-40B4-BE49-F238E27FC236}">
                <a16:creationId xmlns:a16="http://schemas.microsoft.com/office/drawing/2014/main" id="{57995DE8-35DA-626F-B715-C8140043C889}"/>
              </a:ext>
            </a:extLst>
          </p:cNvPr>
          <p:cNvSpPr/>
          <p:nvPr/>
        </p:nvSpPr>
        <p:spPr>
          <a:xfrm>
            <a:off x="1799041" y="4212364"/>
            <a:ext cx="3343522" cy="1063053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A727AE-82AD-508A-FE67-3B251D2A369E}"/>
              </a:ext>
            </a:extLst>
          </p:cNvPr>
          <p:cNvSpPr txBox="1"/>
          <p:nvPr/>
        </p:nvSpPr>
        <p:spPr>
          <a:xfrm>
            <a:off x="1909928" y="4266837"/>
            <a:ext cx="33435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Which airport are you travelling from?</a:t>
            </a:r>
          </a:p>
          <a:p>
            <a:r>
              <a:rPr lang="en-US" sz="1400" dirty="0">
                <a:ea typeface="+mn-lt"/>
                <a:cs typeface="+mn-lt"/>
              </a:rPr>
              <a:t>  1. JFK (John F. Kennedy)</a:t>
            </a:r>
          </a:p>
          <a:p>
            <a:r>
              <a:rPr lang="en-US" sz="1400" dirty="0">
                <a:ea typeface="+mn-lt"/>
                <a:cs typeface="+mn-lt"/>
              </a:rPr>
              <a:t>  2. LGA (LaGuardia)</a:t>
            </a:r>
          </a:p>
          <a:p>
            <a:r>
              <a:rPr lang="en-US" sz="1400" dirty="0">
                <a:ea typeface="+mn-lt"/>
                <a:cs typeface="+mn-lt"/>
              </a:rPr>
              <a:t>  3. EWR (Newark)</a:t>
            </a:r>
          </a:p>
        </p:txBody>
      </p:sp>
      <p:pic>
        <p:nvPicPr>
          <p:cNvPr id="30" name="Picture 29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93AB926-6194-4EAA-11DB-C06DEAF23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735" y="1365460"/>
            <a:ext cx="1700168" cy="1133445"/>
          </a:xfrm>
          <a:prstGeom prst="rect">
            <a:avLst/>
          </a:prstGeom>
        </p:spPr>
      </p:pic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71104222-82F7-B673-51BC-C78C8C312DDC}"/>
              </a:ext>
            </a:extLst>
          </p:cNvPr>
          <p:cNvSpPr/>
          <p:nvPr/>
        </p:nvSpPr>
        <p:spPr>
          <a:xfrm>
            <a:off x="7272518" y="1501779"/>
            <a:ext cx="3343522" cy="1497958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 descr="Male profile with solid fill">
            <a:extLst>
              <a:ext uri="{FF2B5EF4-FFF2-40B4-BE49-F238E27FC236}">
                <a16:creationId xmlns:a16="http://schemas.microsoft.com/office/drawing/2014/main" id="{4069F1EF-9CF2-6239-CFA5-7B91349D54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1867" y="5315683"/>
            <a:ext cx="754912" cy="754912"/>
          </a:xfrm>
          <a:prstGeom prst="rect">
            <a:avLst/>
          </a:prstGeom>
        </p:spPr>
      </p:pic>
      <p:sp>
        <p:nvSpPr>
          <p:cNvPr id="37" name="Rectangular Callout 36">
            <a:extLst>
              <a:ext uri="{FF2B5EF4-FFF2-40B4-BE49-F238E27FC236}">
                <a16:creationId xmlns:a16="http://schemas.microsoft.com/office/drawing/2014/main" id="{FCDB528B-B33A-B69B-8199-79C034F06B5B}"/>
              </a:ext>
            </a:extLst>
          </p:cNvPr>
          <p:cNvSpPr/>
          <p:nvPr/>
        </p:nvSpPr>
        <p:spPr>
          <a:xfrm>
            <a:off x="4046492" y="5459128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4FF90E5-EA0B-CA4D-2A01-04C38C458CE6}"/>
              </a:ext>
            </a:extLst>
          </p:cNvPr>
          <p:cNvSpPr txBox="1"/>
          <p:nvPr/>
        </p:nvSpPr>
        <p:spPr>
          <a:xfrm>
            <a:off x="7310256" y="1583886"/>
            <a:ext cx="33435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✓ Airport: LGA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When will you be visiting attractions?</a:t>
            </a:r>
          </a:p>
          <a:p>
            <a:r>
              <a:rPr lang="en-US" sz="1400" dirty="0">
                <a:ea typeface="+mn-lt"/>
                <a:cs typeface="+mn-lt"/>
              </a:rPr>
              <a:t>  1. Daytime (9am-6pm)</a:t>
            </a:r>
          </a:p>
          <a:p>
            <a:r>
              <a:rPr lang="en-US" sz="1400" dirty="0">
                <a:ea typeface="+mn-lt"/>
                <a:cs typeface="+mn-lt"/>
              </a:rPr>
              <a:t>  2. Evening (6pm-12am)</a:t>
            </a:r>
          </a:p>
          <a:p>
            <a:r>
              <a:rPr lang="en-US" sz="1400" dirty="0">
                <a:ea typeface="+mn-lt"/>
                <a:cs typeface="+mn-lt"/>
              </a:rPr>
              <a:t>  3. Flexible (any time)</a:t>
            </a:r>
          </a:p>
        </p:txBody>
      </p:sp>
      <p:pic>
        <p:nvPicPr>
          <p:cNvPr id="39" name="Graphic 38" descr="Male profile with solid fill">
            <a:extLst>
              <a:ext uri="{FF2B5EF4-FFF2-40B4-BE49-F238E27FC236}">
                <a16:creationId xmlns:a16="http://schemas.microsoft.com/office/drawing/2014/main" id="{6D8F3EA5-5665-983D-14FA-D990635B4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5306" y="2999737"/>
            <a:ext cx="754912" cy="754912"/>
          </a:xfrm>
          <a:prstGeom prst="rect">
            <a:avLst/>
          </a:prstGeom>
        </p:spPr>
      </p:pic>
      <p:sp>
        <p:nvSpPr>
          <p:cNvPr id="40" name="Rectangular Callout 39">
            <a:extLst>
              <a:ext uri="{FF2B5EF4-FFF2-40B4-BE49-F238E27FC236}">
                <a16:creationId xmlns:a16="http://schemas.microsoft.com/office/drawing/2014/main" id="{B07EBAA2-D7F4-69A0-82A6-A8CE1AEBA392}"/>
              </a:ext>
            </a:extLst>
          </p:cNvPr>
          <p:cNvSpPr/>
          <p:nvPr/>
        </p:nvSpPr>
        <p:spPr>
          <a:xfrm>
            <a:off x="9339931" y="3143182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41" name="Picture 40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9A4E44F4-2700-E820-B985-B3D20FC38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335" y="3816365"/>
            <a:ext cx="1700168" cy="1133445"/>
          </a:xfrm>
          <a:prstGeom prst="rect">
            <a:avLst/>
          </a:prstGeom>
        </p:spPr>
      </p:pic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4E3D243B-4CE0-7274-C1EB-2BE1F64749DD}"/>
              </a:ext>
            </a:extLst>
          </p:cNvPr>
          <p:cNvSpPr/>
          <p:nvPr/>
        </p:nvSpPr>
        <p:spPr>
          <a:xfrm>
            <a:off x="7172379" y="3876097"/>
            <a:ext cx="3343522" cy="1497958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023BF6-EF33-61F7-B1E3-C93768F77336}"/>
              </a:ext>
            </a:extLst>
          </p:cNvPr>
          <p:cNvSpPr txBox="1"/>
          <p:nvPr/>
        </p:nvSpPr>
        <p:spPr>
          <a:xfrm>
            <a:off x="7229923" y="3929095"/>
            <a:ext cx="33435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✓ Time preference: Daytime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What is your budget?</a:t>
            </a:r>
          </a:p>
          <a:p>
            <a:r>
              <a:rPr lang="en-US" sz="1400" dirty="0">
                <a:ea typeface="+mn-lt"/>
                <a:cs typeface="+mn-lt"/>
              </a:rPr>
              <a:t>  1. Low (FREE - $30 per attraction)</a:t>
            </a:r>
          </a:p>
          <a:p>
            <a:r>
              <a:rPr lang="en-US" sz="1400" dirty="0">
                <a:ea typeface="+mn-lt"/>
                <a:cs typeface="+mn-lt"/>
              </a:rPr>
              <a:t>  2. Medium ($31 - $100 per attraction)</a:t>
            </a:r>
          </a:p>
          <a:p>
            <a:r>
              <a:rPr lang="en-US" sz="1400" dirty="0">
                <a:ea typeface="+mn-lt"/>
                <a:cs typeface="+mn-lt"/>
              </a:rPr>
              <a:t>  3. High ($100+ per attraction)</a:t>
            </a:r>
          </a:p>
        </p:txBody>
      </p:sp>
      <p:pic>
        <p:nvPicPr>
          <p:cNvPr id="6" name="Graphic 5" descr="Male profile with solid fill">
            <a:extLst>
              <a:ext uri="{FF2B5EF4-FFF2-40B4-BE49-F238E27FC236}">
                <a16:creationId xmlns:a16="http://schemas.microsoft.com/office/drawing/2014/main" id="{AC920188-34EB-3446-87A8-0369C6407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771" y="5385631"/>
            <a:ext cx="754912" cy="754912"/>
          </a:xfrm>
          <a:prstGeom prst="rect">
            <a:avLst/>
          </a:prstGeom>
        </p:spPr>
      </p:pic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DAC190F3-D688-E43E-D6EF-A0A3C5114077}"/>
              </a:ext>
            </a:extLst>
          </p:cNvPr>
          <p:cNvSpPr/>
          <p:nvPr/>
        </p:nvSpPr>
        <p:spPr>
          <a:xfrm>
            <a:off x="9354396" y="5529076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103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F6E7-C989-0651-50C6-EA6CD0D8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78121CD-5C14-2333-2483-571F78DBEE9A}"/>
              </a:ext>
            </a:extLst>
          </p:cNvPr>
          <p:cNvSpPr/>
          <p:nvPr/>
        </p:nvSpPr>
        <p:spPr>
          <a:xfrm>
            <a:off x="803275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4AFEBA-8552-C33E-C165-828A351176E0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8FC80-6653-385C-FE7B-C311DBFE0BA2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 (CONT)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Graphic 1" descr="Male profile with solid fill">
            <a:extLst>
              <a:ext uri="{FF2B5EF4-FFF2-40B4-BE49-F238E27FC236}">
                <a16:creationId xmlns:a16="http://schemas.microsoft.com/office/drawing/2014/main" id="{3D1DD98E-5A55-40A1-CB13-DF27B6664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5579" y="5295533"/>
            <a:ext cx="754912" cy="754912"/>
          </a:xfrm>
          <a:prstGeom prst="rect">
            <a:avLst/>
          </a:prstGeom>
        </p:spPr>
      </p:pic>
      <p:sp>
        <p:nvSpPr>
          <p:cNvPr id="12" name="Rectangular Callout 11">
            <a:extLst>
              <a:ext uri="{FF2B5EF4-FFF2-40B4-BE49-F238E27FC236}">
                <a16:creationId xmlns:a16="http://schemas.microsoft.com/office/drawing/2014/main" id="{32083A93-D943-0BEE-2B78-1D0B021D47CE}"/>
              </a:ext>
            </a:extLst>
          </p:cNvPr>
          <p:cNvSpPr/>
          <p:nvPr/>
        </p:nvSpPr>
        <p:spPr>
          <a:xfrm>
            <a:off x="1775792" y="1501778"/>
            <a:ext cx="3340674" cy="3771628"/>
          </a:xfrm>
          <a:prstGeom prst="wedgeRectCallout">
            <a:avLst>
              <a:gd name="adj1" fmla="val -54825"/>
              <a:gd name="adj2" fmla="val -36206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7024ED80-7DC8-D8F8-7699-D694074D0C81}"/>
              </a:ext>
            </a:extLst>
          </p:cNvPr>
          <p:cNvSpPr/>
          <p:nvPr/>
        </p:nvSpPr>
        <p:spPr>
          <a:xfrm>
            <a:off x="3882344" y="5459598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7E7C02-403E-7675-C1AF-2B9A034A6567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11DDBE-95B3-786A-F34A-F7ED15195862}"/>
              </a:ext>
            </a:extLst>
          </p:cNvPr>
          <p:cNvSpPr txBox="1"/>
          <p:nvPr/>
        </p:nvSpPr>
        <p:spPr>
          <a:xfrm>
            <a:off x="1886680" y="1584594"/>
            <a:ext cx="3118899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✓ Budget: Medium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Select categories you'd like to explore.</a:t>
            </a:r>
          </a:p>
          <a:p>
            <a:r>
              <a:rPr lang="en-US" sz="1400" dirty="0">
                <a:ea typeface="+mn-lt"/>
                <a:cs typeface="+mn-lt"/>
              </a:rPr>
              <a:t>(You can choose the same category multiple times)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  1. Food &amp; Drink</a:t>
            </a:r>
          </a:p>
          <a:p>
            <a:r>
              <a:rPr lang="en-US" sz="1400" dirty="0">
                <a:ea typeface="+mn-lt"/>
                <a:cs typeface="+mn-lt"/>
              </a:rPr>
              <a:t>  2. Historical &amp; Cultural Sites, Landmarks &amp; Viewpoints</a:t>
            </a:r>
          </a:p>
          <a:p>
            <a:r>
              <a:rPr lang="en-US" sz="1400" dirty="0">
                <a:ea typeface="+mn-lt"/>
                <a:cs typeface="+mn-lt"/>
              </a:rPr>
              <a:t>  3. Museums &amp; Galleries</a:t>
            </a:r>
          </a:p>
          <a:p>
            <a:r>
              <a:rPr lang="en-US" sz="1400" dirty="0">
                <a:ea typeface="+mn-lt"/>
                <a:cs typeface="+mn-lt"/>
              </a:rPr>
              <a:t>  4. Nature &amp; Adventure</a:t>
            </a:r>
          </a:p>
          <a:p>
            <a:r>
              <a:rPr lang="en-US" sz="1400" dirty="0">
                <a:ea typeface="+mn-lt"/>
                <a:cs typeface="+mn-lt"/>
              </a:rPr>
              <a:t>  5. Shopping</a:t>
            </a:r>
          </a:p>
          <a:p>
            <a:r>
              <a:rPr lang="en-US" sz="1400" dirty="0">
                <a:ea typeface="+mn-lt"/>
                <a:cs typeface="+mn-lt"/>
              </a:rPr>
              <a:t>  6. Shows &amp; Nightlife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How many attractions would you like recommendations for?</a:t>
            </a:r>
          </a:p>
          <a:p>
            <a:endParaRPr lang="en-US" sz="1400" dirty="0">
              <a:ea typeface="+mn-lt"/>
              <a:cs typeface="+mn-lt"/>
            </a:endParaRPr>
          </a:p>
        </p:txBody>
      </p:sp>
      <p:pic>
        <p:nvPicPr>
          <p:cNvPr id="30" name="Picture 29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99C170B4-014E-FC8E-7EB8-82BE0D5AE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378" y="1246286"/>
            <a:ext cx="1700168" cy="1133445"/>
          </a:xfrm>
          <a:prstGeom prst="rect">
            <a:avLst/>
          </a:prstGeom>
        </p:spPr>
      </p:pic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1C6497DD-6096-88E5-B773-04456AB89239}"/>
              </a:ext>
            </a:extLst>
          </p:cNvPr>
          <p:cNvSpPr/>
          <p:nvPr/>
        </p:nvSpPr>
        <p:spPr>
          <a:xfrm>
            <a:off x="7272518" y="1501778"/>
            <a:ext cx="3565296" cy="754913"/>
          </a:xfrm>
          <a:prstGeom prst="wedgeRectCallout">
            <a:avLst>
              <a:gd name="adj1" fmla="val -55568"/>
              <a:gd name="adj2" fmla="val -238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B4463F-02AF-BF22-87AA-A2F31D3AD625}"/>
              </a:ext>
            </a:extLst>
          </p:cNvPr>
          <p:cNvSpPr txBox="1"/>
          <p:nvPr/>
        </p:nvSpPr>
        <p:spPr>
          <a:xfrm>
            <a:off x="7383405" y="1617624"/>
            <a:ext cx="33435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Please select first choice (enter a number 1-6):</a:t>
            </a:r>
          </a:p>
        </p:txBody>
      </p:sp>
      <p:pic>
        <p:nvPicPr>
          <p:cNvPr id="39" name="Graphic 38" descr="Male profile with solid fill">
            <a:extLst>
              <a:ext uri="{FF2B5EF4-FFF2-40B4-BE49-F238E27FC236}">
                <a16:creationId xmlns:a16="http://schemas.microsoft.com/office/drawing/2014/main" id="{C33AD02C-B71C-4B86-2794-25F882A95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5306" y="2399596"/>
            <a:ext cx="754912" cy="754912"/>
          </a:xfrm>
          <a:prstGeom prst="rect">
            <a:avLst/>
          </a:prstGeom>
        </p:spPr>
      </p:pic>
      <p:sp>
        <p:nvSpPr>
          <p:cNvPr id="40" name="Rectangular Callout 39">
            <a:extLst>
              <a:ext uri="{FF2B5EF4-FFF2-40B4-BE49-F238E27FC236}">
                <a16:creationId xmlns:a16="http://schemas.microsoft.com/office/drawing/2014/main" id="{770B9BED-C17D-36A3-C491-24EA4BB0254A}"/>
              </a:ext>
            </a:extLst>
          </p:cNvPr>
          <p:cNvSpPr/>
          <p:nvPr/>
        </p:nvSpPr>
        <p:spPr>
          <a:xfrm>
            <a:off x="9339931" y="2543041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rgbClr val="7030A0"/>
                </a:solidFill>
              </a:rPr>
              <a:t>1</a:t>
            </a:r>
          </a:p>
        </p:txBody>
      </p:sp>
      <p:pic>
        <p:nvPicPr>
          <p:cNvPr id="41" name="Picture 40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767A457-303A-C564-C5CB-B153C3294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378" y="3140568"/>
            <a:ext cx="1700168" cy="1133445"/>
          </a:xfrm>
          <a:prstGeom prst="rect">
            <a:avLst/>
          </a:prstGeom>
        </p:spPr>
      </p:pic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13B2E37A-B674-80CC-1BC7-2F9CF7E3A134}"/>
              </a:ext>
            </a:extLst>
          </p:cNvPr>
          <p:cNvSpPr/>
          <p:nvPr/>
        </p:nvSpPr>
        <p:spPr>
          <a:xfrm>
            <a:off x="7272518" y="3492551"/>
            <a:ext cx="3565296" cy="1155572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D580F3-C84E-0BE9-347D-0D5F5ADD291A}"/>
              </a:ext>
            </a:extLst>
          </p:cNvPr>
          <p:cNvSpPr txBox="1"/>
          <p:nvPr/>
        </p:nvSpPr>
        <p:spPr>
          <a:xfrm>
            <a:off x="7386331" y="3580027"/>
            <a:ext cx="33435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Choice 1: Food &amp; Drink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Please select second choice (enter a number 1-6):</a:t>
            </a:r>
          </a:p>
        </p:txBody>
      </p:sp>
      <p:pic>
        <p:nvPicPr>
          <p:cNvPr id="7" name="Graphic 6" descr="Male profile with solid fill">
            <a:extLst>
              <a:ext uri="{FF2B5EF4-FFF2-40B4-BE49-F238E27FC236}">
                <a16:creationId xmlns:a16="http://schemas.microsoft.com/office/drawing/2014/main" id="{8DDDAF35-0264-C2FA-E10F-2D07E745D2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5306" y="4840676"/>
            <a:ext cx="754912" cy="754912"/>
          </a:xfrm>
          <a:prstGeom prst="rect">
            <a:avLst/>
          </a:prstGeom>
        </p:spPr>
      </p:pic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8D52DFB9-72E3-5FD3-AEAF-4BCF0B45E872}"/>
              </a:ext>
            </a:extLst>
          </p:cNvPr>
          <p:cNvSpPr/>
          <p:nvPr/>
        </p:nvSpPr>
        <p:spPr>
          <a:xfrm>
            <a:off x="9339931" y="4984121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7030A0"/>
                </a:solidFill>
              </a:rPr>
              <a:t>3</a:t>
            </a:r>
          </a:p>
        </p:txBody>
      </p:sp>
      <p:pic>
        <p:nvPicPr>
          <p:cNvPr id="6" name="Picture 5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9840E536-132C-8B3F-63A9-2C2FE06EB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74" y="1204723"/>
            <a:ext cx="1700168" cy="113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55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1F1F-117E-303D-14C7-6AD04BA7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F3309A7-BDAC-C266-EE5E-F7F10A57D773}"/>
              </a:ext>
            </a:extLst>
          </p:cNvPr>
          <p:cNvSpPr/>
          <p:nvPr/>
        </p:nvSpPr>
        <p:spPr>
          <a:xfrm>
            <a:off x="803275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B97A8-654B-6DA2-9A2F-A795325F1DB0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CE36E-2607-BB62-9E2F-55FC65F17A9F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 (CONT)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Graphic 1" descr="Male profile with solid fill">
            <a:extLst>
              <a:ext uri="{FF2B5EF4-FFF2-40B4-BE49-F238E27FC236}">
                <a16:creationId xmlns:a16="http://schemas.microsoft.com/office/drawing/2014/main" id="{3F41497C-C02F-6875-3B9D-73F84D538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6466" y="2906273"/>
            <a:ext cx="754912" cy="754912"/>
          </a:xfrm>
          <a:prstGeom prst="rect">
            <a:avLst/>
          </a:prstGeom>
        </p:spPr>
      </p:pic>
      <p:sp>
        <p:nvSpPr>
          <p:cNvPr id="14" name="Rectangular Callout 13">
            <a:extLst>
              <a:ext uri="{FF2B5EF4-FFF2-40B4-BE49-F238E27FC236}">
                <a16:creationId xmlns:a16="http://schemas.microsoft.com/office/drawing/2014/main" id="{E3A55A91-3DE2-BE09-D238-782A8C08746B}"/>
              </a:ext>
            </a:extLst>
          </p:cNvPr>
          <p:cNvSpPr/>
          <p:nvPr/>
        </p:nvSpPr>
        <p:spPr>
          <a:xfrm>
            <a:off x="3998569" y="3022119"/>
            <a:ext cx="754912" cy="562122"/>
          </a:xfrm>
          <a:prstGeom prst="wedgeRectCallout">
            <a:avLst>
              <a:gd name="adj1" fmla="val 125497"/>
              <a:gd name="adj2" fmla="val -2820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C55161-FDD7-D219-930C-7050465B65E3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6F802789-0A8C-E00C-BCC7-6EDF03DEC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83" y="3633225"/>
            <a:ext cx="1700168" cy="1133445"/>
          </a:xfrm>
          <a:prstGeom prst="rect">
            <a:avLst/>
          </a:prstGeom>
        </p:spPr>
      </p:pic>
      <p:sp>
        <p:nvSpPr>
          <p:cNvPr id="34" name="Rectangular Callout 33">
            <a:extLst>
              <a:ext uri="{FF2B5EF4-FFF2-40B4-BE49-F238E27FC236}">
                <a16:creationId xmlns:a16="http://schemas.microsoft.com/office/drawing/2014/main" id="{86394679-58EE-62E5-6AAF-F8591D6E07D0}"/>
              </a:ext>
            </a:extLst>
          </p:cNvPr>
          <p:cNvSpPr/>
          <p:nvPr/>
        </p:nvSpPr>
        <p:spPr>
          <a:xfrm>
            <a:off x="1832730" y="3917273"/>
            <a:ext cx="3202414" cy="1133445"/>
          </a:xfrm>
          <a:prstGeom prst="wedgeRectCallout">
            <a:avLst>
              <a:gd name="adj1" fmla="val -55982"/>
              <a:gd name="adj2" fmla="val -19869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BE309C-B981-FE0C-F6C9-AF8D04449349}"/>
              </a:ext>
            </a:extLst>
          </p:cNvPr>
          <p:cNvSpPr txBox="1"/>
          <p:nvPr/>
        </p:nvSpPr>
        <p:spPr>
          <a:xfrm>
            <a:off x="1943617" y="4002585"/>
            <a:ext cx="29398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Choice 3: Historical &amp; Cultural Sites, Landmarks &amp; Viewpoints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✓ Selected 3 categories</a:t>
            </a:r>
          </a:p>
        </p:txBody>
      </p:sp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4C4EA5F2-4ED2-CB9C-51B7-28CC8D4D30FB}"/>
              </a:ext>
            </a:extLst>
          </p:cNvPr>
          <p:cNvSpPr/>
          <p:nvPr/>
        </p:nvSpPr>
        <p:spPr>
          <a:xfrm>
            <a:off x="7272518" y="1422625"/>
            <a:ext cx="3457335" cy="4708980"/>
          </a:xfrm>
          <a:prstGeom prst="wedgeRectCallout">
            <a:avLst>
              <a:gd name="adj1" fmla="val -55568"/>
              <a:gd name="adj2" fmla="val -4482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83463A-79F6-8817-32F6-9313DF470F57}"/>
              </a:ext>
            </a:extLst>
          </p:cNvPr>
          <p:cNvSpPr txBox="1"/>
          <p:nvPr/>
        </p:nvSpPr>
        <p:spPr>
          <a:xfrm>
            <a:off x="7386331" y="1422625"/>
            <a:ext cx="33435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BUILDING YOUR PERSONALIZED ITINERARY</a:t>
            </a:r>
          </a:p>
          <a:p>
            <a:r>
              <a:rPr lang="en-US" sz="1200" dirty="0">
                <a:ea typeface="+mn-lt"/>
                <a:cs typeface="+mn-lt"/>
              </a:rPr>
              <a:t>1. CHELSEA MARKET - Food &amp; Drink</a:t>
            </a:r>
          </a:p>
          <a:p>
            <a:r>
              <a:rPr lang="en-US" sz="1200" dirty="0">
                <a:ea typeface="+mn-lt"/>
                <a:cs typeface="+mn-lt"/>
              </a:rPr>
              <a:t>   Cost: FREE            | Duration: 1.5 hours | Neighborhood: Chelsea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2. MUSEUM OF MODERN ART (MOMA) - Museums &amp; Galleries</a:t>
            </a:r>
          </a:p>
          <a:p>
            <a:r>
              <a:rPr lang="en-US" sz="1200" dirty="0">
                <a:ea typeface="+mn-lt"/>
                <a:cs typeface="+mn-lt"/>
              </a:rPr>
              <a:t>   Cost: $25             | Duration: 2.5 hours | Neighborhood: Midtown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3. EMPIRE STATE BUILDING - Historical &amp; Cultural Sites, Landmarks &amp; Viewpoints</a:t>
            </a:r>
          </a:p>
          <a:p>
            <a:r>
              <a:rPr lang="en-US" sz="1200" dirty="0">
                <a:ea typeface="+mn-lt"/>
                <a:cs typeface="+mn-lt"/>
              </a:rPr>
              <a:t>   Cost: $44             | Duration: 2.0 hours | Neighborhood: Midtown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ITINERARY SUMMARY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Total attractions:         3</a:t>
            </a:r>
          </a:p>
          <a:p>
            <a:r>
              <a:rPr lang="en-US" sz="1200" dirty="0">
                <a:ea typeface="+mn-lt"/>
                <a:cs typeface="+mn-lt"/>
              </a:rPr>
              <a:t>Total time needed:         7.8 hours (visits + all transit)</a:t>
            </a:r>
          </a:p>
          <a:p>
            <a:r>
              <a:rPr lang="en-US" sz="1200" dirty="0">
                <a:ea typeface="+mn-lt"/>
                <a:cs typeface="+mn-lt"/>
              </a:rPr>
              <a:t>Available time:            9.0 hours</a:t>
            </a:r>
          </a:p>
          <a:p>
            <a:r>
              <a:rPr lang="en-US" sz="1200" dirty="0">
                <a:ea typeface="+mn-lt"/>
                <a:cs typeface="+mn-lt"/>
              </a:rPr>
              <a:t>Estimated total cost:      $69.00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This itinerary fits comfortably in your 9.0 hour window!</a:t>
            </a:r>
          </a:p>
        </p:txBody>
      </p:sp>
      <p:pic>
        <p:nvPicPr>
          <p:cNvPr id="25" name="Picture 24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A1991217-29C7-75C0-EDDD-D3DCF71EF7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378" y="1246286"/>
            <a:ext cx="1700168" cy="1133445"/>
          </a:xfrm>
          <a:prstGeom prst="rect">
            <a:avLst/>
          </a:prstGeom>
        </p:spPr>
      </p:pic>
      <p:pic>
        <p:nvPicPr>
          <p:cNvPr id="6" name="Picture 5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FE8F5651-DEC7-4604-EDEB-9B2B09E9F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12" y="1295037"/>
            <a:ext cx="1700168" cy="1133445"/>
          </a:xfrm>
          <a:prstGeom prst="rect">
            <a:avLst/>
          </a:prstGeom>
        </p:spPr>
      </p:pic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AF69B4A9-A645-6305-9DC0-DD0386B010DA}"/>
              </a:ext>
            </a:extLst>
          </p:cNvPr>
          <p:cNvSpPr/>
          <p:nvPr/>
        </p:nvSpPr>
        <p:spPr>
          <a:xfrm>
            <a:off x="1857756" y="1580642"/>
            <a:ext cx="3565296" cy="1130665"/>
          </a:xfrm>
          <a:prstGeom prst="wedgeRectCallout">
            <a:avLst>
              <a:gd name="adj1" fmla="val -55568"/>
              <a:gd name="adj2" fmla="val -28712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4CB40A-24D4-B48A-51C7-4ED71D850D9C}"/>
              </a:ext>
            </a:extLst>
          </p:cNvPr>
          <p:cNvSpPr txBox="1"/>
          <p:nvPr/>
        </p:nvSpPr>
        <p:spPr>
          <a:xfrm>
            <a:off x="1971569" y="1668118"/>
            <a:ext cx="33435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Choice 2: Museums &amp; Galleries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Please select third choice (enter a number 1-6):</a:t>
            </a:r>
          </a:p>
        </p:txBody>
      </p:sp>
    </p:spTree>
    <p:extLst>
      <p:ext uri="{BB962C8B-B14F-4D97-AF65-F5344CB8AC3E}">
        <p14:creationId xmlns:p14="http://schemas.microsoft.com/office/powerpoint/2010/main" val="35217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EDF0-58EB-9901-1292-A3C570AE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5B7F528-9F47-95EE-3AD4-048E181824BD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DDC8B6-7D24-6CD0-A300-5715C383B17B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CHATBOT USE CASE (CONT)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0FBC1D-596D-701C-5796-35EF42EEE09E}"/>
              </a:ext>
            </a:extLst>
          </p:cNvPr>
          <p:cNvSpPr/>
          <p:nvPr/>
        </p:nvSpPr>
        <p:spPr>
          <a:xfrm>
            <a:off x="803275" y="1255851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ular Callout 41">
            <a:extLst>
              <a:ext uri="{FF2B5EF4-FFF2-40B4-BE49-F238E27FC236}">
                <a16:creationId xmlns:a16="http://schemas.microsoft.com/office/drawing/2014/main" id="{34854F53-0811-C32B-83E9-0F2AF673CA53}"/>
              </a:ext>
            </a:extLst>
          </p:cNvPr>
          <p:cNvSpPr/>
          <p:nvPr/>
        </p:nvSpPr>
        <p:spPr>
          <a:xfrm>
            <a:off x="1873690" y="1494284"/>
            <a:ext cx="3457335" cy="3558979"/>
          </a:xfrm>
          <a:prstGeom prst="wedgeRectCallout">
            <a:avLst>
              <a:gd name="adj1" fmla="val -55568"/>
              <a:gd name="adj2" fmla="val -44825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DAA6BF-6386-4B65-2290-FD1DE7D48D15}"/>
              </a:ext>
            </a:extLst>
          </p:cNvPr>
          <p:cNvSpPr txBox="1"/>
          <p:nvPr/>
        </p:nvSpPr>
        <p:spPr>
          <a:xfrm>
            <a:off x="1939375" y="1611779"/>
            <a:ext cx="334352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a typeface="+mn-lt"/>
                <a:cs typeface="+mn-lt"/>
              </a:rPr>
              <a:t>IMPORTANT REMINDERS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 Before you go:</a:t>
            </a:r>
          </a:p>
          <a:p>
            <a:r>
              <a:rPr lang="en-US" sz="1400" dirty="0">
                <a:ea typeface="+mn-lt"/>
                <a:cs typeface="+mn-lt"/>
              </a:rPr>
              <a:t>  • Verify opening hours - they may vary by day/season</a:t>
            </a:r>
          </a:p>
          <a:p>
            <a:r>
              <a:rPr lang="en-US" sz="1400" dirty="0">
                <a:ea typeface="+mn-lt"/>
                <a:cs typeface="+mn-lt"/>
              </a:rPr>
              <a:t>  • Some attractions require advance ticket reservations</a:t>
            </a:r>
          </a:p>
          <a:p>
            <a:r>
              <a:rPr lang="en-US" sz="1400" dirty="0">
                <a:ea typeface="+mn-lt"/>
                <a:cs typeface="+mn-lt"/>
              </a:rPr>
              <a:t>  • Allow extra time for security lines and unexpected delays</a:t>
            </a:r>
          </a:p>
          <a:p>
            <a:r>
              <a:rPr lang="en-US" sz="1400" dirty="0">
                <a:ea typeface="+mn-lt"/>
                <a:cs typeface="+mn-lt"/>
              </a:rPr>
              <a:t>  • Check weather conditions for outdoor attractions</a:t>
            </a:r>
          </a:p>
          <a:p>
            <a:r>
              <a:rPr lang="en-US" sz="1400" dirty="0">
                <a:ea typeface="+mn-lt"/>
                <a:cs typeface="+mn-lt"/>
              </a:rPr>
              <a:t>Thank you for using NYC Airport Layover Chatbot!</a:t>
            </a:r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1400" dirty="0">
                <a:ea typeface="+mn-lt"/>
                <a:cs typeface="+mn-lt"/>
              </a:rPr>
              <a:t>Safe travels!</a:t>
            </a:r>
            <a:endParaRPr lang="en-US" sz="1400" dirty="0">
              <a:cs typeface="Segoe UI"/>
            </a:endParaRPr>
          </a:p>
        </p:txBody>
      </p:sp>
      <p:pic>
        <p:nvPicPr>
          <p:cNvPr id="7" name="Picture 6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A0950E4D-BFE4-CEF9-CFDF-2173F9D3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74" y="1204723"/>
            <a:ext cx="1700168" cy="113344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E99985A-7491-2095-2A46-747D12E2760B}"/>
              </a:ext>
            </a:extLst>
          </p:cNvPr>
          <p:cNvSpPr/>
          <p:nvPr/>
        </p:nvSpPr>
        <p:spPr>
          <a:xfrm>
            <a:off x="6170406" y="1268413"/>
            <a:ext cx="5203471" cy="5040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purple headphones with a face on it&#10;&#10;AI-generated content may be incorrect.">
            <a:extLst>
              <a:ext uri="{FF2B5EF4-FFF2-40B4-BE49-F238E27FC236}">
                <a16:creationId xmlns:a16="http://schemas.microsoft.com/office/drawing/2014/main" id="{2DC04D3D-93DE-A2E7-F309-24D96B4E3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240" y="1198061"/>
            <a:ext cx="1700168" cy="1133445"/>
          </a:xfrm>
          <a:prstGeom prst="rect">
            <a:avLst/>
          </a:prstGeom>
        </p:spPr>
      </p:pic>
      <p:sp>
        <p:nvSpPr>
          <p:cNvPr id="6" name="Rectangular Callout 5">
            <a:extLst>
              <a:ext uri="{FF2B5EF4-FFF2-40B4-BE49-F238E27FC236}">
                <a16:creationId xmlns:a16="http://schemas.microsoft.com/office/drawing/2014/main" id="{679757A3-A095-9CAF-61C4-150DCACAEC56}"/>
              </a:ext>
            </a:extLst>
          </p:cNvPr>
          <p:cNvSpPr/>
          <p:nvPr/>
        </p:nvSpPr>
        <p:spPr>
          <a:xfrm>
            <a:off x="6987822" y="1611779"/>
            <a:ext cx="4148417" cy="4293075"/>
          </a:xfrm>
          <a:prstGeom prst="wedgeRectCallout">
            <a:avLst>
              <a:gd name="adj1" fmla="val -57541"/>
              <a:gd name="adj2" fmla="val -40738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map of a city&#10;&#10;AI-generated content may be incorrect.">
            <a:extLst>
              <a:ext uri="{FF2B5EF4-FFF2-40B4-BE49-F238E27FC236}">
                <a16:creationId xmlns:a16="http://schemas.microsoft.com/office/drawing/2014/main" id="{7397EB25-DEF0-9884-1B69-F2DC9ADE4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733" y="2013499"/>
            <a:ext cx="3765263" cy="34339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60810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2D0E5-870C-3FFB-F036-ED5328C44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Airport Photos, Download The BEST Free Airport Stock Photos &amp; HD Images">
            <a:extLst>
              <a:ext uri="{FF2B5EF4-FFF2-40B4-BE49-F238E27FC236}">
                <a16:creationId xmlns:a16="http://schemas.microsoft.com/office/drawing/2014/main" id="{94E6D8F4-E2C5-01A0-B7F6-23673E39A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7811" y="0"/>
            <a:ext cx="12429811" cy="932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E8060B8B-D734-AA90-0CAA-1F2D6D6F03DC}"/>
              </a:ext>
            </a:extLst>
          </p:cNvPr>
          <p:cNvSpPr/>
          <p:nvPr/>
        </p:nvSpPr>
        <p:spPr>
          <a:xfrm>
            <a:off x="5355771" y="1905000"/>
            <a:ext cx="6836229" cy="2636125"/>
          </a:xfrm>
          <a:custGeom>
            <a:avLst/>
            <a:gdLst/>
            <a:ahLst/>
            <a:cxnLst/>
            <a:rect l="l" t="t" r="r" b="b"/>
            <a:pathLst>
              <a:path w="6096000" h="3419475">
                <a:moveTo>
                  <a:pt x="6096000" y="0"/>
                </a:moveTo>
                <a:lnTo>
                  <a:pt x="0" y="0"/>
                </a:lnTo>
                <a:lnTo>
                  <a:pt x="0" y="3419475"/>
                </a:lnTo>
                <a:lnTo>
                  <a:pt x="6096000" y="3419475"/>
                </a:lnTo>
                <a:lnTo>
                  <a:pt x="6096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5" name="object 11">
            <a:extLst>
              <a:ext uri="{FF2B5EF4-FFF2-40B4-BE49-F238E27FC236}">
                <a16:creationId xmlns:a16="http://schemas.microsoft.com/office/drawing/2014/main" id="{3FBB94E0-E25D-32B5-5824-F848C5E2A2D2}"/>
              </a:ext>
            </a:extLst>
          </p:cNvPr>
          <p:cNvSpPr txBox="1">
            <a:spLocks/>
          </p:cNvSpPr>
          <p:nvPr/>
        </p:nvSpPr>
        <p:spPr>
          <a:xfrm>
            <a:off x="5693229" y="2271319"/>
            <a:ext cx="6388704" cy="1668662"/>
          </a:xfrm>
          <a:prstGeom prst="rect">
            <a:avLst/>
          </a:prstGeom>
        </p:spPr>
        <p:txBody>
          <a:bodyPr vert="horz" wrap="square" lIns="0" tIns="8128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0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b="1" kern="0" spc="95">
                <a:solidFill>
                  <a:srgbClr val="FFFFFF"/>
                </a:solidFill>
                <a:latin typeface="Palatino"/>
              </a:rPr>
              <a:t>NYC Layover Itinerary Chatbot</a:t>
            </a:r>
          </a:p>
          <a:p>
            <a:pPr marL="12700" marR="5080">
              <a:lnSpc>
                <a:spcPct val="90300"/>
              </a:lnSpc>
              <a:spcBef>
                <a:spcPts val="640"/>
              </a:spcBef>
            </a:pPr>
            <a:r>
              <a:rPr lang="en-US" sz="3600" b="1" kern="0" spc="95">
                <a:solidFill>
                  <a:srgbClr val="FFFFFF"/>
                </a:solidFill>
                <a:latin typeface="Palatino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596271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7BDF1-1EC2-087C-F07F-C04B7BF9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1D10675-0185-E192-4959-2A0B76C9AAB8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76DA8-20B8-2DF6-9E88-59D73AD85A12}"/>
              </a:ext>
            </a:extLst>
          </p:cNvPr>
          <p:cNvSpPr txBox="1"/>
          <p:nvPr/>
        </p:nvSpPr>
        <p:spPr>
          <a:xfrm>
            <a:off x="803274" y="170152"/>
            <a:ext cx="6096000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APPENDIX – ERD Diagram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6FE351-3945-4252-FC20-0A379EE30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592" y="1073409"/>
            <a:ext cx="8290814" cy="56144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77317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D709-FAE0-2BD1-AFDF-EADDD432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0DB7BC-311E-2203-8E71-A32D1CC7841A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1C07F-1B5D-6F59-ECC7-8A6F58A833AD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SCORING LOGIC – 6 FACTOR ALGORITHM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2E0022D-BCF7-84C5-73C5-31520E68F067}"/>
              </a:ext>
            </a:extLst>
          </p:cNvPr>
          <p:cNvGraphicFramePr>
            <a:graphicFrameLocks noGrp="1"/>
          </p:cNvGraphicFramePr>
          <p:nvPr/>
        </p:nvGraphicFramePr>
        <p:xfrm>
          <a:off x="812454" y="1268413"/>
          <a:ext cx="10576271" cy="4059798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1697445">
                  <a:extLst>
                    <a:ext uri="{9D8B030D-6E8A-4147-A177-3AD203B41FA5}">
                      <a16:colId xmlns:a16="http://schemas.microsoft.com/office/drawing/2014/main" val="2890871650"/>
                    </a:ext>
                  </a:extLst>
                </a:gridCol>
                <a:gridCol w="1890945">
                  <a:extLst>
                    <a:ext uri="{9D8B030D-6E8A-4147-A177-3AD203B41FA5}">
                      <a16:colId xmlns:a16="http://schemas.microsoft.com/office/drawing/2014/main" val="3501712121"/>
                    </a:ext>
                  </a:extLst>
                </a:gridCol>
                <a:gridCol w="6987881">
                  <a:extLst>
                    <a:ext uri="{9D8B030D-6E8A-4147-A177-3AD203B41FA5}">
                      <a16:colId xmlns:a16="http://schemas.microsoft.com/office/drawing/2014/main" val="3137889996"/>
                    </a:ext>
                  </a:extLst>
                </a:gridCol>
              </a:tblGrid>
              <a:tr h="53823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Factor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Points range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Purpose</a:t>
                      </a:r>
                      <a:endParaRPr lang="en-US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406416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Category priority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0–100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matches 1st/2nd choice category; Low = matches lower-ranked category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334804144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Budget fit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25–50 (or exclude)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exact budget match; Low = cheaper than budget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691602239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Proximity bonus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0–20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Midtown/Chelsea (close to airports); Low = Brooklyn/Bronx (far)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782048601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Fame bonus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 or +200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world-famous landmark; Low = not famous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031148618"/>
                  </a:ext>
                </a:extLst>
              </a:tr>
              <a:tr h="53823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Duration bonus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0–80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 = 2.5+ hour visit; Low = under 1.5 hour visit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680952685"/>
                  </a:ext>
                </a:extLst>
              </a:tr>
              <a:tr h="8304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Diversity penalty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6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–20 or 0</a:t>
                      </a:r>
                      <a:endParaRPr lang="en-US" sz="16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lvl="0" algn="l" defTabSz="914400" rtl="0" eaLnBrk="1" latinLnBrk="0" hangingPunct="1">
                        <a:lnSpc>
                          <a:spcPts val="1875"/>
                        </a:lnSpc>
                        <a:buNone/>
                      </a:pPr>
                      <a:r>
                        <a:rPr lang="en-US" sz="1600" kern="1200" noProof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High (0) = different neighborhood than previous; Low (–20) = same neighborhood</a:t>
                      </a:r>
                      <a:endParaRPr lang="en-US" sz="1600" kern="120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6030540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8209DF7-F617-B96C-8759-0A09D07C558C}"/>
              </a:ext>
            </a:extLst>
          </p:cNvPr>
          <p:cNvSpPr txBox="1"/>
          <p:nvPr/>
        </p:nvSpPr>
        <p:spPr>
          <a:xfrm>
            <a:off x="938389" y="5559777"/>
            <a:ext cx="70908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b="0" i="0">
              <a:solidFill>
                <a:srgbClr val="0F1115"/>
              </a:solidFill>
              <a:latin typeface="Aptos"/>
              <a:ea typeface="quote-cjk-patch"/>
              <a:cs typeface="quote-cjk-patch"/>
            </a:endParaRPr>
          </a:p>
          <a:p>
            <a:pPr algn="l"/>
            <a:r>
              <a:rPr lang="en-US" b="1" i="0">
                <a:solidFill>
                  <a:srgbClr val="0F1115"/>
                </a:solidFill>
                <a:latin typeface="Aptos"/>
                <a:ea typeface="quote-cjk-patch"/>
                <a:cs typeface="quote-cjk-patch"/>
              </a:rPr>
              <a:t>Final Score</a:t>
            </a:r>
            <a:r>
              <a:rPr lang="en-US" b="0" i="0">
                <a:solidFill>
                  <a:srgbClr val="0F1115"/>
                </a:solidFill>
                <a:latin typeface="Aptos"/>
                <a:ea typeface="quote-cjk-patch"/>
                <a:cs typeface="quote-cjk-patch"/>
              </a:rPr>
              <a:t> = Sum of all applicable factors (higher = better</a:t>
            </a:r>
            <a:r>
              <a:rPr lang="en-US">
                <a:solidFill>
                  <a:srgbClr val="0F1115"/>
                </a:solidFill>
                <a:latin typeface="Aptos"/>
                <a:ea typeface="quote-cjk-patch"/>
                <a:cs typeface="quote-cjk-patch"/>
              </a:rPr>
              <a:t>)</a:t>
            </a:r>
            <a:endParaRPr lang="en-US" b="0" i="0">
              <a:solidFill>
                <a:srgbClr val="0F1115"/>
              </a:solidFill>
              <a:latin typeface="Aptos"/>
              <a:ea typeface="quote-cjk-patch"/>
              <a:cs typeface="quote-cjk-patch"/>
            </a:endParaRPr>
          </a:p>
          <a:p>
            <a:pPr algn="ctr"/>
            <a:endParaRPr lang="en-US">
              <a:latin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1C668D-5969-5E76-F11D-B82B7045F0C3}"/>
              </a:ext>
            </a:extLst>
          </p:cNvPr>
          <p:cNvSpPr/>
          <p:nvPr/>
        </p:nvSpPr>
        <p:spPr>
          <a:xfrm rot="16200000">
            <a:off x="531476" y="5967273"/>
            <a:ext cx="643597" cy="8164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78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5EAE-2B6D-21D9-2EE7-B8C944C9F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4056F3-EB30-EE8F-55E8-058D03AE58A0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2F1C9-1C4E-E8B6-A52F-D817D64B592F}"/>
              </a:ext>
            </a:extLst>
          </p:cNvPr>
          <p:cNvSpPr txBox="1"/>
          <p:nvPr/>
        </p:nvSpPr>
        <p:spPr>
          <a:xfrm>
            <a:off x="803274" y="170152"/>
            <a:ext cx="10406944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SELECTION LOGIC</a:t>
            </a:r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04435B1-2C3F-B225-9480-FAF5B3C33294}"/>
              </a:ext>
            </a:extLst>
          </p:cNvPr>
          <p:cNvGraphicFramePr>
            <a:graphicFrameLocks noGrp="1"/>
          </p:cNvGraphicFramePr>
          <p:nvPr/>
        </p:nvGraphicFramePr>
        <p:xfrm>
          <a:off x="800100" y="1268413"/>
          <a:ext cx="10588625" cy="5040313"/>
        </p:xfrm>
        <a:graphic>
          <a:graphicData uri="http://schemas.openxmlformats.org/drawingml/2006/table">
            <a:tbl>
              <a:tblPr bandRow="1">
                <a:tableStyleId>{5FD0F851-EC5A-4D38-B0AD-8093EC10F338}</a:tableStyleId>
              </a:tblPr>
              <a:tblGrid>
                <a:gridCol w="1225366">
                  <a:extLst>
                    <a:ext uri="{9D8B030D-6E8A-4147-A177-3AD203B41FA5}">
                      <a16:colId xmlns:a16="http://schemas.microsoft.com/office/drawing/2014/main" val="2702286352"/>
                    </a:ext>
                  </a:extLst>
                </a:gridCol>
                <a:gridCol w="3339465">
                  <a:extLst>
                    <a:ext uri="{9D8B030D-6E8A-4147-A177-3AD203B41FA5}">
                      <a16:colId xmlns:a16="http://schemas.microsoft.com/office/drawing/2014/main" val="3470283246"/>
                    </a:ext>
                  </a:extLst>
                </a:gridCol>
                <a:gridCol w="6023794">
                  <a:extLst>
                    <a:ext uri="{9D8B030D-6E8A-4147-A177-3AD203B41FA5}">
                      <a16:colId xmlns:a16="http://schemas.microsoft.com/office/drawing/2014/main" val="2897683677"/>
                    </a:ext>
                  </a:extLst>
                </a:gridCol>
              </a:tblGrid>
              <a:tr h="55406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Step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Action</a:t>
                      </a: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</a:rPr>
                        <a:t>Rational</a:t>
                      </a:r>
                    </a:p>
                  </a:txBody>
                  <a:tcPr marL="152399" marR="152399" marT="95249" marB="95249" anchor="ctr"/>
                </a:tc>
                <a:extLst>
                  <a:ext uri="{0D108BD9-81ED-4DB2-BD59-A6C34878D82A}">
                    <a16:rowId xmlns:a16="http://schemas.microsoft.com/office/drawing/2014/main" val="1987805213"/>
                  </a:ext>
                </a:extLst>
              </a:tr>
              <a:tr h="9478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1. Filter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Remove attractions that don't match category, time preference, or budget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Eliminates obviously irrelevant options early, reducing computational waste. No point scoring an attraction that's closed, unaffordable, or in the wrong category.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3781297168"/>
                  </a:ext>
                </a:extLst>
              </a:tr>
              <a:tr h="12010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2. Score</a:t>
                      </a: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endParaRPr lang="en-US" sz="1400">
                        <a:effectLst/>
                      </a:endParaRP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3. Sort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Score remaining candidates using the 6-factor table</a:t>
                      </a: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Rank from highest score to lowest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Quantifies subjective preferences (fame, budget, proximity, etc.) into an objective rank. Sorting ensures the best options are considered first.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2674401817"/>
                  </a:ext>
                </a:extLst>
              </a:tr>
              <a:tr h="69469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4. Test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Check each in order: does it fit remaining time (including transit)?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Accounts for the user's most critical constraint: available hours. A perfect attraction is useless if you can't get there and back.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801718655"/>
                  </a:ext>
                </a:extLst>
              </a:tr>
              <a:tr h="947889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5. Pick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Select the highest-scoring attraction that fits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Guarantees the optimal feasible choice. If the highest-scoring attraction fits, take it. If not, fall back to the next best — no need to test lower scores first.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2203991211"/>
                  </a:ext>
                </a:extLst>
              </a:tr>
              <a:tr h="69469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>
                          <a:effectLst/>
                        </a:rPr>
                        <a:t>6. Repeat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>
                          <a:solidFill>
                            <a:srgbClr val="000000"/>
                          </a:solidFill>
                          <a:effectLst/>
                        </a:rPr>
                        <a:t>Move to next category rank and repeat</a:t>
                      </a:r>
                    </a:p>
                  </a:txBody>
                  <a:tcPr marL="152400" marT="95250" marB="95250" anchor="ctr"/>
                </a:tc>
                <a:tc>
                  <a:txBody>
                    <a:bodyPr/>
                    <a:lstStyle/>
                    <a:p>
                      <a:pPr lvl="0">
                        <a:lnSpc>
                          <a:spcPts val="1875"/>
                        </a:lnSpc>
                        <a:buNone/>
                      </a:pPr>
                      <a:r>
                        <a:rPr lang="en-US" sz="1400" kern="1200" noProof="0">
                          <a:solidFill>
                            <a:srgbClr val="000000"/>
                          </a:solidFill>
                          <a:effectLst/>
                        </a:rPr>
                        <a:t>Respects the user's priority order. Their 1st choice category gets first pick of the best available attraction, not a leftover.</a:t>
                      </a:r>
                      <a:endParaRPr lang="en-US" sz="1400" kern="12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52399" marT="95249" marB="95249" anchor="ctr"/>
                </a:tc>
                <a:extLst>
                  <a:ext uri="{0D108BD9-81ED-4DB2-BD59-A6C34878D82A}">
                    <a16:rowId xmlns:a16="http://schemas.microsoft.com/office/drawing/2014/main" val="1839731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84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692BF-A284-CA1F-459C-7A6A576A7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417E8C-00DB-6D15-BD85-156A887DEB65}"/>
              </a:ext>
            </a:extLst>
          </p:cNvPr>
          <p:cNvSpPr/>
          <p:nvPr/>
        </p:nvSpPr>
        <p:spPr>
          <a:xfrm rot="5400000">
            <a:off x="5648848" y="-5648849"/>
            <a:ext cx="894303" cy="12192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F93C5-E055-9A3B-B347-1B103DBD583B}"/>
              </a:ext>
            </a:extLst>
          </p:cNvPr>
          <p:cNvSpPr txBox="1"/>
          <p:nvPr/>
        </p:nvSpPr>
        <p:spPr>
          <a:xfrm>
            <a:off x="803274" y="170152"/>
            <a:ext cx="823783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000" b="1">
                <a:solidFill>
                  <a:schemeClr val="bg1"/>
                </a:solidFill>
                <a:latin typeface="Palatino"/>
              </a:rPr>
              <a:t>Future Extensions with Gen AI </a:t>
            </a:r>
            <a:endParaRPr lang="en-US">
              <a:solidFill>
                <a:schemeClr val="bg1"/>
              </a:solidFill>
              <a:latin typeface="Aptos" panose="0211000402020202020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734E4-D35C-8ADB-F6C4-678202A5EBDF}"/>
              </a:ext>
            </a:extLst>
          </p:cNvPr>
          <p:cNvGrpSpPr/>
          <p:nvPr/>
        </p:nvGrpSpPr>
        <p:grpSpPr>
          <a:xfrm>
            <a:off x="457721" y="1268413"/>
            <a:ext cx="2589590" cy="5645529"/>
            <a:chOff x="457721" y="1289579"/>
            <a:chExt cx="2589590" cy="564552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F559140-3BE3-2195-B102-CC6A17F7F5BE}"/>
                </a:ext>
              </a:extLst>
            </p:cNvPr>
            <p:cNvSpPr/>
            <p:nvPr/>
          </p:nvSpPr>
          <p:spPr>
            <a:xfrm>
              <a:off x="845005" y="1733272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12" name="Snip Single Corner Rectangle 9">
              <a:extLst>
                <a:ext uri="{FF2B5EF4-FFF2-40B4-BE49-F238E27FC236}">
                  <a16:creationId xmlns:a16="http://schemas.microsoft.com/office/drawing/2014/main" id="{4C0DF739-7C4E-F8D3-D08A-24E68820F9B2}"/>
                </a:ext>
              </a:extLst>
            </p:cNvPr>
            <p:cNvSpPr/>
            <p:nvPr/>
          </p:nvSpPr>
          <p:spPr>
            <a:xfrm>
              <a:off x="834422" y="1289579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313CD5-8E98-EA43-6F16-803937BF48AC}"/>
                </a:ext>
              </a:extLst>
            </p:cNvPr>
            <p:cNvSpPr txBox="1"/>
            <p:nvPr/>
          </p:nvSpPr>
          <p:spPr>
            <a:xfrm>
              <a:off x="457721" y="1447364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Natural-Language Planning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1">
              <a:extLst>
                <a:ext uri="{FF2B5EF4-FFF2-40B4-BE49-F238E27FC236}">
                  <a16:creationId xmlns:a16="http://schemas.microsoft.com/office/drawing/2014/main" id="{0ADE2FC0-EDE5-CE35-541E-C2CFDC595B10}"/>
                </a:ext>
              </a:extLst>
            </p:cNvPr>
            <p:cNvSpPr txBox="1"/>
            <p:nvPr/>
          </p:nvSpPr>
          <p:spPr>
            <a:xfrm>
              <a:off x="868937" y="2318460"/>
              <a:ext cx="1841693" cy="461664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Users describe their layover in their own words (e.g., "I have 6 hours, want something cheap and outdoors")</a:t>
              </a: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automatically translates the description into a structured itinerary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Eliminates need for menu-based inputs</a:t>
              </a: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98FE7E4-266C-0107-31E6-5A8A944716C5}"/>
              </a:ext>
            </a:extLst>
          </p:cNvPr>
          <p:cNvGrpSpPr/>
          <p:nvPr/>
        </p:nvGrpSpPr>
        <p:grpSpPr>
          <a:xfrm>
            <a:off x="2629463" y="1264297"/>
            <a:ext cx="2589590" cy="5439122"/>
            <a:chOff x="2428767" y="1296634"/>
            <a:chExt cx="2589590" cy="543912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5B47B6-D999-5FAB-5D47-BA1AD3B3A326}"/>
                </a:ext>
              </a:extLst>
            </p:cNvPr>
            <p:cNvSpPr/>
            <p:nvPr/>
          </p:nvSpPr>
          <p:spPr>
            <a:xfrm>
              <a:off x="2778829" y="1740327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41" name="Snip Single Corner Rectangle 9">
              <a:extLst>
                <a:ext uri="{FF2B5EF4-FFF2-40B4-BE49-F238E27FC236}">
                  <a16:creationId xmlns:a16="http://schemas.microsoft.com/office/drawing/2014/main" id="{9E4C6554-119E-5414-7B78-2E369AA68811}"/>
                </a:ext>
              </a:extLst>
            </p:cNvPr>
            <p:cNvSpPr/>
            <p:nvPr/>
          </p:nvSpPr>
          <p:spPr>
            <a:xfrm>
              <a:off x="2771774" y="1296634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AED1D1E-5FF0-6D08-624F-036E3BB1FFFF}"/>
                </a:ext>
              </a:extLst>
            </p:cNvPr>
            <p:cNvSpPr txBox="1"/>
            <p:nvPr/>
          </p:nvSpPr>
          <p:spPr>
            <a:xfrm>
              <a:off x="2428767" y="1503149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Conversational 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Edits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TextBox 2">
              <a:extLst>
                <a:ext uri="{FF2B5EF4-FFF2-40B4-BE49-F238E27FC236}">
                  <a16:creationId xmlns:a16="http://schemas.microsoft.com/office/drawing/2014/main" id="{10D6340B-C02A-1D64-5846-C73813B682CA}"/>
                </a:ext>
              </a:extLst>
            </p:cNvPr>
            <p:cNvSpPr txBox="1"/>
            <p:nvPr/>
          </p:nvSpPr>
          <p:spPr>
            <a:xfrm>
              <a:off x="2834511" y="2334551"/>
              <a:ext cx="1778192" cy="440120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Users ask to swap, shorten, or cheapen parts of the itinerary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updates the plan in real time without restarting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Supports follow-up requests like "replace this with something closer to the airport"</a:t>
              </a:r>
            </a:p>
            <a:p>
              <a:b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7D10C6F-E69F-DF61-F38C-71D1583670C6}"/>
              </a:ext>
            </a:extLst>
          </p:cNvPr>
          <p:cNvGrpSpPr/>
          <p:nvPr/>
        </p:nvGrpSpPr>
        <p:grpSpPr>
          <a:xfrm>
            <a:off x="4801205" y="1271790"/>
            <a:ext cx="2589590" cy="5040311"/>
            <a:chOff x="4721822" y="1303689"/>
            <a:chExt cx="2589590" cy="504031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A6C4A97-DA74-009E-FF4C-9D56467CD637}"/>
                </a:ext>
              </a:extLst>
            </p:cNvPr>
            <p:cNvSpPr/>
            <p:nvPr/>
          </p:nvSpPr>
          <p:spPr>
            <a:xfrm>
              <a:off x="5071884" y="1747382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45" name="Snip Single Corner Rectangle 9">
              <a:extLst>
                <a:ext uri="{FF2B5EF4-FFF2-40B4-BE49-F238E27FC236}">
                  <a16:creationId xmlns:a16="http://schemas.microsoft.com/office/drawing/2014/main" id="{BD984ED6-24CA-468C-E089-625F3420CAE3}"/>
                </a:ext>
              </a:extLst>
            </p:cNvPr>
            <p:cNvSpPr/>
            <p:nvPr/>
          </p:nvSpPr>
          <p:spPr>
            <a:xfrm>
              <a:off x="5064829" y="1303689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BDF7093-3AA6-908C-3729-F90800484139}"/>
                </a:ext>
              </a:extLst>
            </p:cNvPr>
            <p:cNvSpPr txBox="1"/>
            <p:nvPr/>
          </p:nvSpPr>
          <p:spPr>
            <a:xfrm>
              <a:off x="4721822" y="1510204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Review 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Summaries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" name="TextBox 8">
              <a:extLst>
                <a:ext uri="{FF2B5EF4-FFF2-40B4-BE49-F238E27FC236}">
                  <a16:creationId xmlns:a16="http://schemas.microsoft.com/office/drawing/2014/main" id="{2E702B56-5DD7-8066-3BAF-8A6D2A133480}"/>
                </a:ext>
              </a:extLst>
            </p:cNvPr>
            <p:cNvSpPr txBox="1"/>
            <p:nvPr/>
          </p:nvSpPr>
          <p:spPr>
            <a:xfrm>
              <a:off x="5074606" y="2327287"/>
              <a:ext cx="1884022" cy="397031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summarizes customer reviews from multiple sources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Delivers quick, useful insights (e.g., "too crowded at noon" or "great for families")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Helps users make faster, more informed decisions</a:t>
              </a:r>
            </a:p>
            <a:p>
              <a:b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22FEC93-0C32-DCD3-D617-5D71FC6970EC}"/>
              </a:ext>
            </a:extLst>
          </p:cNvPr>
          <p:cNvGrpSpPr/>
          <p:nvPr/>
        </p:nvGrpSpPr>
        <p:grpSpPr>
          <a:xfrm>
            <a:off x="6972947" y="1264735"/>
            <a:ext cx="2589590" cy="5209100"/>
            <a:chOff x="7064267" y="1296634"/>
            <a:chExt cx="2589590" cy="52091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7F123C2C-742C-022C-5ED2-44301CD076FA}"/>
                </a:ext>
              </a:extLst>
            </p:cNvPr>
            <p:cNvSpPr/>
            <p:nvPr/>
          </p:nvSpPr>
          <p:spPr>
            <a:xfrm>
              <a:off x="7414329" y="1740327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49" name="Snip Single Corner Rectangle 9">
              <a:extLst>
                <a:ext uri="{FF2B5EF4-FFF2-40B4-BE49-F238E27FC236}">
                  <a16:creationId xmlns:a16="http://schemas.microsoft.com/office/drawing/2014/main" id="{68132537-110C-BAE8-EC96-8F24A962396E}"/>
                </a:ext>
              </a:extLst>
            </p:cNvPr>
            <p:cNvSpPr/>
            <p:nvPr/>
          </p:nvSpPr>
          <p:spPr>
            <a:xfrm>
              <a:off x="7407274" y="1296634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015029B-8849-15A7-F724-71E1E7CD2F11}"/>
                </a:ext>
              </a:extLst>
            </p:cNvPr>
            <p:cNvSpPr txBox="1"/>
            <p:nvPr/>
          </p:nvSpPr>
          <p:spPr>
            <a:xfrm>
              <a:off x="7064267" y="1503149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Real-Time 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Optimization</a:t>
              </a:r>
              <a:endParaRPr lang="en-US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TextBox 7">
              <a:extLst>
                <a:ext uri="{FF2B5EF4-FFF2-40B4-BE49-F238E27FC236}">
                  <a16:creationId xmlns:a16="http://schemas.microsoft.com/office/drawing/2014/main" id="{01B3D75E-7AD7-CA65-4C28-E0832FFCC95A}"/>
                </a:ext>
              </a:extLst>
            </p:cNvPr>
            <p:cNvSpPr txBox="1"/>
            <p:nvPr/>
          </p:nvSpPr>
          <p:spPr>
            <a:xfrm>
              <a:off x="7407099" y="2319973"/>
              <a:ext cx="1876205" cy="4185761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adjusts recommendations using live data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Factors include weather, traffic, attraction wait times, and current opening hours</a:t>
              </a:r>
            </a:p>
            <a:p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Ensures itineraries remain feasible and enjoyable despite changing conditions</a:t>
              </a: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40673A0-BC6B-C118-E32A-6E03026F71A0}"/>
              </a:ext>
            </a:extLst>
          </p:cNvPr>
          <p:cNvGrpSpPr/>
          <p:nvPr/>
        </p:nvGrpSpPr>
        <p:grpSpPr>
          <a:xfrm>
            <a:off x="9144689" y="1264297"/>
            <a:ext cx="2589590" cy="5430947"/>
            <a:chOff x="9144689" y="1264297"/>
            <a:chExt cx="2589590" cy="5430947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8493981-1E64-7430-7143-42224103137A}"/>
                </a:ext>
              </a:extLst>
            </p:cNvPr>
            <p:cNvSpPr/>
            <p:nvPr/>
          </p:nvSpPr>
          <p:spPr>
            <a:xfrm>
              <a:off x="9494751" y="1707990"/>
              <a:ext cx="1889557" cy="45966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/>
            </a:p>
          </p:txBody>
        </p:sp>
        <p:sp>
          <p:nvSpPr>
            <p:cNvPr id="53" name="Snip Single Corner Rectangle 9">
              <a:extLst>
                <a:ext uri="{FF2B5EF4-FFF2-40B4-BE49-F238E27FC236}">
                  <a16:creationId xmlns:a16="http://schemas.microsoft.com/office/drawing/2014/main" id="{7620AE6C-1B47-E6BB-F90C-37BEA6744212}"/>
                </a:ext>
              </a:extLst>
            </p:cNvPr>
            <p:cNvSpPr/>
            <p:nvPr/>
          </p:nvSpPr>
          <p:spPr>
            <a:xfrm>
              <a:off x="9487696" y="1264297"/>
              <a:ext cx="1901029" cy="1022249"/>
            </a:xfrm>
            <a:prstGeom prst="snip1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014A980-7A36-049C-9D55-49CF50273B8F}"/>
                </a:ext>
              </a:extLst>
            </p:cNvPr>
            <p:cNvSpPr txBox="1"/>
            <p:nvPr/>
          </p:nvSpPr>
          <p:spPr>
            <a:xfrm>
              <a:off x="9144689" y="1470812"/>
              <a:ext cx="258959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en-US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Partner Recommendations</a:t>
              </a:r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TextBox 5">
              <a:extLst>
                <a:ext uri="{FF2B5EF4-FFF2-40B4-BE49-F238E27FC236}">
                  <a16:creationId xmlns:a16="http://schemas.microsoft.com/office/drawing/2014/main" id="{7668FB81-C1CC-D69D-C9CD-A71FB21E1619}"/>
                </a:ext>
              </a:extLst>
            </p:cNvPr>
            <p:cNvSpPr txBox="1"/>
            <p:nvPr/>
          </p:nvSpPr>
          <p:spPr>
            <a:xfrm>
              <a:off x="9487696" y="2294039"/>
              <a:ext cx="1880593" cy="440120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Chatbot naturally surfaces partner restaurants, stores, or attractions</a:t>
              </a:r>
            </a:p>
            <a:p>
              <a:pPr marL="285750" indent="-285750">
                <a:buFont typeface="Arial"/>
                <a:buChar char="•"/>
              </a:pPr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Integrates sponsored or affiliated options within the itinerary</a:t>
              </a:r>
            </a:p>
            <a:p>
              <a:pPr marL="285750" indent="-285750">
                <a:buFont typeface="Arial"/>
                <a:buChar char="•"/>
              </a:pPr>
              <a:endParaRPr lang="en-US" sz="1400">
                <a:solidFill>
                  <a:srgbClr val="0F1115"/>
                </a:solidFill>
                <a:latin typeface="Calibri" panose="020F0502020204030204" pitchFamily="34" charset="0"/>
                <a:ea typeface="+mn-lt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en-US" sz="1400">
                  <a:solidFill>
                    <a:srgbClr val="0F1115"/>
                  </a:solidFill>
                  <a:latin typeface="Calibri" panose="020F0502020204030204" pitchFamily="34" charset="0"/>
                  <a:ea typeface="+mn-lt"/>
                  <a:cs typeface="Calibri" panose="020F0502020204030204" pitchFamily="34" charset="0"/>
                </a:rPr>
                <a:t>Maintains relevance while enabling monetization or cross-promotion</a:t>
              </a:r>
            </a:p>
            <a:p>
              <a:b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</a:b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indent="-285750">
                <a:buFont typeface="Arial"/>
                <a:buChar char="•"/>
              </a:pPr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algn="ctr"/>
              <a:endParaRPr lang="en-US" sz="14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2886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1344</Words>
  <Application>Microsoft Macintosh PowerPoint</Application>
  <PresentationFormat>Widescreen</PresentationFormat>
  <Paragraphs>234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Palatino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Li</dc:creator>
  <cp:lastModifiedBy>Cindy Liu</cp:lastModifiedBy>
  <cp:revision>5</cp:revision>
  <dcterms:created xsi:type="dcterms:W3CDTF">2026-04-08T20:49:38Z</dcterms:created>
  <dcterms:modified xsi:type="dcterms:W3CDTF">2026-10-13T00:08:07Z</dcterms:modified>
</cp:coreProperties>
</file>