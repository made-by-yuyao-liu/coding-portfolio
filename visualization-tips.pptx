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11.xml" ContentType="application/vnd.openxmlformats-officedocument.presentationml.notes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notesSlides/notesSlide12.xml" ContentType="application/vnd.openxmlformats-officedocument.presentationml.notes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notesSlides/notesSlide13.xml" ContentType="application/vnd.openxmlformats-officedocument.presentationml.notesSlid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22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92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</c:v>
                </c:pt>
              </c:strCache>
            </c:strRef>
          </c:tx>
          <c:spPr>
            <a:ln w="25400" cap="flat">
              <a:solidFill>
                <a:srgbClr val="1257A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J</c:v>
                </c:pt>
                <c:pt idx="1">
                  <c:v>F</c:v>
                </c:pt>
                <c:pt idx="2">
                  <c:v>M</c:v>
                </c:pt>
                <c:pt idx="3">
                  <c:v>A</c:v>
                </c:pt>
                <c:pt idx="4">
                  <c:v>M</c:v>
                </c:pt>
                <c:pt idx="5">
                  <c:v>J</c:v>
                </c:pt>
                <c:pt idx="6">
                  <c:v>J</c:v>
                </c:pt>
                <c:pt idx="7">
                  <c:v>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</c:v>
                </c:pt>
                <c:pt idx="1">
                  <c:v>3.3</c:v>
                </c:pt>
                <c:pt idx="2">
                  <c:v>3.2</c:v>
                </c:pt>
                <c:pt idx="3">
                  <c:v>3.6</c:v>
                </c:pt>
                <c:pt idx="4">
                  <c:v>3.8</c:v>
                </c:pt>
                <c:pt idx="5">
                  <c:v>3.7</c:v>
                </c:pt>
                <c:pt idx="6">
                  <c:v>4</c:v>
                </c:pt>
                <c:pt idx="7">
                  <c:v>4.2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45F-C14B-AAB1-705BB77E20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A6A6A6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95959"/>
                </a:solidFill>
                <a:latin typeface="Palatino Linotype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rgbClr val="C9C9C9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</c:v>
                </c:pt>
                <c:pt idx="1">
                  <c:v>E</c:v>
                </c:pt>
                <c:pt idx="2">
                  <c:v>W</c:v>
                </c:pt>
                <c:pt idx="3">
                  <c:v>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D1-4A44-94A5-3FFA430BDA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A6A6A6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95959"/>
                </a:solidFill>
                <a:latin typeface="Palatino Linotype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472C4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ABD2-EB40-A638-FE5596BFF17B}"/>
              </c:ext>
            </c:extLst>
          </c:dPt>
          <c:dPt>
            <c:idx val="1"/>
            <c:bubble3D val="0"/>
            <c:spPr>
              <a:solidFill>
                <a:srgbClr val="ED7D31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ABD2-EB40-A638-FE5596BFF17B}"/>
              </c:ext>
            </c:extLst>
          </c:dPt>
          <c:dPt>
            <c:idx val="2"/>
            <c:bubble3D val="0"/>
            <c:spPr>
              <a:solidFill>
                <a:srgbClr val="A5A5A5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ABD2-EB40-A638-FE5596BFF17B}"/>
              </c:ext>
            </c:extLst>
          </c:dPt>
          <c:dPt>
            <c:idx val="3"/>
            <c:bubble3D val="0"/>
            <c:spPr>
              <a:solidFill>
                <a:srgbClr val="FFC000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ABD2-EB40-A638-FE5596BFF17B}"/>
              </c:ext>
            </c:extLst>
          </c:dPt>
          <c:dPt>
            <c:idx val="4"/>
            <c:bubble3D val="0"/>
            <c:spPr>
              <a:solidFill>
                <a:srgbClr val="5B9BD5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ABD2-EB40-A638-FE5596BFF17B}"/>
              </c:ext>
            </c:extLst>
          </c:dPt>
          <c:cat>
            <c:strRef>
              <c:f>Sheet1!$A$2:$A$6</c:f>
              <c:strCache>
                <c:ptCount val="5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  <c:pt idx="4">
                  <c:v>Central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</c:v>
                </c:pt>
                <c:pt idx="1">
                  <c:v>21</c:v>
                </c:pt>
                <c:pt idx="2">
                  <c:v>20</c:v>
                </c:pt>
                <c:pt idx="3">
                  <c:v>19</c:v>
                </c:pt>
                <c:pt idx="4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BD2-EB40-A638-FE5596BFF1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Palatino Linotype"/>
              <a:cs typeface="Palatino Linotype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1257A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A28-2447-9AD2-5024472FBA88}"/>
              </c:ext>
            </c:extLst>
          </c:dPt>
          <c:dPt>
            <c:idx val="1"/>
            <c:invertIfNegative val="0"/>
            <c:bubble3D val="0"/>
            <c:spPr>
              <a:solidFill>
                <a:srgbClr val="C9C9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A28-2447-9AD2-5024472FBA88}"/>
              </c:ext>
            </c:extLst>
          </c:dPt>
          <c:dPt>
            <c:idx val="2"/>
            <c:invertIfNegative val="0"/>
            <c:bubble3D val="0"/>
            <c:spPr>
              <a:solidFill>
                <a:srgbClr val="C9C9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A28-2447-9AD2-5024472FBA88}"/>
              </c:ext>
            </c:extLst>
          </c:dPt>
          <c:dPt>
            <c:idx val="3"/>
            <c:invertIfNegative val="0"/>
            <c:bubble3D val="0"/>
            <c:spPr>
              <a:solidFill>
                <a:srgbClr val="C9C9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A28-2447-9AD2-5024472FBA88}"/>
              </c:ext>
            </c:extLst>
          </c:dPt>
          <c:dPt>
            <c:idx val="4"/>
            <c:invertIfNegative val="0"/>
            <c:bubble3D val="0"/>
            <c:spPr>
              <a:solidFill>
                <a:srgbClr val="C9C9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A28-2447-9AD2-5024472FBA88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62626"/>
                    </a:solidFill>
                    <a:latin typeface="Palatino Linotype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  <c:pt idx="4">
                  <c:v>Central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</c:v>
                </c:pt>
                <c:pt idx="1">
                  <c:v>21</c:v>
                </c:pt>
                <c:pt idx="2">
                  <c:v>20</c:v>
                </c:pt>
                <c:pt idx="3">
                  <c:v>19</c:v>
                </c:pt>
                <c:pt idx="4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A28-2447-9AD2-5024472FBA8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A6A6A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Palatino Linotype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8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A5A5A5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135</c:v>
                </c:pt>
                <c:pt idx="2">
                  <c:v>150</c:v>
                </c:pt>
                <c:pt idx="3">
                  <c:v>160</c:v>
                </c:pt>
                <c:pt idx="4">
                  <c:v>178</c:v>
                </c:pt>
                <c:pt idx="5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51-944B-A6AD-DB619A00D1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Margin (%)</c:v>
                </c:pt>
              </c:strCache>
            </c:strRef>
          </c:tx>
          <c:spPr>
            <a:ln w="31750" cap="flat">
              <a:solidFill>
                <a:srgbClr val="D51B2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51B24"/>
              </a:solidFill>
              <a:ln w="9525" cap="flat">
                <a:solidFill>
                  <a:srgbClr val="D51B24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18</c:v>
                </c:pt>
                <c:pt idx="1">
                  <c:v>17.5</c:v>
                </c:pt>
                <c:pt idx="2">
                  <c:v>16.8</c:v>
                </c:pt>
                <c:pt idx="3">
                  <c:v>16.2</c:v>
                </c:pt>
                <c:pt idx="4">
                  <c:v>15.9</c:v>
                </c:pt>
                <c:pt idx="5">
                  <c:v>15.1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A51-944B-A6AD-DB619A00D1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5"/>
        <c:axId val="2094734553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A6A6A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Palatino Linotype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Palatino Linotype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19"/>
          <c:min val="14"/>
        </c:scaling>
        <c:delete val="0"/>
        <c:axPos val="r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Palatino Linotype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3"/>
        <c:crosses val="autoZero"/>
        <c:auto val="1"/>
        <c:lblAlgn val="ctr"/>
        <c:lblOffset val="100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Palatino Linotype"/>
              <a:cs typeface="Palatino Linotype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62626"/>
                </a:solidFill>
                <a:latin typeface="Palatino Linotype"/>
              </a:defRPr>
            </a:pPr>
            <a:r>
              <a:rPr lang="en-CA" sz="1100" b="0" i="0" u="none" strike="noStrike">
                <a:solidFill>
                  <a:srgbClr val="262626"/>
                </a:solidFill>
                <a:latin typeface="Palatino Linotype"/>
              </a:rPr>
              <a:t>Revenue, $K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257A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135</c:v>
                </c:pt>
                <c:pt idx="2">
                  <c:v>150</c:v>
                </c:pt>
                <c:pt idx="3">
                  <c:v>160</c:v>
                </c:pt>
                <c:pt idx="4">
                  <c:v>178</c:v>
                </c:pt>
                <c:pt idx="5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A3-834D-82AA-2F42EDB541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Palatino Linotype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62626"/>
                </a:solidFill>
                <a:latin typeface="Palatino Linotype"/>
              </a:defRPr>
            </a:pPr>
            <a:r>
              <a:rPr lang="en-CA" sz="1100" b="0" i="0" u="none" strike="noStrike">
                <a:solidFill>
                  <a:srgbClr val="262626"/>
                </a:solidFill>
                <a:latin typeface="Palatino Linotype"/>
              </a:rPr>
              <a:t>Gross margin, %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</c:v>
                </c:pt>
              </c:strCache>
            </c:strRef>
          </c:tx>
          <c:spPr>
            <a:ln w="31750" cap="flat">
              <a:solidFill>
                <a:srgbClr val="D51B24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D51B24"/>
              </a:solidFill>
              <a:ln w="9525" cap="flat">
                <a:solidFill>
                  <a:srgbClr val="D51B24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</c:v>
                </c:pt>
                <c:pt idx="1">
                  <c:v>17.5</c:v>
                </c:pt>
                <c:pt idx="2">
                  <c:v>16.8</c:v>
                </c:pt>
                <c:pt idx="3">
                  <c:v>16.2</c:v>
                </c:pt>
                <c:pt idx="4">
                  <c:v>15.9</c:v>
                </c:pt>
                <c:pt idx="5">
                  <c:v>15.1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13F-D646-B006-563C19283F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A6A6A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Palatino Linotype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Palatino Linotype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E7C-FD46-A221-EA10E1849D87}"/>
              </c:ext>
            </c:extLst>
          </c:dPt>
          <c:dPt>
            <c:idx val="1"/>
            <c:invertIfNegative val="0"/>
            <c:bubble3D val="0"/>
            <c:spPr>
              <a:solidFill>
                <a:srgbClr val="3498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7C-FD46-A221-EA10E1849D87}"/>
              </c:ext>
            </c:extLst>
          </c:dPt>
          <c:dPt>
            <c:idx val="2"/>
            <c:invertIfNegative val="0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E7C-FD46-A221-EA10E1849D87}"/>
              </c:ext>
            </c:extLst>
          </c:dPt>
          <c:dPt>
            <c:idx val="3"/>
            <c:invertIfNegative val="0"/>
            <c:bubble3D val="0"/>
            <c:spPr>
              <a:solidFill>
                <a:srgbClr val="9B59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E7C-FD46-A221-EA10E1849D87}"/>
              </c:ext>
            </c:extLst>
          </c:dPt>
          <c:dPt>
            <c:idx val="4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E7C-FD46-A221-EA10E1849D87}"/>
              </c:ext>
            </c:extLst>
          </c:dPt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55</c:v>
                </c:pt>
                <c:pt idx="2">
                  <c:v>47</c:v>
                </c:pt>
                <c:pt idx="3">
                  <c:v>68</c:v>
                </c:pt>
                <c:pt idx="4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E7C-FD46-A221-EA10E1849D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A6A6A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Palatino Linotype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Palatino Linotyp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62626"/>
                </a:solidFill>
                <a:latin typeface="Palatino Linotype"/>
              </a:defRPr>
            </a:pPr>
            <a:r>
              <a:rPr lang="en-CA" sz="1200" b="0" i="0" u="none" strike="noStrike">
                <a:solidFill>
                  <a:srgbClr val="262626"/>
                </a:solidFill>
                <a:latin typeface="Palatino Linotype"/>
              </a:rPr>
              <a:t>Product D sells the most units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C9C9C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343-EE42-8370-4EE6BAADC69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343-EE42-8370-4EE6BAADC69A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343-EE42-8370-4EE6BAADC69A}"/>
              </c:ext>
            </c:extLst>
          </c:dPt>
          <c:dPt>
            <c:idx val="3"/>
            <c:invertIfNegative val="0"/>
            <c:bubble3D val="0"/>
            <c:spPr>
              <a:solidFill>
                <a:srgbClr val="1257A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343-EE42-8370-4EE6BAADC69A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1343-EE42-8370-4EE6BAADC69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62626"/>
                    </a:solidFill>
                    <a:latin typeface="Palatino Linotype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55</c:v>
                </c:pt>
                <c:pt idx="2">
                  <c:v>47</c:v>
                </c:pt>
                <c:pt idx="3">
                  <c:v>68</c:v>
                </c:pt>
                <c:pt idx="4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343-EE42-8370-4EE6BAADC69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A6A6A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Palatino Linotype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1257A1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Atlantic</c:v>
                </c:pt>
                <c:pt idx="1">
                  <c:v>BC</c:v>
                </c:pt>
                <c:pt idx="2">
                  <c:v>Ontario</c:v>
                </c:pt>
                <c:pt idx="3">
                  <c:v>Prairies</c:v>
                </c:pt>
                <c:pt idx="4">
                  <c:v>Quebec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</c:v>
                </c:pt>
                <c:pt idx="1">
                  <c:v>31</c:v>
                </c:pt>
                <c:pt idx="2">
                  <c:v>46</c:v>
                </c:pt>
                <c:pt idx="3">
                  <c:v>22</c:v>
                </c:pt>
                <c:pt idx="4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27-FB47-842F-76A82978F4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A6A6A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Palatino Linotype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t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Palatino Linotyp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62626"/>
                </a:solidFill>
                <a:latin typeface="Palatino Linotype"/>
              </a:defRPr>
            </a:pPr>
            <a:r>
              <a:rPr lang="en-CA" sz="1200" b="0" i="0" u="none" strike="noStrike">
                <a:solidFill>
                  <a:srgbClr val="262626"/>
                </a:solidFill>
                <a:latin typeface="Palatino Linotype"/>
              </a:rPr>
              <a:t>Ontario has the most stores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1257A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4AD-1B48-8075-6D3F76E28342}"/>
              </c:ext>
            </c:extLst>
          </c:dPt>
          <c:dPt>
            <c:idx val="1"/>
            <c:invertIfNegative val="0"/>
            <c:bubble3D val="0"/>
            <c:spPr>
              <a:solidFill>
                <a:srgbClr val="C9C9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4AD-1B48-8075-6D3F76E28342}"/>
              </c:ext>
            </c:extLst>
          </c:dPt>
          <c:dPt>
            <c:idx val="2"/>
            <c:invertIfNegative val="0"/>
            <c:bubble3D val="0"/>
            <c:spPr>
              <a:solidFill>
                <a:srgbClr val="C9C9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4AD-1B48-8075-6D3F76E28342}"/>
              </c:ext>
            </c:extLst>
          </c:dPt>
          <c:dPt>
            <c:idx val="3"/>
            <c:invertIfNegative val="0"/>
            <c:bubble3D val="0"/>
            <c:spPr>
              <a:solidFill>
                <a:srgbClr val="C9C9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4AD-1B48-8075-6D3F76E28342}"/>
              </c:ext>
            </c:extLst>
          </c:dPt>
          <c:dPt>
            <c:idx val="4"/>
            <c:invertIfNegative val="0"/>
            <c:bubble3D val="0"/>
            <c:spPr>
              <a:solidFill>
                <a:srgbClr val="C9C9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4AD-1B48-8075-6D3F76E2834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62626"/>
                    </a:solidFill>
                    <a:latin typeface="Palatino Linotype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Ontario</c:v>
                </c:pt>
                <c:pt idx="1">
                  <c:v>Quebec</c:v>
                </c:pt>
                <c:pt idx="2">
                  <c:v>BC</c:v>
                </c:pt>
                <c:pt idx="3">
                  <c:v>Prairies</c:v>
                </c:pt>
                <c:pt idx="4">
                  <c:v>Atlantic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</c:v>
                </c:pt>
                <c:pt idx="1">
                  <c:v>38</c:v>
                </c:pt>
                <c:pt idx="2">
                  <c:v>31</c:v>
                </c:pt>
                <c:pt idx="3">
                  <c:v>22</c:v>
                </c:pt>
                <c:pt idx="4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4AD-1B48-8075-6D3F76E2834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A6A6A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Palatino Linotype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62626"/>
                </a:solidFill>
                <a:latin typeface="Palatino Linotype"/>
              </a:defRPr>
            </a:pPr>
            <a:r>
              <a:rPr lang="en-CA" sz="1200" b="0" i="0" u="none" strike="noStrike">
                <a:solidFill>
                  <a:srgbClr val="262626"/>
                </a:solidFill>
                <a:latin typeface="Palatino Linotype"/>
              </a:rPr>
              <a:t>Sales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257A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62626"/>
                    </a:solidFill>
                    <a:latin typeface="Palatino Linotype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QC</c:v>
                </c:pt>
                <c:pt idx="1">
                  <c:v>BC</c:v>
                </c:pt>
                <c:pt idx="2">
                  <c:v>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12039492.369999999</c:v>
                </c:pt>
                <c:pt idx="1">
                  <c:v>13982177.439999999</c:v>
                </c:pt>
                <c:pt idx="2">
                  <c:v>15104483.91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EB-A045-9754-11C6F067C9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A6A6A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Palatino Linotype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95959"/>
                </a:solidFill>
                <a:latin typeface="Palatino Linotyp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9C9C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B1F-C845-BBB6-327D81FC0FD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B1F-C845-BBB6-327D81FC0FD0}"/>
              </c:ext>
            </c:extLst>
          </c:dPt>
          <c:dPt>
            <c:idx val="2"/>
            <c:invertIfNegative val="0"/>
            <c:bubble3D val="0"/>
            <c:spPr>
              <a:solidFill>
                <a:srgbClr val="1257A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B1F-C845-BBB6-327D81FC0FD0}"/>
              </c:ext>
            </c:extLst>
          </c:dPt>
          <c:dLbls>
            <c:numFmt formatCode="&quot;$&quot;0.0&quot;B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62626"/>
                    </a:solidFill>
                    <a:latin typeface="Palatino Linotype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Quebec</c:v>
                </c:pt>
                <c:pt idx="1">
                  <c:v>BC</c:v>
                </c:pt>
                <c:pt idx="2">
                  <c:v>Ontario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14</c:v>
                </c:pt>
                <c:pt idx="2">
                  <c:v>15.1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B1F-C845-BBB6-327D81FC0FD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A6A6A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Palatino Linotype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Online</c:v>
                </c:pt>
              </c:strCache>
            </c:strRef>
          </c:tx>
          <c:spPr>
            <a:ln w="25400" cap="flat">
              <a:solidFill>
                <a:srgbClr val="4472C4"/>
              </a:solidFill>
              <a:prstDash val="solid"/>
              <a:round/>
            </a:ln>
            <a:effectLst/>
          </c:spPr>
          <c:marker>
            <c:symbol val="square"/>
            <c:size val="6"/>
            <c:spPr>
              <a:solidFill>
                <a:srgbClr val="4472C4"/>
              </a:solidFill>
              <a:ln w="9525" cap="flat">
                <a:solidFill>
                  <a:srgbClr val="4472C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0000"/>
                    </a:solidFill>
                    <a:latin typeface="Palatino Linotype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26</c:v>
                </c:pt>
                <c:pt idx="2">
                  <c:v>31</c:v>
                </c:pt>
                <c:pt idx="3">
                  <c:v>37</c:v>
                </c:pt>
                <c:pt idx="4">
                  <c:v>44</c:v>
                </c:pt>
                <c:pt idx="5">
                  <c:v>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C48-6B46-BB8C-BFB4A98C22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Retail</c:v>
                </c:pt>
              </c:strCache>
            </c:strRef>
          </c:tx>
          <c:spPr>
            <a:ln w="25400" cap="flat">
              <a:solidFill>
                <a:srgbClr val="ED7D31"/>
              </a:solidFill>
              <a:prstDash val="solid"/>
              <a:round/>
            </a:ln>
            <a:effectLst/>
          </c:spPr>
          <c:marker>
            <c:symbol val="square"/>
            <c:size val="6"/>
            <c:spPr>
              <a:solidFill>
                <a:srgbClr val="ED7D31"/>
              </a:solidFill>
              <a:ln w="9525" cap="flat">
                <a:solidFill>
                  <a:srgbClr val="ED7D3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0000"/>
                    </a:solidFill>
                    <a:latin typeface="Palatino Linotype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35</c:v>
                </c:pt>
                <c:pt idx="1">
                  <c:v>34</c:v>
                </c:pt>
                <c:pt idx="2">
                  <c:v>36</c:v>
                </c:pt>
                <c:pt idx="3">
                  <c:v>33</c:v>
                </c:pt>
                <c:pt idx="4">
                  <c:v>32</c:v>
                </c:pt>
                <c:pt idx="5">
                  <c:v>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C48-6B46-BB8C-BFB4A98C229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Wholesale</c:v>
                </c:pt>
              </c:strCache>
            </c:strRef>
          </c:tx>
          <c:spPr>
            <a:ln w="25400" cap="flat">
              <a:solidFill>
                <a:srgbClr val="A5A5A5"/>
              </a:solidFill>
              <a:prstDash val="solid"/>
              <a:round/>
            </a:ln>
            <a:effectLst/>
          </c:spPr>
          <c:marker>
            <c:symbol val="square"/>
            <c:size val="6"/>
            <c:spPr>
              <a:solidFill>
                <a:srgbClr val="A5A5A5"/>
              </a:solidFill>
              <a:ln w="9525" cap="flat">
                <a:solidFill>
                  <a:srgbClr val="A5A5A5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0000"/>
                    </a:solidFill>
                    <a:latin typeface="Palatino Linotype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15</c:v>
                </c:pt>
                <c:pt idx="1">
                  <c:v>16</c:v>
                </c:pt>
                <c:pt idx="2">
                  <c:v>15</c:v>
                </c:pt>
                <c:pt idx="3">
                  <c:v>17</c:v>
                </c:pt>
                <c:pt idx="4">
                  <c:v>18</c:v>
                </c:pt>
                <c:pt idx="5">
                  <c:v>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C48-6B46-BB8C-BFB4A98C2298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majorGridlines>
          <c:spPr>
            <a:ln w="15875" cap="flat">
              <a:solidFill>
                <a:srgbClr val="7F7F7F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A6A6A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Palatino Linotype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15875" cap="flat">
              <a:solidFill>
                <a:srgbClr val="7F7F7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Palatino Linotyp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E7E6E6"/>
        </a:solidFill>
        <a:ln w="19050" cap="flat">
          <a:solidFill>
            <a:srgbClr val="000000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latin typeface="Palatino Linotype"/>
              <a:cs typeface="Palatino Linotype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Online</c:v>
                </c:pt>
              </c:strCache>
            </c:strRef>
          </c:tx>
          <c:spPr>
            <a:ln w="28575" cap="flat">
              <a:solidFill>
                <a:srgbClr val="1257A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26</c:v>
                </c:pt>
                <c:pt idx="2">
                  <c:v>31</c:v>
                </c:pt>
                <c:pt idx="3">
                  <c:v>37</c:v>
                </c:pt>
                <c:pt idx="4">
                  <c:v>44</c:v>
                </c:pt>
                <c:pt idx="5">
                  <c:v>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CF4-2945-A27D-F12D3D70CB1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Retail</c:v>
                </c:pt>
              </c:strCache>
            </c:strRef>
          </c:tx>
          <c:spPr>
            <a:ln w="28575" cap="flat">
              <a:solidFill>
                <a:srgbClr val="C9C9C9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35</c:v>
                </c:pt>
                <c:pt idx="1">
                  <c:v>34</c:v>
                </c:pt>
                <c:pt idx="2">
                  <c:v>36</c:v>
                </c:pt>
                <c:pt idx="3">
                  <c:v>33</c:v>
                </c:pt>
                <c:pt idx="4">
                  <c:v>32</c:v>
                </c:pt>
                <c:pt idx="5">
                  <c:v>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CF4-2945-A27D-F12D3D70CB1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Wholesale</c:v>
                </c:pt>
              </c:strCache>
            </c:strRef>
          </c:tx>
          <c:spPr>
            <a:ln w="28575" cap="flat">
              <a:solidFill>
                <a:srgbClr val="C9C9C9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15</c:v>
                </c:pt>
                <c:pt idx="1">
                  <c:v>16</c:v>
                </c:pt>
                <c:pt idx="2">
                  <c:v>15</c:v>
                </c:pt>
                <c:pt idx="3">
                  <c:v>17</c:v>
                </c:pt>
                <c:pt idx="4">
                  <c:v>18</c:v>
                </c:pt>
                <c:pt idx="5">
                  <c:v>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CF4-2945-A27D-F12D3D70CB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A6A6A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Palatino Linotype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Palatino Linotype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62626"/>
                </a:solidFill>
                <a:latin typeface="Palatino Linotype"/>
              </a:defRPr>
            </a:pPr>
            <a:r>
              <a:rPr lang="en-CA" sz="1200" b="0" i="0" u="none" strike="noStrike">
                <a:solidFill>
                  <a:srgbClr val="262626"/>
                </a:solidFill>
                <a:latin typeface="Palatino Linotype"/>
              </a:rPr>
              <a:t>Satisfaction score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1257A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62626"/>
                    </a:solidFill>
                    <a:latin typeface="Palatino Linotype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Product A</c:v>
                </c:pt>
                <c:pt idx="1">
                  <c:v>Product 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96</c:v>
                </c:pt>
                <c:pt idx="1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53-604A-8FEE-934EE848F08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A6A6A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Palatino Linotype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95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Palatino Linotype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62626"/>
                </a:solidFill>
                <a:latin typeface="Palatino Linotype"/>
              </a:defRPr>
            </a:pPr>
            <a:r>
              <a:rPr lang="en-CA" sz="1200" b="0" i="0" u="none" strike="noStrike">
                <a:solidFill>
                  <a:srgbClr val="262626"/>
                </a:solidFill>
                <a:latin typeface="Palatino Linotype"/>
              </a:rPr>
              <a:t>B scores 3 points higher than A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1257A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Palatino Linotype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Product A</c:v>
                </c:pt>
                <c:pt idx="1">
                  <c:v>Product 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96</c:v>
                </c:pt>
                <c:pt idx="1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7B-D549-93CF-59F4D7590D9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A6A6A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Palatino Linotype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Palatino Linotype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62626"/>
                </a:solidFill>
                <a:latin typeface="Palatino Linotype"/>
              </a:defRPr>
            </a:pPr>
            <a:r>
              <a:rPr lang="en-CA" sz="1200" b="0" i="0" u="none" strike="noStrike">
                <a:solidFill>
                  <a:srgbClr val="262626"/>
                </a:solidFill>
                <a:latin typeface="Palatino Linotype"/>
              </a:rPr>
              <a:t>Q1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Q1</c:v>
                </c:pt>
              </c:strCache>
            </c:strRef>
          </c:tx>
          <c:spPr>
            <a:solidFill>
              <a:srgbClr val="1257A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2BD-7C48-BF36-51B7B60117D8}"/>
              </c:ext>
            </c:extLst>
          </c:dPt>
          <c:dPt>
            <c:idx val="1"/>
            <c:invertIfNegative val="0"/>
            <c:bubble3D val="0"/>
            <c:spPr>
              <a:solidFill>
                <a:srgbClr val="15666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2BD-7C48-BF36-51B7B60117D8}"/>
              </c:ext>
            </c:extLst>
          </c:dPt>
          <c:dPt>
            <c:idx val="2"/>
            <c:invertIfNegative val="0"/>
            <c:bubble3D val="0"/>
            <c:spPr>
              <a:solidFill>
                <a:srgbClr val="E8B0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2BD-7C48-BF36-51B7B60117D8}"/>
              </c:ext>
            </c:extLst>
          </c:dPt>
          <c:dPt>
            <c:idx val="3"/>
            <c:invertIfNegative val="0"/>
            <c:bubble3D val="0"/>
            <c:spPr>
              <a:solidFill>
                <a:srgbClr val="7F7F7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2BD-7C48-BF36-51B7B60117D8}"/>
              </c:ext>
            </c:extLst>
          </c:dPt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35</c:v>
                </c:pt>
                <c:pt idx="2">
                  <c:v>27</c:v>
                </c:pt>
                <c:pt idx="3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2BD-7C48-BF36-51B7B60117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A6A6A6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Palatino Linotype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t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Palatino Linotype"/>
              </a:defRPr>
            </a:pPr>
            <a:endParaRPr lang="en-US"/>
          </a:p>
        </c:txPr>
        <c:crossAx val="2094734554"/>
        <c:crosses val="autoZero"/>
        <c:crossBetween val="between"/>
        <c:majorUnit val="3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62626"/>
                </a:solidFill>
                <a:latin typeface="Palatino Linotype"/>
              </a:defRPr>
            </a:pPr>
            <a:r>
              <a:rPr lang="en-CA" sz="1200" b="0" i="0" u="none" strike="noStrike">
                <a:solidFill>
                  <a:srgbClr val="262626"/>
                </a:solidFill>
                <a:latin typeface="Palatino Linotype"/>
              </a:rPr>
              <a:t>Q2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Q2</c:v>
                </c:pt>
              </c:strCache>
            </c:strRef>
          </c:tx>
          <c:spPr>
            <a:solidFill>
              <a:srgbClr val="D51B2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A39-9B4F-AB78-7742723E4C4F}"/>
              </c:ext>
            </c:extLst>
          </c:dPt>
          <c:dPt>
            <c:idx val="1"/>
            <c:invertIfNegative val="0"/>
            <c:bubble3D val="0"/>
            <c:spPr>
              <a:solidFill>
                <a:srgbClr val="9B59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A39-9B4F-AB78-7742723E4C4F}"/>
              </c:ext>
            </c:extLst>
          </c:dPt>
          <c:dPt>
            <c:idx val="2"/>
            <c:invertIfNegative val="0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A39-9B4F-AB78-7742723E4C4F}"/>
              </c:ext>
            </c:extLst>
          </c:dPt>
          <c:dPt>
            <c:idx val="3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A39-9B4F-AB78-7742723E4C4F}"/>
              </c:ext>
            </c:extLst>
          </c:dPt>
          <c:cat>
            <c:strRef>
              <c:f>Sheet1!$A$2:$A$5</c:f>
              <c:strCache>
                <c:ptCount val="4"/>
                <c:pt idx="0">
                  <c:v>South</c:v>
                </c:pt>
                <c:pt idx="1">
                  <c:v>North</c:v>
                </c:pt>
                <c:pt idx="2">
                  <c:v>West</c:v>
                </c:pt>
                <c:pt idx="3">
                  <c:v>East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44</c:v>
                </c:pt>
                <c:pt idx="2">
                  <c:v>21</c:v>
                </c:pt>
                <c:pt idx="3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A39-9B4F-AB78-7742723E4C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A6A6A6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Palatino Linotype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"/>
          <c:min val="20"/>
        </c:scaling>
        <c:delete val="0"/>
        <c:axPos val="t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Palatino Linotype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62626"/>
                </a:solidFill>
                <a:latin typeface="Palatino Linotype"/>
              </a:defRPr>
            </a:pPr>
            <a:r>
              <a:rPr lang="en-CA" sz="1200" b="0" i="0" u="none" strike="noStrike">
                <a:solidFill>
                  <a:srgbClr val="262626"/>
                </a:solidFill>
                <a:latin typeface="Palatino Linotype"/>
              </a:rPr>
              <a:t>Q1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Q1</c:v>
                </c:pt>
              </c:strCache>
            </c:strRef>
          </c:tx>
          <c:spPr>
            <a:solidFill>
              <a:srgbClr val="1257A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C1C-3247-8845-EAADC9C9CE8B}"/>
              </c:ext>
            </c:extLst>
          </c:dPt>
          <c:dPt>
            <c:idx val="1"/>
            <c:invertIfNegative val="0"/>
            <c:bubble3D val="0"/>
            <c:spPr>
              <a:solidFill>
                <a:srgbClr val="15666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C1C-3247-8845-EAADC9C9CE8B}"/>
              </c:ext>
            </c:extLst>
          </c:dPt>
          <c:dPt>
            <c:idx val="2"/>
            <c:invertIfNegative val="0"/>
            <c:bubble3D val="0"/>
            <c:spPr>
              <a:solidFill>
                <a:srgbClr val="E8B0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C1C-3247-8845-EAADC9C9CE8B}"/>
              </c:ext>
            </c:extLst>
          </c:dPt>
          <c:dPt>
            <c:idx val="3"/>
            <c:invertIfNegative val="0"/>
            <c:bubble3D val="0"/>
            <c:spPr>
              <a:solidFill>
                <a:srgbClr val="7F7F7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C1C-3247-8845-EAADC9C9CE8B}"/>
              </c:ext>
            </c:extLst>
          </c:dPt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35</c:v>
                </c:pt>
                <c:pt idx="2">
                  <c:v>27</c:v>
                </c:pt>
                <c:pt idx="3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C1C-3247-8845-EAADC9C9CE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A6A6A6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Palatino Linotype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t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Palatino Linotype"/>
              </a:defRPr>
            </a:pPr>
            <a:endParaRPr lang="en-US"/>
          </a:p>
        </c:txPr>
        <c:crossAx val="2094734554"/>
        <c:crosses val="autoZero"/>
        <c:crossBetween val="between"/>
        <c:majorUnit val="3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62626"/>
                </a:solidFill>
                <a:latin typeface="Palatino Linotype"/>
              </a:defRPr>
            </a:pPr>
            <a:r>
              <a:rPr lang="en-CA" sz="1200" b="0" i="0" u="none" strike="noStrike">
                <a:solidFill>
                  <a:srgbClr val="262626"/>
                </a:solidFill>
                <a:latin typeface="Palatino Linotype"/>
              </a:rPr>
              <a:t>Q2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Q2</c:v>
                </c:pt>
              </c:strCache>
            </c:strRef>
          </c:tx>
          <c:spPr>
            <a:solidFill>
              <a:srgbClr val="1257A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9B7-7645-B026-CD56304248CA}"/>
              </c:ext>
            </c:extLst>
          </c:dPt>
          <c:dPt>
            <c:idx val="1"/>
            <c:invertIfNegative val="0"/>
            <c:bubble3D val="0"/>
            <c:spPr>
              <a:solidFill>
                <a:srgbClr val="15666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9B7-7645-B026-CD56304248CA}"/>
              </c:ext>
            </c:extLst>
          </c:dPt>
          <c:dPt>
            <c:idx val="2"/>
            <c:invertIfNegative val="0"/>
            <c:bubble3D val="0"/>
            <c:spPr>
              <a:solidFill>
                <a:srgbClr val="E8B0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9B7-7645-B026-CD56304248CA}"/>
              </c:ext>
            </c:extLst>
          </c:dPt>
          <c:dPt>
            <c:idx val="3"/>
            <c:invertIfNegative val="0"/>
            <c:bubble3D val="0"/>
            <c:spPr>
              <a:solidFill>
                <a:srgbClr val="7F7F7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9B7-7645-B026-CD56304248CA}"/>
              </c:ext>
            </c:extLst>
          </c:dPt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</c:v>
                </c:pt>
                <c:pt idx="1">
                  <c:v>39</c:v>
                </c:pt>
                <c:pt idx="2">
                  <c:v>25</c:v>
                </c:pt>
                <c:pt idx="3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9B7-7645-B026-CD56304248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A6A6A6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Palatino Linotype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t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Palatino Linotype"/>
              </a:defRPr>
            </a:pPr>
            <a:endParaRPr lang="en-US"/>
          </a:p>
        </c:txPr>
        <c:crossAx val="2094734554"/>
        <c:crosses val="autoZero"/>
        <c:crossBetween val="between"/>
        <c:majorUnit val="3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1601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9.xml"/><Relationship Id="rId5" Type="http://schemas.openxmlformats.org/officeDocument/2006/relationships/chart" Target="../charts/chart8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1.xml"/><Relationship Id="rId5" Type="http://schemas.openxmlformats.org/officeDocument/2006/relationships/chart" Target="../charts/chart10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3.xml"/><Relationship Id="rId5" Type="http://schemas.openxmlformats.org/officeDocument/2006/relationships/chart" Target="../charts/chart1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5.xml"/><Relationship Id="rId5" Type="http://schemas.openxmlformats.org/officeDocument/2006/relationships/chart" Target="../charts/chart14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7.xml"/><Relationship Id="rId5" Type="http://schemas.openxmlformats.org/officeDocument/2006/relationships/chart" Target="../charts/chart16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1.xml"/><Relationship Id="rId3" Type="http://schemas.openxmlformats.org/officeDocument/2006/relationships/image" Target="../media/image16.png"/><Relationship Id="rId7" Type="http://schemas.openxmlformats.org/officeDocument/2006/relationships/chart" Target="../charts/chart20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9.xml"/><Relationship Id="rId5" Type="http://schemas.openxmlformats.org/officeDocument/2006/relationships/chart" Target="../charts/chart18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service-manual.ons.gov.uk/data-visualisation/guidance/principles" TargetMode="External"/><Relationship Id="rId13" Type="http://schemas.openxmlformats.org/officeDocument/2006/relationships/hyperlink" Target="https://www.w3.org/WAI/WCAG22/Understanding/use-of-color.html" TargetMode="External"/><Relationship Id="rId18" Type="http://schemas.openxmlformats.org/officeDocument/2006/relationships/hyperlink" Target="https://ibcs.com/standards/" TargetMode="External"/><Relationship Id="rId3" Type="http://schemas.openxmlformats.org/officeDocument/2006/relationships/hyperlink" Target="https://learn.microsoft.com/en-us/power-bi/create-reports/service-dashboards-design-tips" TargetMode="External"/><Relationship Id="rId7" Type="http://schemas.openxmlformats.org/officeDocument/2006/relationships/hyperlink" Target="https://data.europa.eu/apps/data-visualisation-guide/choosing-charts-the-message" TargetMode="External"/><Relationship Id="rId12" Type="http://schemas.openxmlformats.org/officeDocument/2006/relationships/hyperlink" Target="https://www.w3.org/WAI/WCAG22/Understanding/non-text-contrast.html" TargetMode="External"/><Relationship Id="rId17" Type="http://schemas.openxmlformats.org/officeDocument/2006/relationships/hyperlink" Target="https://www.perceptualedge.com/articles/ie/visual_perception.pdf" TargetMode="External"/><Relationship Id="rId2" Type="http://schemas.openxmlformats.org/officeDocument/2006/relationships/notesSlide" Target="../notesSlides/notesSlide18.xml"/><Relationship Id="rId16" Type="http://schemas.openxmlformats.org/officeDocument/2006/relationships/hyperlink" Target="https://www.nngroup.com/articles/choosing-chart-types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Financial-Times/chart-doctor/tree/main/visual-vocabulary" TargetMode="External"/><Relationship Id="rId11" Type="http://schemas.openxmlformats.org/officeDocument/2006/relationships/hyperlink" Target="https://service-manual.ons.gov.uk/data-visualisation/colours/using-colours-in-charts" TargetMode="External"/><Relationship Id="rId5" Type="http://schemas.openxmlformats.org/officeDocument/2006/relationships/hyperlink" Target="https://help.tableau.com/current/pro/desktop/en-us/visual_best_practices.htm" TargetMode="External"/><Relationship Id="rId15" Type="http://schemas.openxmlformats.org/officeDocument/2006/relationships/hyperlink" Target="https://www.datawrapper.de/blog/colors-for-data-vis-style-guides" TargetMode="External"/><Relationship Id="rId10" Type="http://schemas.openxmlformats.org/officeDocument/2006/relationships/hyperlink" Target="https://service-manual.ons.gov.uk/data-visualisation/guidance/chart-text" TargetMode="External"/><Relationship Id="rId4" Type="http://schemas.openxmlformats.org/officeDocument/2006/relationships/hyperlink" Target="https://learn.microsoft.com/en-us/power-bi/create-reports/desktop-accessibility-creating-reports" TargetMode="External"/><Relationship Id="rId9" Type="http://schemas.openxmlformats.org/officeDocument/2006/relationships/hyperlink" Target="https://service-manual.ons.gov.uk/data-visualisation/guidance/axes-and-gridlines" TargetMode="External"/><Relationship Id="rId14" Type="http://schemas.openxmlformats.org/officeDocument/2006/relationships/hyperlink" Target="https://colorbrewer2.org/learnmore/schemes_full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629192" y="1405890"/>
            <a:ext cx="8406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spc="150" dirty="0">
                <a:solidFill>
                  <a:srgbClr val="E8B0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INSY 442  ·  DATA ANALYSIS &amp; VISUALIZATION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3001628" y="2240280"/>
            <a:ext cx="566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Visualization Tips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1892546" y="3634740"/>
            <a:ext cx="840690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What makes a visualization effective — according to Microsoft Power BI, </a:t>
            </a:r>
          </a:p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Tableau, the Financial Times, the ONS and W3C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594360"/>
            <a:ext cx="2103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2920" y="594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400" dirty="0">
                <a:solidFill>
                  <a:srgbClr val="D51B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AGENDA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08760"/>
            <a:ext cx="4663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1.  Foundations: what “effective” means</a:t>
            </a:r>
            <a:endParaRPr lang="en-US" sz="19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2.  Choosing the right chart type</a:t>
            </a:r>
            <a:endParaRPr lang="en-US" sz="19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3.  Color and visual cues</a:t>
            </a:r>
            <a:endParaRPr lang="en-US" sz="19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4.  Titles, labels and clutter</a:t>
            </a:r>
            <a:endParaRPr lang="en-US" sz="19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5.  Honest scales, context, consistency</a:t>
            </a:r>
            <a:endParaRPr lang="en-US" sz="19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6.  Accessibility</a:t>
            </a:r>
            <a:endParaRPr lang="en-US" sz="19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7.  Checklist and sources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18872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This deck at </a:t>
            </a:r>
            <a:r>
              <a:rPr lang="en-US" sz="1400" b="1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Glance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572768"/>
            <a:ext cx="56692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035040" y="1874520"/>
            <a:ext cx="2743200" cy="20116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035040" y="21488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16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3063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published sources consulted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61120" y="1874520"/>
            <a:ext cx="2743200" cy="20116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961120" y="21488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3063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chart families in the FT Visual Vocabulary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4114800"/>
            <a:ext cx="2743200" cy="20116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035040" y="43891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≤ 5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5303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colors per chart (ONS guidance)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61120" y="4114800"/>
            <a:ext cx="2743200" cy="20116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961120" y="43891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51B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4.5 : 1</a:t>
            </a:r>
            <a:endParaRPr lang="en-US" sz="44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0" y="5303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minimum text contrast (WCAG / Power BI)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Foundations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44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676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Chart type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208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3528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972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292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Clarity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736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7056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Integrity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50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3820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Access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826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Wrap-up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1.1 An effective visualization does four jobs at once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57200" y="1325880"/>
            <a:ext cx="544068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57200" y="132588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01  Reduce cognitive load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1691640"/>
            <a:ext cx="5440680" cy="17830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94560"/>
            <a:ext cx="594360" cy="59436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600200" y="182880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Remove clutter and anything that doesn’t carry data so the chart can be scanned in seconds.</a:t>
            </a:r>
            <a:endParaRPr lang="en-US" sz="1500" dirty="0"/>
          </a:p>
          <a:p>
            <a:pPr marL="0" indent="0">
              <a:buNone/>
            </a:pPr>
            <a:r>
              <a:rPr lang="en-US" sz="120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Sources: Microsoft Power BI · Datawrapper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172200" y="1325880"/>
            <a:ext cx="5440680" cy="365760"/>
          </a:xfrm>
          <a:prstGeom prst="rect">
            <a:avLst/>
          </a:prstGeom>
          <a:solidFill>
            <a:srgbClr val="D51B24"/>
          </a:solidFill>
          <a:ln w="12700">
            <a:solidFill>
              <a:srgbClr val="D5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6172200" y="132588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02  Direct attention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172200" y="1691640"/>
            <a:ext cx="5440680" cy="17830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194560"/>
            <a:ext cx="594360" cy="59436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7315200" y="182880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Use ordering, a single highlight color and the title to guide the eye to the takeaway.</a:t>
            </a:r>
            <a:endParaRPr lang="en-US" sz="1500" dirty="0"/>
          </a:p>
          <a:p>
            <a:pPr marL="0" indent="0">
              <a:buNone/>
            </a:pPr>
            <a:r>
              <a:rPr lang="en-US" sz="120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Sources: Tableau · Stephen Few</a:t>
            </a:r>
            <a:endParaRPr lang="en-US" sz="1500" dirty="0"/>
          </a:p>
        </p:txBody>
      </p:sp>
      <p:sp>
        <p:nvSpPr>
          <p:cNvPr id="31" name="Shape 27"/>
          <p:cNvSpPr/>
          <p:nvPr/>
        </p:nvSpPr>
        <p:spPr>
          <a:xfrm>
            <a:off x="457200" y="3749040"/>
            <a:ext cx="5440680" cy="365760"/>
          </a:xfrm>
          <a:prstGeom prst="rect">
            <a:avLst/>
          </a:prstGeom>
          <a:solidFill>
            <a:srgbClr val="D51B24"/>
          </a:solidFill>
          <a:ln w="12700">
            <a:solidFill>
              <a:srgbClr val="D5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457200" y="374904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03  Support accurate reading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457200" y="4114800"/>
            <a:ext cx="5440680" cy="17830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617720"/>
            <a:ext cx="594360" cy="59436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1600200" y="425196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Encode values with position and length, use honest axes, clear units and benchmarks.</a:t>
            </a:r>
            <a:endParaRPr lang="en-US" sz="1500" dirty="0"/>
          </a:p>
          <a:p>
            <a:pPr marL="0" indent="0">
              <a:buNone/>
            </a:pPr>
            <a:r>
              <a:rPr lang="en-US" sz="120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Sources: ONS · Cleveland &amp; McGill via NN/g</a:t>
            </a:r>
            <a:endParaRPr lang="en-US" sz="1500" dirty="0"/>
          </a:p>
        </p:txBody>
      </p:sp>
      <p:sp>
        <p:nvSpPr>
          <p:cNvPr id="36" name="Shape 31"/>
          <p:cNvSpPr/>
          <p:nvPr/>
        </p:nvSpPr>
        <p:spPr>
          <a:xfrm>
            <a:off x="6172200" y="3749040"/>
            <a:ext cx="544068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 txBox="1"/>
          <p:nvPr/>
        </p:nvSpPr>
        <p:spPr>
          <a:xfrm>
            <a:off x="6172200" y="374904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04  Stay consistent and accessible</a:t>
            </a:r>
            <a:endParaRPr lang="en-US" sz="1400" dirty="0"/>
          </a:p>
        </p:txBody>
      </p:sp>
      <p:sp>
        <p:nvSpPr>
          <p:cNvPr id="38" name="Shape 33"/>
          <p:cNvSpPr/>
          <p:nvPr/>
        </p:nvSpPr>
        <p:spPr>
          <a:xfrm>
            <a:off x="6172200" y="4114800"/>
            <a:ext cx="5440680" cy="17830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4617720"/>
            <a:ext cx="594360" cy="594360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7315200" y="425196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Same colors, order and scales across views; never rely on color alone.</a:t>
            </a:r>
            <a:endParaRPr lang="en-US" sz="1500" dirty="0"/>
          </a:p>
          <a:p>
            <a:pPr marL="0" indent="0">
              <a:buNone/>
            </a:pPr>
            <a:r>
              <a:rPr lang="en-US" sz="120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Sources: Microsoft Power BI · W3C WCAG 2.2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Foundations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44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676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Chart type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208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3528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972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292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Clarity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736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7056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Integrity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50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3820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Access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826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Wrap-up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1.2 Know the question and audience, then put the headline top-left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rule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1691640"/>
            <a:ext cx="420624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57400"/>
            <a:ext cx="457200" cy="45720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280160" y="178308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Decide the one question the visual answers and who acts on it — then put the most important number top-left.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457200" y="3246120"/>
            <a:ext cx="4206240" cy="365760"/>
          </a:xfrm>
          <a:prstGeom prst="rect">
            <a:avLst/>
          </a:prstGeom>
          <a:solidFill>
            <a:srgbClr val="D51B24"/>
          </a:solidFill>
          <a:ln w="12700">
            <a:solidFill>
              <a:srgbClr val="D5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457200" y="3246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it works — what the standards say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57200" y="3611880"/>
            <a:ext cx="4206240" cy="2240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548640" y="3730752"/>
            <a:ext cx="4023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Readers scan left→right, top→bottom: put the highest-level data top-left and add detail as you move down. </a:t>
            </a:r>
            <a:r>
              <a:rPr lang="en-US" sz="125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(Microsoft Power BI)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Fit the dashboard on one screen; use fewer tiles for phones and tablets. </a:t>
            </a:r>
            <a:r>
              <a:rPr lang="en-US" sz="125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(Microsoft Power BI)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Chart only the main findings, then test it on someone unfamiliar with the data. </a:t>
            </a:r>
            <a:r>
              <a:rPr lang="en-US" sz="125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(ONS)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029200" y="1325880"/>
            <a:ext cx="0" cy="4526280"/>
          </a:xfrm>
          <a:prstGeom prst="line">
            <a:avLst/>
          </a:prstGeom>
          <a:noFill/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855464" y="341528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515868"/>
            <a:ext cx="146304" cy="146304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5394960" y="1325880"/>
            <a:ext cx="6355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Reading path on a one-screen report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5394960" y="1709928"/>
            <a:ext cx="63550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5486400" y="1920240"/>
            <a:ext cx="617220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5669280" y="2103120"/>
            <a:ext cx="1783080" cy="868680"/>
          </a:xfrm>
          <a:prstGeom prst="rect">
            <a:avLst/>
          </a:prstGeom>
          <a:solidFill>
            <a:srgbClr val="E4ECF6"/>
          </a:solidFill>
          <a:ln w="12700">
            <a:solidFill>
              <a:srgbClr val="E4E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 txBox="1"/>
          <p:nvPr/>
        </p:nvSpPr>
        <p:spPr>
          <a:xfrm>
            <a:off x="5779008" y="2148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$4.2M</a:t>
            </a:r>
            <a:endParaRPr lang="en-US" sz="2000" dirty="0"/>
          </a:p>
        </p:txBody>
      </p:sp>
      <p:sp>
        <p:nvSpPr>
          <p:cNvPr id="38" name="Text 34"/>
          <p:cNvSpPr txBox="1"/>
          <p:nvPr/>
        </p:nvSpPr>
        <p:spPr>
          <a:xfrm>
            <a:off x="5779008" y="2606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Revenue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7635240" y="2103120"/>
            <a:ext cx="1783080" cy="8686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 txBox="1"/>
          <p:nvPr/>
        </p:nvSpPr>
        <p:spPr>
          <a:xfrm>
            <a:off x="7744968" y="2148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31%</a:t>
            </a:r>
            <a:endParaRPr lang="en-US" sz="2000" dirty="0"/>
          </a:p>
        </p:txBody>
      </p:sp>
      <p:sp>
        <p:nvSpPr>
          <p:cNvPr id="41" name="Text 37"/>
          <p:cNvSpPr txBox="1"/>
          <p:nvPr/>
        </p:nvSpPr>
        <p:spPr>
          <a:xfrm>
            <a:off x="7744968" y="2606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Margin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9601200" y="2103120"/>
            <a:ext cx="1783080" cy="8686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 txBox="1"/>
          <p:nvPr/>
        </p:nvSpPr>
        <p:spPr>
          <a:xfrm>
            <a:off x="9710928" y="2148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18.4K</a:t>
            </a:r>
            <a:endParaRPr lang="en-US" sz="2000" dirty="0"/>
          </a:p>
        </p:txBody>
      </p:sp>
      <p:sp>
        <p:nvSpPr>
          <p:cNvPr id="44" name="Text 40"/>
          <p:cNvSpPr txBox="1"/>
          <p:nvPr/>
        </p:nvSpPr>
        <p:spPr>
          <a:xfrm>
            <a:off x="9710928" y="2606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Orders</a:t>
            </a:r>
            <a:endParaRPr lang="en-US" sz="1100" dirty="0"/>
          </a:p>
        </p:txBody>
      </p:sp>
      <p:sp>
        <p:nvSpPr>
          <p:cNvPr id="45" name="Shape 41"/>
          <p:cNvSpPr/>
          <p:nvPr/>
        </p:nvSpPr>
        <p:spPr>
          <a:xfrm>
            <a:off x="5669280" y="3154680"/>
            <a:ext cx="3749040" cy="14630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6" name="Chart 0"/>
          <p:cNvGraphicFramePr/>
          <p:nvPr/>
        </p:nvGraphicFramePr>
        <p:xfrm>
          <a:off x="5715000" y="3182112"/>
          <a:ext cx="365760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7" name="Shape 42"/>
          <p:cNvSpPr/>
          <p:nvPr/>
        </p:nvSpPr>
        <p:spPr>
          <a:xfrm>
            <a:off x="9601200" y="3154680"/>
            <a:ext cx="1874520" cy="14630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8" name="Chart 1"/>
          <p:cNvGraphicFramePr/>
          <p:nvPr/>
        </p:nvGraphicFramePr>
        <p:xfrm>
          <a:off x="9646920" y="3200400"/>
          <a:ext cx="178308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9" name="Shape 43"/>
          <p:cNvSpPr/>
          <p:nvPr/>
        </p:nvSpPr>
        <p:spPr>
          <a:xfrm>
            <a:off x="5669280" y="4800600"/>
            <a:ext cx="5806440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4"/>
          <p:cNvSpPr/>
          <p:nvPr/>
        </p:nvSpPr>
        <p:spPr>
          <a:xfrm>
            <a:off x="5806440" y="4983480"/>
            <a:ext cx="5532120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5"/>
          <p:cNvSpPr/>
          <p:nvPr/>
        </p:nvSpPr>
        <p:spPr>
          <a:xfrm>
            <a:off x="5806440" y="5212080"/>
            <a:ext cx="5532120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6"/>
          <p:cNvSpPr/>
          <p:nvPr/>
        </p:nvSpPr>
        <p:spPr>
          <a:xfrm>
            <a:off x="5806440" y="5440680"/>
            <a:ext cx="5532120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7"/>
          <p:cNvSpPr/>
          <p:nvPr/>
        </p:nvSpPr>
        <p:spPr>
          <a:xfrm>
            <a:off x="5532120" y="1965960"/>
            <a:ext cx="310896" cy="310896"/>
          </a:xfrm>
          <a:prstGeom prst="ellipse">
            <a:avLst/>
          </a:prstGeom>
          <a:solidFill>
            <a:srgbClr val="D51B2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8"/>
          <p:cNvSpPr txBox="1"/>
          <p:nvPr/>
        </p:nvSpPr>
        <p:spPr>
          <a:xfrm>
            <a:off x="5532120" y="1965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200" dirty="0"/>
          </a:p>
        </p:txBody>
      </p:sp>
      <p:sp>
        <p:nvSpPr>
          <p:cNvPr id="55" name="Shape 49"/>
          <p:cNvSpPr/>
          <p:nvPr/>
        </p:nvSpPr>
        <p:spPr>
          <a:xfrm>
            <a:off x="9464040" y="3017520"/>
            <a:ext cx="310896" cy="310896"/>
          </a:xfrm>
          <a:prstGeom prst="ellipse">
            <a:avLst/>
          </a:prstGeom>
          <a:solidFill>
            <a:srgbClr val="D51B2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0"/>
          <p:cNvSpPr txBox="1"/>
          <p:nvPr/>
        </p:nvSpPr>
        <p:spPr>
          <a:xfrm>
            <a:off x="9464040" y="3017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200" dirty="0"/>
          </a:p>
        </p:txBody>
      </p:sp>
      <p:sp>
        <p:nvSpPr>
          <p:cNvPr id="57" name="Shape 51"/>
          <p:cNvSpPr/>
          <p:nvPr/>
        </p:nvSpPr>
        <p:spPr>
          <a:xfrm>
            <a:off x="5532120" y="3017520"/>
            <a:ext cx="310896" cy="310896"/>
          </a:xfrm>
          <a:prstGeom prst="ellipse">
            <a:avLst/>
          </a:prstGeom>
          <a:solidFill>
            <a:srgbClr val="D51B2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2"/>
          <p:cNvSpPr txBox="1"/>
          <p:nvPr/>
        </p:nvSpPr>
        <p:spPr>
          <a:xfrm>
            <a:off x="5532120" y="3017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200" dirty="0"/>
          </a:p>
        </p:txBody>
      </p:sp>
      <p:sp>
        <p:nvSpPr>
          <p:cNvPr id="59" name="Shape 53"/>
          <p:cNvSpPr/>
          <p:nvPr/>
        </p:nvSpPr>
        <p:spPr>
          <a:xfrm>
            <a:off x="5532120" y="4663440"/>
            <a:ext cx="310896" cy="310896"/>
          </a:xfrm>
          <a:prstGeom prst="ellipse">
            <a:avLst/>
          </a:prstGeom>
          <a:solidFill>
            <a:srgbClr val="D51B2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4"/>
          <p:cNvSpPr txBox="1"/>
          <p:nvPr/>
        </p:nvSpPr>
        <p:spPr>
          <a:xfrm>
            <a:off x="5532120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200" dirty="0"/>
          </a:p>
        </p:txBody>
      </p:sp>
      <p:sp>
        <p:nvSpPr>
          <p:cNvPr id="61" name="Text 55"/>
          <p:cNvSpPr txBox="1"/>
          <p:nvPr/>
        </p:nvSpPr>
        <p:spPr>
          <a:xfrm>
            <a:off x="5394960" y="58978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 Headline KPI with context → 2 Trend → 3 Breakdown → 4 Detail on demand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8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Foundations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07920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676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Chart type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208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3528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972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292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Clarity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736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7056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Integrity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50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3820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Access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826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Wrap-up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2.1 Choose the chart by the relationship you want to show, not by habit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57200" y="1280160"/>
            <a:ext cx="361188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57200" y="12801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Deviation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1645920"/>
            <a:ext cx="3611880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594360" y="169164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How far above or below a reference (zero, target, average)?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Diverging bar · surplus/deficit line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51960" y="1280160"/>
            <a:ext cx="3611880" cy="365760"/>
          </a:xfrm>
          <a:prstGeom prst="rect">
            <a:avLst/>
          </a:prstGeom>
          <a:solidFill>
            <a:srgbClr val="D51B24"/>
          </a:solidFill>
          <a:ln w="12700">
            <a:solidFill>
              <a:srgbClr val="D5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4251960" y="12801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Correlation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251960" y="1645920"/>
            <a:ext cx="3611880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4389120" y="169164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How do two variables move together?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Scatterplot · bubble · XY heatmap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46720" y="1280160"/>
            <a:ext cx="3611880" cy="365760"/>
          </a:xfrm>
          <a:prstGeom prst="rect">
            <a:avLst/>
          </a:prstGeom>
          <a:solidFill>
            <a:srgbClr val="156664"/>
          </a:solidFill>
          <a:ln w="12700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8046720" y="12801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Ranking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046720" y="1645920"/>
            <a:ext cx="3611880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8183880" y="169164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Where does each item sit in an ordered list?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Ordered bar · lollipop · slope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2852928"/>
            <a:ext cx="361188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457200" y="28529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Distribution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7200" y="3218688"/>
            <a:ext cx="3611880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594360" y="3264408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How are values spread, and how often does each occur?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Histogram · box plot · dot strip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251960" y="2852928"/>
            <a:ext cx="3611880" cy="365760"/>
          </a:xfrm>
          <a:prstGeom prst="rect">
            <a:avLst/>
          </a:prstGeom>
          <a:solidFill>
            <a:srgbClr val="D51B24"/>
          </a:solidFill>
          <a:ln w="12700">
            <a:solidFill>
              <a:srgbClr val="D5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4251960" y="28529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Change over time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251960" y="3218688"/>
            <a:ext cx="3611880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4389120" y="3264408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How has it trended?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Line · column · slope · area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046720" y="2852928"/>
            <a:ext cx="3611880" cy="365760"/>
          </a:xfrm>
          <a:prstGeom prst="rect">
            <a:avLst/>
          </a:prstGeom>
          <a:solidFill>
            <a:srgbClr val="156664"/>
          </a:solidFill>
          <a:ln w="12700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8046720" y="28529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Magnitude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8046720" y="3218688"/>
            <a:ext cx="3611880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8183880" y="3264408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How big is each item compared with the others?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Bar/column · paired bar · pictogram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" y="4425696"/>
            <a:ext cx="361188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457200" y="442569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Part-to-whole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57200" y="4791456"/>
            <a:ext cx="3611880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594360" y="4837176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How does a total break down?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Stacked bar · treemap · waterfall · pie (few parts)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251960" y="4425696"/>
            <a:ext cx="3611880" cy="365760"/>
          </a:xfrm>
          <a:prstGeom prst="rect">
            <a:avLst/>
          </a:prstGeom>
          <a:solidFill>
            <a:srgbClr val="D51B24"/>
          </a:solidFill>
          <a:ln w="12700">
            <a:solidFill>
              <a:srgbClr val="D5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 txBox="1"/>
          <p:nvPr/>
        </p:nvSpPr>
        <p:spPr>
          <a:xfrm>
            <a:off x="4251960" y="442569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Spatial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4251960" y="4791456"/>
            <a:ext cx="3611880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 txBox="1"/>
          <p:nvPr/>
        </p:nvSpPr>
        <p:spPr>
          <a:xfrm>
            <a:off x="4389120" y="4837176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Where does it happen?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Choropleth · proportional-symbol map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046720" y="4425696"/>
            <a:ext cx="3611880" cy="365760"/>
          </a:xfrm>
          <a:prstGeom prst="rect">
            <a:avLst/>
          </a:prstGeom>
          <a:solidFill>
            <a:srgbClr val="156664"/>
          </a:solidFill>
          <a:ln w="12700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 txBox="1"/>
          <p:nvPr/>
        </p:nvSpPr>
        <p:spPr>
          <a:xfrm>
            <a:off x="8046720" y="442569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Flow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046720" y="4791456"/>
            <a:ext cx="3611880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 txBox="1"/>
          <p:nvPr/>
        </p:nvSpPr>
        <p:spPr>
          <a:xfrm>
            <a:off x="8183880" y="4837176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How does volume move between states?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Sankey · waterfall · network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457200" y="5971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Source: Financial Times Visual Vocabulary (Chart Doctor); data.europa.eu data visualisation guide. Default to bar, line and scatter when in doubt (Nielsen Norman Group).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8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Foundations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07920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676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Chart type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208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3528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972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292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Clarity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736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7056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Integrity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50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3820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Access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826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Wrap-up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2.2 Encode values with position and length, not angle or area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rule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1691640"/>
            <a:ext cx="420624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57400"/>
            <a:ext cx="457200" cy="45720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280160" y="178308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 comparisons, default to bar, line and dot charts; keep pies for simple part-to-whole with few slices.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457200" y="3246120"/>
            <a:ext cx="4206240" cy="365760"/>
          </a:xfrm>
          <a:prstGeom prst="rect">
            <a:avLst/>
          </a:prstGeom>
          <a:solidFill>
            <a:srgbClr val="D51B24"/>
          </a:solidFill>
          <a:ln w="12700">
            <a:solidFill>
              <a:srgbClr val="D5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457200" y="3246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it works — what the standards say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57200" y="3611880"/>
            <a:ext cx="4206240" cy="2240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548640" y="3730752"/>
            <a:ext cx="4023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Position and length are the most accurate encodings; area and angle show only rough differences. </a:t>
            </a:r>
            <a:r>
              <a:rPr lang="en-US" sz="125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(Stephen Few, Perceptual Edge)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Pie charts only for part-to-whole with fewer than eight categories; avoid 3D charts. </a:t>
            </a:r>
            <a:r>
              <a:rPr lang="en-US" sz="125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(Microsoft Power BI)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“Avoid variety for the sake of variety.” </a:t>
            </a:r>
            <a:r>
              <a:rPr lang="en-US" sz="125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(Microsoft Power BI)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029200" y="1325880"/>
            <a:ext cx="0" cy="4526280"/>
          </a:xfrm>
          <a:prstGeom prst="line">
            <a:avLst/>
          </a:prstGeom>
          <a:noFill/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855464" y="341528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515868"/>
            <a:ext cx="146304" cy="146304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5394960" y="1325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51B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✕  Less effective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5394960" y="1709928"/>
            <a:ext cx="306324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 txBox="1"/>
          <p:nvPr/>
        </p:nvSpPr>
        <p:spPr>
          <a:xfrm>
            <a:off x="8686800" y="1325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6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✓  More effective</a:t>
            </a:r>
            <a:endParaRPr lang="en-US" sz="1400" dirty="0"/>
          </a:p>
        </p:txBody>
      </p:sp>
      <p:sp>
        <p:nvSpPr>
          <p:cNvPr id="36" name="Shape 32"/>
          <p:cNvSpPr/>
          <p:nvPr/>
        </p:nvSpPr>
        <p:spPr>
          <a:xfrm>
            <a:off x="8686800" y="1709928"/>
            <a:ext cx="306324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 txBox="1"/>
          <p:nvPr/>
        </p:nvSpPr>
        <p:spPr>
          <a:xfrm>
            <a:off x="5394960" y="50749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Five similar slices: which region is largest? Readers must lean on the legend to guess.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8686800" y="50749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Sorted bars make the ranking instant — North leads by a narrow margin.</a:t>
            </a:r>
            <a:endParaRPr lang="en-US" sz="1200" dirty="0"/>
          </a:p>
        </p:txBody>
      </p:sp>
      <p:graphicFrame>
        <p:nvGraphicFramePr>
          <p:cNvPr id="39" name="Chart 0"/>
          <p:cNvGraphicFramePr/>
          <p:nvPr/>
        </p:nvGraphicFramePr>
        <p:xfrm>
          <a:off x="5394960" y="1828800"/>
          <a:ext cx="30632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0" name="Chart 1"/>
          <p:cNvGraphicFramePr/>
          <p:nvPr/>
        </p:nvGraphicFramePr>
        <p:xfrm>
          <a:off x="8686800" y="1828800"/>
          <a:ext cx="30632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8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Foundations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07920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676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Chart type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208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3528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972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292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Clarity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736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7056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Integrity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50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3820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Access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826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Wrap-up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2.3 Replace dual-axis charts with aligned small multiples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rule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1691640"/>
            <a:ext cx="420624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57400"/>
            <a:ext cx="457200" cy="45720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280160" y="178308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Avoid two y-axes on one chart: use two charts with a shared x-axis, or index both series to a common base.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457200" y="3246120"/>
            <a:ext cx="4206240" cy="365760"/>
          </a:xfrm>
          <a:prstGeom prst="rect">
            <a:avLst/>
          </a:prstGeom>
          <a:solidFill>
            <a:srgbClr val="D51B24"/>
          </a:solidFill>
          <a:ln w="12700">
            <a:solidFill>
              <a:srgbClr val="D5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457200" y="3246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it works — what the standards say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57200" y="3611880"/>
            <a:ext cx="4206240" cy="2240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548640" y="3730752"/>
            <a:ext cx="4023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Dual-axis charts are often misleading and hard to interpret — use two charts instead. </a:t>
            </a:r>
            <a:r>
              <a:rPr lang="en-US" sz="125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(ONS)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Avoid mixing large and small measures on the same scale. </a:t>
            </a:r>
            <a:r>
              <a:rPr lang="en-US" sz="125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(Microsoft Power BI)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If one chart can’t show the relationship clearly, use two charts. </a:t>
            </a:r>
            <a:r>
              <a:rPr lang="en-US" sz="125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(ONS)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029200" y="1325880"/>
            <a:ext cx="0" cy="4526280"/>
          </a:xfrm>
          <a:prstGeom prst="line">
            <a:avLst/>
          </a:prstGeom>
          <a:noFill/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855464" y="341528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515868"/>
            <a:ext cx="146304" cy="146304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5394960" y="1325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51B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✕  Less effective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5394960" y="1709928"/>
            <a:ext cx="306324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 txBox="1"/>
          <p:nvPr/>
        </p:nvSpPr>
        <p:spPr>
          <a:xfrm>
            <a:off x="8686800" y="1325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6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✓  More effective</a:t>
            </a:r>
            <a:endParaRPr lang="en-US" sz="1400" dirty="0"/>
          </a:p>
        </p:txBody>
      </p:sp>
      <p:sp>
        <p:nvSpPr>
          <p:cNvPr id="36" name="Shape 32"/>
          <p:cNvSpPr/>
          <p:nvPr/>
        </p:nvSpPr>
        <p:spPr>
          <a:xfrm>
            <a:off x="8686800" y="1709928"/>
            <a:ext cx="306324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 txBox="1"/>
          <p:nvPr/>
        </p:nvSpPr>
        <p:spPr>
          <a:xfrm>
            <a:off x="5394960" y="50749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Two scales let the designer make the lines cross anywhere — implying a link that may not exist.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8686800" y="50749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Each measure on its own honest scale, stacked so the months line up.</a:t>
            </a:r>
            <a:endParaRPr lang="en-US" sz="1200" dirty="0"/>
          </a:p>
        </p:txBody>
      </p:sp>
      <p:graphicFrame>
        <p:nvGraphicFramePr>
          <p:cNvPr id="39" name="Chart 0"/>
          <p:cNvGraphicFramePr/>
          <p:nvPr/>
        </p:nvGraphicFramePr>
        <p:xfrm>
          <a:off x="5394960" y="1828800"/>
          <a:ext cx="30632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0" name="Chart 1"/>
          <p:cNvGraphicFramePr/>
          <p:nvPr/>
        </p:nvGraphicFramePr>
        <p:xfrm>
          <a:off x="8686800" y="1828800"/>
          <a:ext cx="306324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1" name="Chart 2"/>
          <p:cNvGraphicFramePr/>
          <p:nvPr/>
        </p:nvGraphicFramePr>
        <p:xfrm>
          <a:off x="8686800" y="3383280"/>
          <a:ext cx="306324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8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Foundations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44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676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Chart type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084320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3528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972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292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Clarity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736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7056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Integrity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50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3820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Access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826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Wrap-up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3.1 Make grey the default and spend color only on the point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rule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1691640"/>
            <a:ext cx="420624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57400"/>
            <a:ext cx="457200" cy="45720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280160" y="178308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Keep most marks neutral and give one bright color to the category, series or result the reader must notice.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457200" y="3246120"/>
            <a:ext cx="4206240" cy="365760"/>
          </a:xfrm>
          <a:prstGeom prst="rect">
            <a:avLst/>
          </a:prstGeom>
          <a:solidFill>
            <a:srgbClr val="D51B24"/>
          </a:solidFill>
          <a:ln w="12700">
            <a:solidFill>
              <a:srgbClr val="D5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457200" y="3246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it works — what the standards say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57200" y="3611880"/>
            <a:ext cx="4206240" cy="2240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548640" y="3730752"/>
            <a:ext cx="4023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Use five colors or fewer in a chart; never more than nine. </a:t>
            </a:r>
            <a:r>
              <a:rPr lang="en-US" sz="125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(ONS)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Neutral colors plus a single bright color highlight what viewers should look at. </a:t>
            </a:r>
            <a:r>
              <a:rPr lang="en-US" sz="125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(Tableau)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Use greys for “other”, missing data and non-data elements like gridlines. </a:t>
            </a:r>
            <a:r>
              <a:rPr lang="en-US" sz="125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(Datawrapper)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029200" y="1325880"/>
            <a:ext cx="0" cy="4526280"/>
          </a:xfrm>
          <a:prstGeom prst="line">
            <a:avLst/>
          </a:prstGeom>
          <a:noFill/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855464" y="341528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515868"/>
            <a:ext cx="146304" cy="146304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5394960" y="1325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51B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✕  Less effective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5394960" y="1709928"/>
            <a:ext cx="306324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 txBox="1"/>
          <p:nvPr/>
        </p:nvSpPr>
        <p:spPr>
          <a:xfrm>
            <a:off x="8686800" y="1325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6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✓  More effective</a:t>
            </a:r>
            <a:endParaRPr lang="en-US" sz="1400" dirty="0"/>
          </a:p>
        </p:txBody>
      </p:sp>
      <p:sp>
        <p:nvSpPr>
          <p:cNvPr id="36" name="Shape 32"/>
          <p:cNvSpPr/>
          <p:nvPr/>
        </p:nvSpPr>
        <p:spPr>
          <a:xfrm>
            <a:off x="8686800" y="1709928"/>
            <a:ext cx="306324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 txBox="1"/>
          <p:nvPr/>
        </p:nvSpPr>
        <p:spPr>
          <a:xfrm>
            <a:off x="5394960" y="50749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Five unrelated colors: every bar competes and color implies meaning that isn’t there.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8686800" y="50749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One accent color answers the question at a glance: Product D is the top seller.</a:t>
            </a:r>
            <a:endParaRPr lang="en-US" sz="1200" dirty="0"/>
          </a:p>
        </p:txBody>
      </p:sp>
      <p:graphicFrame>
        <p:nvGraphicFramePr>
          <p:cNvPr id="39" name="Chart 0"/>
          <p:cNvGraphicFramePr/>
          <p:nvPr/>
        </p:nvGraphicFramePr>
        <p:xfrm>
          <a:off x="5394960" y="1828800"/>
          <a:ext cx="30632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0" name="Chart 1"/>
          <p:cNvGraphicFramePr/>
          <p:nvPr/>
        </p:nvGraphicFramePr>
        <p:xfrm>
          <a:off x="8686800" y="1828800"/>
          <a:ext cx="30632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8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Foundations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44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676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Chart type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084320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3528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972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292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Clarity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736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7056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Integrity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50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3820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Access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826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Wrap-up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3.2 Match the palette type to the data: sequential, diverging or categorical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rule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1691640"/>
            <a:ext cx="420624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57400"/>
            <a:ext cx="457200" cy="45720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280160" y="178308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Ordered values get a light-to-dark ramp, values around a meaningful midpoint get a diverging scheme, unordered groups get distinct hues.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457200" y="3246120"/>
            <a:ext cx="4206240" cy="365760"/>
          </a:xfrm>
          <a:prstGeom prst="rect">
            <a:avLst/>
          </a:prstGeom>
          <a:solidFill>
            <a:srgbClr val="D51B24"/>
          </a:solidFill>
          <a:ln w="12700">
            <a:solidFill>
              <a:srgbClr val="D5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457200" y="3246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it works — what the standards say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57200" y="3611880"/>
            <a:ext cx="4206240" cy="2240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548640" y="3730752"/>
            <a:ext cx="4023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Sequential = low→high by lightness; diverging = midpoint (0, mean) light, extremes dark; qualitative = hue only. </a:t>
            </a:r>
            <a:r>
              <a:rPr lang="en-US" sz="125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(ColorBrewer)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One-color range for positive values; two-color range when there are positives and negatives. </a:t>
            </a:r>
            <a:r>
              <a:rPr lang="en-US" sz="125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(Tableau)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Gradients should span a wide lightness range; blue/red for +/− is intuitive. </a:t>
            </a:r>
            <a:r>
              <a:rPr lang="en-US" sz="125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(Datawrapper)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029200" y="1325880"/>
            <a:ext cx="0" cy="4526280"/>
          </a:xfrm>
          <a:prstGeom prst="line">
            <a:avLst/>
          </a:prstGeom>
          <a:noFill/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855464" y="341528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515868"/>
            <a:ext cx="146304" cy="146304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5394960" y="1325880"/>
            <a:ext cx="6355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Three palette families and when to use them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5394960" y="1709928"/>
            <a:ext cx="635508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 txBox="1"/>
          <p:nvPr/>
        </p:nvSpPr>
        <p:spPr>
          <a:xfrm>
            <a:off x="5486400" y="1965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Sequential</a:t>
            </a:r>
            <a:endParaRPr lang="en-US" sz="1400" dirty="0"/>
          </a:p>
        </p:txBody>
      </p:sp>
      <p:sp>
        <p:nvSpPr>
          <p:cNvPr id="36" name="Shape 32"/>
          <p:cNvSpPr/>
          <p:nvPr/>
        </p:nvSpPr>
        <p:spPr>
          <a:xfrm>
            <a:off x="7132320" y="1965960"/>
            <a:ext cx="746760" cy="45720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7879080" y="1965960"/>
            <a:ext cx="746760" cy="457200"/>
          </a:xfrm>
          <a:prstGeom prst="rect">
            <a:avLst/>
          </a:prstGeom>
          <a:solidFill>
            <a:srgbClr val="C3D6EB"/>
          </a:solidFill>
          <a:ln w="12700">
            <a:solidFill>
              <a:srgbClr val="C3D6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8625840" y="1965960"/>
            <a:ext cx="746760" cy="457200"/>
          </a:xfrm>
          <a:prstGeom prst="rect">
            <a:avLst/>
          </a:prstGeom>
          <a:solidFill>
            <a:srgbClr val="8DB3DA"/>
          </a:solidFill>
          <a:ln w="12700">
            <a:solidFill>
              <a:srgbClr val="8DB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9372600" y="1965960"/>
            <a:ext cx="746760" cy="457200"/>
          </a:xfrm>
          <a:prstGeom prst="rect">
            <a:avLst/>
          </a:prstGeom>
          <a:solidFill>
            <a:srgbClr val="4F86C0"/>
          </a:solidFill>
          <a:ln w="12700">
            <a:solidFill>
              <a:srgbClr val="4F8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6"/>
          <p:cNvSpPr/>
          <p:nvPr/>
        </p:nvSpPr>
        <p:spPr>
          <a:xfrm>
            <a:off x="10119360" y="1965960"/>
            <a:ext cx="746760" cy="45720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7"/>
          <p:cNvSpPr/>
          <p:nvPr/>
        </p:nvSpPr>
        <p:spPr>
          <a:xfrm>
            <a:off x="10866120" y="1965960"/>
            <a:ext cx="746760" cy="457200"/>
          </a:xfrm>
          <a:prstGeom prst="rect">
            <a:avLst/>
          </a:prstGeom>
          <a:solidFill>
            <a:srgbClr val="0B3A6E"/>
          </a:solidFill>
          <a:ln w="12700">
            <a:solidFill>
              <a:srgbClr val="0B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 txBox="1"/>
          <p:nvPr/>
        </p:nvSpPr>
        <p:spPr>
          <a:xfrm>
            <a:off x="7132320" y="24414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Low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10515600" y="24414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High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5486400" y="235000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Ordered magnitude: sales by store, population density</a:t>
            </a:r>
            <a:endParaRPr lang="en-US" sz="1050" dirty="0"/>
          </a:p>
        </p:txBody>
      </p:sp>
      <p:sp>
        <p:nvSpPr>
          <p:cNvPr id="45" name="Text 41"/>
          <p:cNvSpPr txBox="1"/>
          <p:nvPr/>
        </p:nvSpPr>
        <p:spPr>
          <a:xfrm>
            <a:off x="5486400" y="32644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Diverging</a:t>
            </a:r>
            <a:endParaRPr lang="en-US" sz="1400" dirty="0"/>
          </a:p>
        </p:txBody>
      </p:sp>
      <p:sp>
        <p:nvSpPr>
          <p:cNvPr id="46" name="Shape 42"/>
          <p:cNvSpPr/>
          <p:nvPr/>
        </p:nvSpPr>
        <p:spPr>
          <a:xfrm>
            <a:off x="7132320" y="3264408"/>
            <a:ext cx="640080" cy="457200"/>
          </a:xfrm>
          <a:prstGeom prst="rect">
            <a:avLst/>
          </a:prstGeom>
          <a:solidFill>
            <a:srgbClr val="B2182B"/>
          </a:solidFill>
          <a:ln w="12700">
            <a:solidFill>
              <a:srgbClr val="B218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3"/>
          <p:cNvSpPr/>
          <p:nvPr/>
        </p:nvSpPr>
        <p:spPr>
          <a:xfrm>
            <a:off x="7772400" y="3264408"/>
            <a:ext cx="640080" cy="457200"/>
          </a:xfrm>
          <a:prstGeom prst="rect">
            <a:avLst/>
          </a:prstGeom>
          <a:solidFill>
            <a:srgbClr val="EF8A62"/>
          </a:solidFill>
          <a:ln w="12700">
            <a:solidFill>
              <a:srgbClr val="EF8A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4"/>
          <p:cNvSpPr/>
          <p:nvPr/>
        </p:nvSpPr>
        <p:spPr>
          <a:xfrm>
            <a:off x="8412480" y="3264408"/>
            <a:ext cx="640080" cy="457200"/>
          </a:xfrm>
          <a:prstGeom prst="rect">
            <a:avLst/>
          </a:prstGeom>
          <a:solidFill>
            <a:srgbClr val="FDDBC7"/>
          </a:solidFill>
          <a:ln w="12700">
            <a:solidFill>
              <a:srgbClr val="FDDB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5"/>
          <p:cNvSpPr/>
          <p:nvPr/>
        </p:nvSpPr>
        <p:spPr>
          <a:xfrm>
            <a:off x="9052560" y="3264408"/>
            <a:ext cx="640080" cy="457200"/>
          </a:xfrm>
          <a:prstGeom prst="rect">
            <a:avLst/>
          </a:prstGeom>
          <a:solidFill>
            <a:srgbClr val="F7F7F7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6"/>
          <p:cNvSpPr/>
          <p:nvPr/>
        </p:nvSpPr>
        <p:spPr>
          <a:xfrm>
            <a:off x="9692640" y="3264408"/>
            <a:ext cx="640080" cy="457200"/>
          </a:xfrm>
          <a:prstGeom prst="rect">
            <a:avLst/>
          </a:prstGeom>
          <a:solidFill>
            <a:srgbClr val="D1E5F0"/>
          </a:solidFill>
          <a:ln w="12700">
            <a:solidFill>
              <a:srgbClr val="D1E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7"/>
          <p:cNvSpPr/>
          <p:nvPr/>
        </p:nvSpPr>
        <p:spPr>
          <a:xfrm>
            <a:off x="10332720" y="3264408"/>
            <a:ext cx="640080" cy="457200"/>
          </a:xfrm>
          <a:prstGeom prst="rect">
            <a:avLst/>
          </a:prstGeom>
          <a:solidFill>
            <a:srgbClr val="67A9CF"/>
          </a:solidFill>
          <a:ln w="12700">
            <a:solidFill>
              <a:srgbClr val="67A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8"/>
          <p:cNvSpPr/>
          <p:nvPr/>
        </p:nvSpPr>
        <p:spPr>
          <a:xfrm>
            <a:off x="10972800" y="3264408"/>
            <a:ext cx="640080" cy="457200"/>
          </a:xfrm>
          <a:prstGeom prst="rect">
            <a:avLst/>
          </a:prstGeom>
          <a:solidFill>
            <a:srgbClr val="2166AC"/>
          </a:solidFill>
          <a:ln w="12700">
            <a:solidFill>
              <a:srgbClr val="216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9"/>
          <p:cNvSpPr txBox="1"/>
          <p:nvPr/>
        </p:nvSpPr>
        <p:spPr>
          <a:xfrm>
            <a:off x="7132320" y="373989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− Below</a:t>
            </a:r>
            <a:endParaRPr lang="en-US" sz="1000" dirty="0"/>
          </a:p>
        </p:txBody>
      </p:sp>
      <p:sp>
        <p:nvSpPr>
          <p:cNvPr id="54" name="Text 50"/>
          <p:cNvSpPr txBox="1"/>
          <p:nvPr/>
        </p:nvSpPr>
        <p:spPr>
          <a:xfrm>
            <a:off x="10515600" y="373989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+ Above</a:t>
            </a:r>
            <a:endParaRPr lang="en-US" sz="1000" dirty="0"/>
          </a:p>
        </p:txBody>
      </p:sp>
      <p:sp>
        <p:nvSpPr>
          <p:cNvPr id="55" name="Text 51"/>
          <p:cNvSpPr txBox="1"/>
          <p:nvPr/>
        </p:nvSpPr>
        <p:spPr>
          <a:xfrm>
            <a:off x="5486400" y="3648456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Values around a midpoint: variance vs target, YoY change</a:t>
            </a:r>
            <a:endParaRPr lang="en-US" sz="1050" dirty="0"/>
          </a:p>
        </p:txBody>
      </p:sp>
      <p:sp>
        <p:nvSpPr>
          <p:cNvPr id="56" name="Text 52"/>
          <p:cNvSpPr txBox="1"/>
          <p:nvPr/>
        </p:nvSpPr>
        <p:spPr>
          <a:xfrm>
            <a:off x="5486400" y="456285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Categorical</a:t>
            </a:r>
            <a:endParaRPr lang="en-US" sz="1400" dirty="0"/>
          </a:p>
        </p:txBody>
      </p:sp>
      <p:sp>
        <p:nvSpPr>
          <p:cNvPr id="57" name="Shape 53"/>
          <p:cNvSpPr/>
          <p:nvPr/>
        </p:nvSpPr>
        <p:spPr>
          <a:xfrm>
            <a:off x="7132320" y="4562856"/>
            <a:ext cx="896112" cy="45720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4"/>
          <p:cNvSpPr/>
          <p:nvPr/>
        </p:nvSpPr>
        <p:spPr>
          <a:xfrm>
            <a:off x="8028432" y="4562856"/>
            <a:ext cx="896112" cy="457200"/>
          </a:xfrm>
          <a:prstGeom prst="rect">
            <a:avLst/>
          </a:prstGeom>
          <a:solidFill>
            <a:srgbClr val="D51B24"/>
          </a:solidFill>
          <a:ln w="12700">
            <a:solidFill>
              <a:srgbClr val="D5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5"/>
          <p:cNvSpPr/>
          <p:nvPr/>
        </p:nvSpPr>
        <p:spPr>
          <a:xfrm>
            <a:off x="8924544" y="4562856"/>
            <a:ext cx="896112" cy="457200"/>
          </a:xfrm>
          <a:prstGeom prst="rect">
            <a:avLst/>
          </a:prstGeom>
          <a:solidFill>
            <a:srgbClr val="156664"/>
          </a:solidFill>
          <a:ln w="12700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6"/>
          <p:cNvSpPr/>
          <p:nvPr/>
        </p:nvSpPr>
        <p:spPr>
          <a:xfrm>
            <a:off x="9820656" y="4562856"/>
            <a:ext cx="896112" cy="457200"/>
          </a:xfrm>
          <a:prstGeom prst="rect">
            <a:avLst/>
          </a:prstGeom>
          <a:solidFill>
            <a:srgbClr val="E8B04B"/>
          </a:solidFill>
          <a:ln w="12700">
            <a:solidFill>
              <a:srgbClr val="E8B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7"/>
          <p:cNvSpPr/>
          <p:nvPr/>
        </p:nvSpPr>
        <p:spPr>
          <a:xfrm>
            <a:off x="10716768" y="4562856"/>
            <a:ext cx="896112" cy="457200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8"/>
          <p:cNvSpPr txBox="1"/>
          <p:nvPr/>
        </p:nvSpPr>
        <p:spPr>
          <a:xfrm>
            <a:off x="5486400" y="4946904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Unordered groups: regions, product lines (≤ 5 hues)</a:t>
            </a:r>
            <a:endParaRPr lang="en-US" sz="1050" dirty="0"/>
          </a:p>
        </p:txBody>
      </p:sp>
      <p:sp>
        <p:nvSpPr>
          <p:cNvPr id="63" name="Text 59"/>
          <p:cNvSpPr txBox="1"/>
          <p:nvPr/>
        </p:nvSpPr>
        <p:spPr>
          <a:xfrm>
            <a:off x="5394960" y="557784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Tip: in Power BI, set these once in a report theme (View → Themes) so every visual inherits them.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8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Foundations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44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676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Chart type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084320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3528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972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292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Clarity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736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7056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Integrity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50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3820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Access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826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Wrap-up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3.3 Sort, then use one visual cue so the eye lands on the takeaway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rule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1691640"/>
            <a:ext cx="420624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57400"/>
            <a:ext cx="457200" cy="45720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280160" y="178308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Sort by value when ranking matters, and mark the key result with a preattentive cue: color, size, position or an annotation.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457200" y="3246120"/>
            <a:ext cx="4206240" cy="365760"/>
          </a:xfrm>
          <a:prstGeom prst="rect">
            <a:avLst/>
          </a:prstGeom>
          <a:solidFill>
            <a:srgbClr val="D51B24"/>
          </a:solidFill>
          <a:ln w="12700">
            <a:solidFill>
              <a:srgbClr val="D5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457200" y="3246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it works — what the standards say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57200" y="3611880"/>
            <a:ext cx="4206240" cy="2240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548640" y="3730752"/>
            <a:ext cx="4023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Preattentive attributes are seen instantly, without conscious effort — use a different one for what must stand out. </a:t>
            </a:r>
            <a:r>
              <a:rPr lang="en-US" sz="125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(Stephen Few)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Sort by the measure to show highest/lowest; sort by the axis to help people find a category. </a:t>
            </a:r>
            <a:r>
              <a:rPr lang="en-US" sz="125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(Microsoft Power BI)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Order categories from highest to lowest where that helps comparison. </a:t>
            </a:r>
            <a:r>
              <a:rPr lang="en-US" sz="125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(ONS)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029200" y="1325880"/>
            <a:ext cx="0" cy="4526280"/>
          </a:xfrm>
          <a:prstGeom prst="line">
            <a:avLst/>
          </a:prstGeom>
          <a:noFill/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855464" y="341528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515868"/>
            <a:ext cx="146304" cy="146304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5394960" y="1325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51B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✕  Less effective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5394960" y="1709928"/>
            <a:ext cx="306324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 txBox="1"/>
          <p:nvPr/>
        </p:nvSpPr>
        <p:spPr>
          <a:xfrm>
            <a:off x="8686800" y="1325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6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✓  More effective</a:t>
            </a:r>
            <a:endParaRPr lang="en-US" sz="1400" dirty="0"/>
          </a:p>
        </p:txBody>
      </p:sp>
      <p:sp>
        <p:nvSpPr>
          <p:cNvPr id="36" name="Shape 32"/>
          <p:cNvSpPr/>
          <p:nvPr/>
        </p:nvSpPr>
        <p:spPr>
          <a:xfrm>
            <a:off x="8686800" y="1709928"/>
            <a:ext cx="306324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 txBox="1"/>
          <p:nvPr/>
        </p:nvSpPr>
        <p:spPr>
          <a:xfrm>
            <a:off x="5394960" y="50749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Alphabetical order and equal emphasis force the viewer to hunt for the main result.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8686800" y="50749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Sorted bars, one highlight and a takeaway title make the story obvious.</a:t>
            </a:r>
            <a:endParaRPr lang="en-US" sz="1200" dirty="0"/>
          </a:p>
        </p:txBody>
      </p:sp>
      <p:graphicFrame>
        <p:nvGraphicFramePr>
          <p:cNvPr id="39" name="Chart 0"/>
          <p:cNvGraphicFramePr/>
          <p:nvPr/>
        </p:nvGraphicFramePr>
        <p:xfrm>
          <a:off x="5394960" y="1828800"/>
          <a:ext cx="30632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0" name="Chart 1"/>
          <p:cNvGraphicFramePr/>
          <p:nvPr/>
        </p:nvGraphicFramePr>
        <p:xfrm>
          <a:off x="8686800" y="1828800"/>
          <a:ext cx="30632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8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Foundations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44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676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Chart type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208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3528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60720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292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Clarity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736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7056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Integrity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50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3820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Access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826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Wrap-up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11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4.1 Write the title as the takeaway and format numbers for humans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rule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1691640"/>
            <a:ext cx="420624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57400"/>
            <a:ext cx="457200" cy="45720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280160" y="178308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State the main trend in the title; put measure, place and period in the subtitle; round numbers and show units.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457200" y="3246120"/>
            <a:ext cx="4206240" cy="365760"/>
          </a:xfrm>
          <a:prstGeom prst="rect">
            <a:avLst/>
          </a:prstGeom>
          <a:solidFill>
            <a:srgbClr val="D51B24"/>
          </a:solidFill>
          <a:ln w="12700">
            <a:solidFill>
              <a:srgbClr val="D5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457200" y="3246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it works — what the standards say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57200" y="3611880"/>
            <a:ext cx="4206240" cy="2240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548640" y="3730752"/>
            <a:ext cx="4023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Titles: front-loaded, active voice, ≤ 15 words. Subtitle: measure, geography, time period. </a:t>
            </a:r>
            <a:r>
              <a:rPr lang="en-US" sz="125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(ONS)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Don’t exceed three or four numerals — show 3.4 million, not 3,400,000. </a:t>
            </a:r>
            <a:r>
              <a:rPr lang="en-US" sz="125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(Microsoft Power BI)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Avoid acronyms and jargon: “CY Totals” → “Current year sales, USD”. </a:t>
            </a:r>
            <a:r>
              <a:rPr lang="en-US" sz="125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(Microsoft Power BI)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029200" y="1325880"/>
            <a:ext cx="0" cy="4526280"/>
          </a:xfrm>
          <a:prstGeom prst="line">
            <a:avLst/>
          </a:prstGeom>
          <a:noFill/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855464" y="341528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515868"/>
            <a:ext cx="146304" cy="146304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5394960" y="1325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51B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✕  Less effective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5394960" y="1709928"/>
            <a:ext cx="306324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 txBox="1"/>
          <p:nvPr/>
        </p:nvSpPr>
        <p:spPr>
          <a:xfrm>
            <a:off x="8686800" y="1325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6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✓  More effective</a:t>
            </a:r>
            <a:endParaRPr lang="en-US" sz="1400" dirty="0"/>
          </a:p>
        </p:txBody>
      </p:sp>
      <p:sp>
        <p:nvSpPr>
          <p:cNvPr id="36" name="Shape 32"/>
          <p:cNvSpPr/>
          <p:nvPr/>
        </p:nvSpPr>
        <p:spPr>
          <a:xfrm>
            <a:off x="8686800" y="1709928"/>
            <a:ext cx="306324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 txBox="1"/>
          <p:nvPr/>
        </p:nvSpPr>
        <p:spPr>
          <a:xfrm>
            <a:off x="5394960" y="50749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topic title, no units and excessive precision make the viewer do the work.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8686800" y="50749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Takeaway title, descriptive subtitle and rounded labels with units.</a:t>
            </a:r>
            <a:endParaRPr lang="en-US" sz="1200" dirty="0"/>
          </a:p>
        </p:txBody>
      </p:sp>
      <p:graphicFrame>
        <p:nvGraphicFramePr>
          <p:cNvPr id="39" name="Chart 0"/>
          <p:cNvGraphicFramePr/>
          <p:nvPr/>
        </p:nvGraphicFramePr>
        <p:xfrm>
          <a:off x="5394960" y="1828800"/>
          <a:ext cx="30632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0" name="Text 35"/>
          <p:cNvSpPr txBox="1"/>
          <p:nvPr/>
        </p:nvSpPr>
        <p:spPr>
          <a:xfrm>
            <a:off x="8778240" y="18745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Ontario leads retail sales in 2025</a:t>
            </a:r>
            <a:endParaRPr lang="en-US" sz="1300" dirty="0"/>
          </a:p>
        </p:txBody>
      </p:sp>
      <p:sp>
        <p:nvSpPr>
          <p:cNvPr id="41" name="Text 36"/>
          <p:cNvSpPr txBox="1"/>
          <p:nvPr/>
        </p:nvSpPr>
        <p:spPr>
          <a:xfrm>
            <a:off x="8778240" y="221284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Retail sales, $ billions, by province, 2025 (illustrative)</a:t>
            </a:r>
            <a:endParaRPr lang="en-US" sz="950" dirty="0"/>
          </a:p>
        </p:txBody>
      </p:sp>
      <p:graphicFrame>
        <p:nvGraphicFramePr>
          <p:cNvPr id="42" name="Chart 1"/>
          <p:cNvGraphicFramePr/>
          <p:nvPr/>
        </p:nvGraphicFramePr>
        <p:xfrm>
          <a:off x="8686800" y="2514600"/>
          <a:ext cx="306324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8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Foundations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44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676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Chart type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208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3528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60720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292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Clarity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736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7056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Integrity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50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3820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Access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826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Wrap-up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12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4.2 Strip non-data ink and label series directly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rule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1691640"/>
            <a:ext cx="420624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57400"/>
            <a:ext cx="457200" cy="45720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280160" y="178308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Remove anything that doesn’t carry data — heavy grids, borders, shadows, 3D, redundant labels — and label lines at their ends instead of a legend.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457200" y="3246120"/>
            <a:ext cx="4206240" cy="365760"/>
          </a:xfrm>
          <a:prstGeom prst="rect">
            <a:avLst/>
          </a:prstGeom>
          <a:solidFill>
            <a:srgbClr val="D51B24"/>
          </a:solidFill>
          <a:ln w="12700">
            <a:solidFill>
              <a:srgbClr val="D5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457200" y="3246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it works — what the standards say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57200" y="3611880"/>
            <a:ext cx="4206240" cy="2240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548640" y="3730752"/>
            <a:ext cx="4023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Squint test: if your eyes go to the data labels more than the data, reduce the labels. </a:t>
            </a:r>
            <a:r>
              <a:rPr lang="en-US" sz="125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(Microsoft Power BI)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Light grey gridlines, darker axis labels, darkest titles. </a:t>
            </a:r>
            <a:r>
              <a:rPr lang="en-US" sz="125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(Datawrapper)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Label every gridline, use round intervals and no unlabelled minor gridlines. </a:t>
            </a:r>
            <a:r>
              <a:rPr lang="en-US" sz="125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(ONS)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029200" y="1325880"/>
            <a:ext cx="0" cy="4526280"/>
          </a:xfrm>
          <a:prstGeom prst="line">
            <a:avLst/>
          </a:prstGeom>
          <a:noFill/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855464" y="341528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515868"/>
            <a:ext cx="146304" cy="146304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5394960" y="1325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51B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✕  Less effective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5394960" y="1709928"/>
            <a:ext cx="306324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 txBox="1"/>
          <p:nvPr/>
        </p:nvSpPr>
        <p:spPr>
          <a:xfrm>
            <a:off x="8686800" y="1325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6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✓  More effective</a:t>
            </a:r>
            <a:endParaRPr lang="en-US" sz="1400" dirty="0"/>
          </a:p>
        </p:txBody>
      </p:sp>
      <p:sp>
        <p:nvSpPr>
          <p:cNvPr id="36" name="Shape 32"/>
          <p:cNvSpPr/>
          <p:nvPr/>
        </p:nvSpPr>
        <p:spPr>
          <a:xfrm>
            <a:off x="8686800" y="1709928"/>
            <a:ext cx="306324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 txBox="1"/>
          <p:nvPr/>
        </p:nvSpPr>
        <p:spPr>
          <a:xfrm>
            <a:off x="5394960" y="50749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Dark grid, border, fill, markers, value labels and a legend all compete with the trend.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8686800" y="50749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Quiet grid, one highlighted series, names written right where the lines end.</a:t>
            </a:r>
            <a:endParaRPr lang="en-US" sz="1200" dirty="0"/>
          </a:p>
        </p:txBody>
      </p:sp>
      <p:graphicFrame>
        <p:nvGraphicFramePr>
          <p:cNvPr id="39" name="Chart 0"/>
          <p:cNvGraphicFramePr/>
          <p:nvPr/>
        </p:nvGraphicFramePr>
        <p:xfrm>
          <a:off x="5394960" y="1828800"/>
          <a:ext cx="30632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0" name="Chart 1"/>
          <p:cNvGraphicFramePr/>
          <p:nvPr/>
        </p:nvGraphicFramePr>
        <p:xfrm>
          <a:off x="8686800" y="1828800"/>
          <a:ext cx="22860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1" name="Text 35"/>
          <p:cNvSpPr txBox="1"/>
          <p:nvPr/>
        </p:nvSpPr>
        <p:spPr>
          <a:xfrm>
            <a:off x="10972800" y="2217115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Online</a:t>
            </a:r>
            <a:endParaRPr lang="en-US" sz="1000" dirty="0"/>
          </a:p>
        </p:txBody>
      </p:sp>
      <p:sp>
        <p:nvSpPr>
          <p:cNvPr id="42" name="Text 36"/>
          <p:cNvSpPr txBox="1"/>
          <p:nvPr/>
        </p:nvSpPr>
        <p:spPr>
          <a:xfrm>
            <a:off x="10972800" y="311642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Retail</a:t>
            </a:r>
            <a:endParaRPr lang="en-US" sz="1000" dirty="0"/>
          </a:p>
        </p:txBody>
      </p:sp>
      <p:sp>
        <p:nvSpPr>
          <p:cNvPr id="43" name="Text 37"/>
          <p:cNvSpPr txBox="1"/>
          <p:nvPr/>
        </p:nvSpPr>
        <p:spPr>
          <a:xfrm>
            <a:off x="10972800" y="3673145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Wholesale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8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Foundations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44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676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Chart type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208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3528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972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292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Clarity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37120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7056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Integrity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50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3820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Access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826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Wrap-up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5.1 Start bar axes at zero; crop only line charts, and say so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rule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1691640"/>
            <a:ext cx="420624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57400"/>
            <a:ext cx="457200" cy="45720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280160" y="178308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Bars encode value as length, so their axis must start at zero. Line charts may start above zero when the change is what matters.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457200" y="3246120"/>
            <a:ext cx="4206240" cy="365760"/>
          </a:xfrm>
          <a:prstGeom prst="rect">
            <a:avLst/>
          </a:prstGeom>
          <a:solidFill>
            <a:srgbClr val="D51B24"/>
          </a:solidFill>
          <a:ln w="12700">
            <a:solidFill>
              <a:srgbClr val="D5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457200" y="3246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it works — what the standards say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57200" y="3611880"/>
            <a:ext cx="4206240" cy="2240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548640" y="3730752"/>
            <a:ext cx="4023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“A bar chart’s axis should never start above zero.” Line charts may be cropped, leaving ¼–⅓ of the space below the data. </a:t>
            </a:r>
            <a:r>
              <a:rPr lang="en-US" sz="125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(ONS)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Use fixed axes when views are meant to be compared side by side. </a:t>
            </a:r>
            <a:r>
              <a:rPr lang="en-US" sz="125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(Tableau)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Be consistent with chart scales across a report. </a:t>
            </a:r>
            <a:r>
              <a:rPr lang="en-US" sz="125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(Microsoft Power BI)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029200" y="1325880"/>
            <a:ext cx="0" cy="4526280"/>
          </a:xfrm>
          <a:prstGeom prst="line">
            <a:avLst/>
          </a:prstGeom>
          <a:noFill/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855464" y="341528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515868"/>
            <a:ext cx="146304" cy="146304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5394960" y="1325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51B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✕  Less effective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5394960" y="1709928"/>
            <a:ext cx="306324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 txBox="1"/>
          <p:nvPr/>
        </p:nvSpPr>
        <p:spPr>
          <a:xfrm>
            <a:off x="8686800" y="1325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6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✓  More effective</a:t>
            </a:r>
            <a:endParaRPr lang="en-US" sz="1400" dirty="0"/>
          </a:p>
        </p:txBody>
      </p:sp>
      <p:sp>
        <p:nvSpPr>
          <p:cNvPr id="36" name="Shape 32"/>
          <p:cNvSpPr/>
          <p:nvPr/>
        </p:nvSpPr>
        <p:spPr>
          <a:xfrm>
            <a:off x="8686800" y="1709928"/>
            <a:ext cx="306324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 txBox="1"/>
          <p:nvPr/>
        </p:nvSpPr>
        <p:spPr>
          <a:xfrm>
            <a:off x="5394960" y="50749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axis starts at 95, so a 3-point gap looks like B is four times A.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8686800" y="50749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From zero the bars show the true gap; label the difference if it matters.</a:t>
            </a:r>
            <a:endParaRPr lang="en-US" sz="1200" dirty="0"/>
          </a:p>
        </p:txBody>
      </p:sp>
      <p:graphicFrame>
        <p:nvGraphicFramePr>
          <p:cNvPr id="39" name="Chart 0"/>
          <p:cNvGraphicFramePr/>
          <p:nvPr/>
        </p:nvGraphicFramePr>
        <p:xfrm>
          <a:off x="5394960" y="1828800"/>
          <a:ext cx="30632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0" name="Chart 1"/>
          <p:cNvGraphicFramePr/>
          <p:nvPr/>
        </p:nvGraphicFramePr>
        <p:xfrm>
          <a:off x="8686800" y="1828800"/>
          <a:ext cx="30632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8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Foundations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44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676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Chart type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208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3528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972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292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Clarity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37120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7056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Integrity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50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3820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Access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826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Wrap-up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5.2 Give every key number a benchmark so readers know if it is good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rule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1691640"/>
            <a:ext cx="420624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57400"/>
            <a:ext cx="457200" cy="45720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280160" y="178308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Show the comparison that answers “is this good?”: target, prior period, average or peers — as text, a reference line or a bullet bar.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457200" y="3246120"/>
            <a:ext cx="4206240" cy="365760"/>
          </a:xfrm>
          <a:prstGeom prst="rect">
            <a:avLst/>
          </a:prstGeom>
          <a:solidFill>
            <a:srgbClr val="D51B24"/>
          </a:solidFill>
          <a:ln w="12700">
            <a:solidFill>
              <a:srgbClr val="D5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457200" y="3246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it works — what the standards say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57200" y="3611880"/>
            <a:ext cx="4206240" cy="2240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548640" y="3730752"/>
            <a:ext cx="4023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Use cards for key numbers and provide context; gauges show status against a goal. </a:t>
            </a:r>
            <a:r>
              <a:rPr lang="en-US" sz="125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(Microsoft Power BI)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Choose a comparison: previous year, a decade ago, other regions, the national average. </a:t>
            </a:r>
            <a:r>
              <a:rPr lang="en-US" sz="125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(ONS)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Use standard scenario labels: AC (actual), PY (previous year), PL (plan), FC (forecast). </a:t>
            </a:r>
            <a:r>
              <a:rPr lang="en-US" sz="125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(IBCS)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029200" y="1325880"/>
            <a:ext cx="0" cy="4526280"/>
          </a:xfrm>
          <a:prstGeom prst="line">
            <a:avLst/>
          </a:prstGeom>
          <a:noFill/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855464" y="341528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515868"/>
            <a:ext cx="146304" cy="146304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5394960" y="1325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51B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✕  Less effective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5394960" y="1709928"/>
            <a:ext cx="306324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 txBox="1"/>
          <p:nvPr/>
        </p:nvSpPr>
        <p:spPr>
          <a:xfrm>
            <a:off x="8686800" y="1325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6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✓  More effective</a:t>
            </a:r>
            <a:endParaRPr lang="en-US" sz="1400" dirty="0"/>
          </a:p>
        </p:txBody>
      </p:sp>
      <p:sp>
        <p:nvSpPr>
          <p:cNvPr id="36" name="Shape 32"/>
          <p:cNvSpPr/>
          <p:nvPr/>
        </p:nvSpPr>
        <p:spPr>
          <a:xfrm>
            <a:off x="8686800" y="1709928"/>
            <a:ext cx="306324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 txBox="1"/>
          <p:nvPr/>
        </p:nvSpPr>
        <p:spPr>
          <a:xfrm>
            <a:off x="5394960" y="50749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Accurate, but the reader can’t tell whether +3.2% is a win or a miss.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8686800" y="50749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Against target and prior year, the story is clear: growing, but behind plan.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5623560" y="2286000"/>
            <a:ext cx="2606040" cy="21945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 txBox="1"/>
          <p:nvPr/>
        </p:nvSpPr>
        <p:spPr>
          <a:xfrm>
            <a:off x="5623560" y="26060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+3.2%</a:t>
            </a:r>
            <a:endParaRPr lang="en-US" sz="4400" dirty="0"/>
          </a:p>
        </p:txBody>
      </p:sp>
      <p:sp>
        <p:nvSpPr>
          <p:cNvPr id="41" name="Text 37"/>
          <p:cNvSpPr txBox="1"/>
          <p:nvPr/>
        </p:nvSpPr>
        <p:spPr>
          <a:xfrm>
            <a:off x="5623560" y="3566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Sales growth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8869680" y="1920240"/>
            <a:ext cx="2697480" cy="29260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 txBox="1"/>
          <p:nvPr/>
        </p:nvSpPr>
        <p:spPr>
          <a:xfrm>
            <a:off x="9052560" y="2011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Sales growth (AC)</a:t>
            </a:r>
            <a:endParaRPr lang="en-US" sz="1200" dirty="0"/>
          </a:p>
        </p:txBody>
      </p:sp>
      <p:sp>
        <p:nvSpPr>
          <p:cNvPr id="44" name="Text 40"/>
          <p:cNvSpPr txBox="1"/>
          <p:nvPr/>
        </p:nvSpPr>
        <p:spPr>
          <a:xfrm>
            <a:off x="9052560" y="22860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+3.2%</a:t>
            </a:r>
            <a:endParaRPr lang="en-US" sz="4000" dirty="0"/>
          </a:p>
        </p:txBody>
      </p:sp>
      <p:sp>
        <p:nvSpPr>
          <p:cNvPr id="45" name="Text 41"/>
          <p:cNvSpPr txBox="1"/>
          <p:nvPr/>
        </p:nvSpPr>
        <p:spPr>
          <a:xfrm>
            <a:off x="9052560" y="3017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51B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▼ 1.8 pts vs plan (PL +5.0%)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566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▲ 1.4 pts vs prior year (PY +1.8%)</a:t>
            </a:r>
            <a:endParaRPr lang="en-US" sz="1150" dirty="0"/>
          </a:p>
        </p:txBody>
      </p:sp>
      <p:sp>
        <p:nvSpPr>
          <p:cNvPr id="46" name="Shape 42"/>
          <p:cNvSpPr/>
          <p:nvPr/>
        </p:nvSpPr>
        <p:spPr>
          <a:xfrm>
            <a:off x="9052560" y="3886200"/>
            <a:ext cx="2331720" cy="32918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3"/>
          <p:cNvSpPr/>
          <p:nvPr/>
        </p:nvSpPr>
        <p:spPr>
          <a:xfrm>
            <a:off x="9052560" y="3977640"/>
            <a:ext cx="1243584" cy="146304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4"/>
          <p:cNvSpPr/>
          <p:nvPr/>
        </p:nvSpPr>
        <p:spPr>
          <a:xfrm>
            <a:off x="10995660" y="3831336"/>
            <a:ext cx="0" cy="438912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5"/>
          <p:cNvSpPr/>
          <p:nvPr/>
        </p:nvSpPr>
        <p:spPr>
          <a:xfrm>
            <a:off x="9752076" y="3904488"/>
            <a:ext cx="0" cy="292608"/>
          </a:xfrm>
          <a:prstGeom prst="line">
            <a:avLst/>
          </a:prstGeom>
          <a:noFill/>
          <a:ln w="19050">
            <a:solidFill>
              <a:srgbClr val="7F7F7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6"/>
          <p:cNvSpPr txBox="1"/>
          <p:nvPr/>
        </p:nvSpPr>
        <p:spPr>
          <a:xfrm>
            <a:off x="9523476" y="42519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PY</a:t>
            </a:r>
            <a:endParaRPr lang="en-US" sz="900" dirty="0"/>
          </a:p>
        </p:txBody>
      </p:sp>
      <p:sp>
        <p:nvSpPr>
          <p:cNvPr id="51" name="Text 47"/>
          <p:cNvSpPr txBox="1"/>
          <p:nvPr/>
        </p:nvSpPr>
        <p:spPr>
          <a:xfrm>
            <a:off x="10767060" y="42519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</a:t>
            </a:r>
            <a:endParaRPr lang="en-US" sz="900" dirty="0"/>
          </a:p>
        </p:txBody>
      </p:sp>
      <p:sp>
        <p:nvSpPr>
          <p:cNvPr id="52" name="Text 48"/>
          <p:cNvSpPr txBox="1"/>
          <p:nvPr/>
        </p:nvSpPr>
        <p:spPr>
          <a:xfrm>
            <a:off x="9052560" y="4251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0%</a:t>
            </a:r>
            <a:endParaRPr lang="en-US" sz="900" dirty="0"/>
          </a:p>
        </p:txBody>
      </p:sp>
      <p:sp>
        <p:nvSpPr>
          <p:cNvPr id="53" name="Text 49"/>
          <p:cNvSpPr txBox="1"/>
          <p:nvPr/>
        </p:nvSpPr>
        <p:spPr>
          <a:xfrm>
            <a:off x="11018520" y="4251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6%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8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Foundations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44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676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Chart type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208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3528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972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292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Clarity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37120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7056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Integrity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50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3820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Access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826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Wrap-up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5.3 Keep colors, order and scales identical across every view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rule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1691640"/>
            <a:ext cx="420624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57400"/>
            <a:ext cx="457200" cy="45720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280160" y="178308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same category gets the same color and position, and comparable charts share one axis range, on every page of the report.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457200" y="3246120"/>
            <a:ext cx="4206240" cy="365760"/>
          </a:xfrm>
          <a:prstGeom prst="rect">
            <a:avLst/>
          </a:prstGeom>
          <a:solidFill>
            <a:srgbClr val="D51B24"/>
          </a:solidFill>
          <a:ln w="12700">
            <a:solidFill>
              <a:srgbClr val="D5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457200" y="3246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it works — what the standards say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57200" y="3611880"/>
            <a:ext cx="4206240" cy="2240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548640" y="3730752"/>
            <a:ext cx="4023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Be consistent with axis scales, dimension ordering and colors for the same values across charts. </a:t>
            </a:r>
            <a:r>
              <a:rPr lang="en-US" sz="125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(Microsoft Power BI)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Use the same color for the same category across all charts in a series. </a:t>
            </a:r>
            <a:r>
              <a:rPr lang="en-US" sz="125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(ONS)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Keep fonts, title sizes and slicer positions the same on every page. </a:t>
            </a:r>
            <a:r>
              <a:rPr lang="en-US" sz="125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(Microsoft Power BI)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029200" y="1325880"/>
            <a:ext cx="0" cy="4526280"/>
          </a:xfrm>
          <a:prstGeom prst="line">
            <a:avLst/>
          </a:prstGeom>
          <a:noFill/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855464" y="341528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515868"/>
            <a:ext cx="146304" cy="146304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5394960" y="1325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51B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✕  Less effective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5394960" y="1709928"/>
            <a:ext cx="306324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 txBox="1"/>
          <p:nvPr/>
        </p:nvSpPr>
        <p:spPr>
          <a:xfrm>
            <a:off x="8686800" y="1325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6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✓  More effective</a:t>
            </a:r>
            <a:endParaRPr lang="en-US" sz="1400" dirty="0"/>
          </a:p>
        </p:txBody>
      </p:sp>
      <p:sp>
        <p:nvSpPr>
          <p:cNvPr id="36" name="Shape 32"/>
          <p:cNvSpPr/>
          <p:nvPr/>
        </p:nvSpPr>
        <p:spPr>
          <a:xfrm>
            <a:off x="8686800" y="1709928"/>
            <a:ext cx="306324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 txBox="1"/>
          <p:nvPr/>
        </p:nvSpPr>
        <p:spPr>
          <a:xfrm>
            <a:off x="5394960" y="50749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Order, colors and axis range change between Q1 and Q2 — readers re-learn each chart and misjudge size.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8686800" y="50749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Same order, colors and 0–60 axis: the Q1→Q2 shift is readable at a glance.</a:t>
            </a:r>
            <a:endParaRPr lang="en-US" sz="1200" dirty="0"/>
          </a:p>
        </p:txBody>
      </p:sp>
      <p:graphicFrame>
        <p:nvGraphicFramePr>
          <p:cNvPr id="39" name="Chart 0"/>
          <p:cNvGraphicFramePr/>
          <p:nvPr/>
        </p:nvGraphicFramePr>
        <p:xfrm>
          <a:off x="5394960" y="1920240"/>
          <a:ext cx="15316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0" name="Chart 1"/>
          <p:cNvGraphicFramePr/>
          <p:nvPr/>
        </p:nvGraphicFramePr>
        <p:xfrm>
          <a:off x="6926580" y="1920240"/>
          <a:ext cx="15316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1" name="Chart 2"/>
          <p:cNvGraphicFramePr/>
          <p:nvPr/>
        </p:nvGraphicFramePr>
        <p:xfrm>
          <a:off x="8686800" y="1920240"/>
          <a:ext cx="15316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2" name="Chart 3"/>
          <p:cNvGraphicFramePr/>
          <p:nvPr/>
        </p:nvGraphicFramePr>
        <p:xfrm>
          <a:off x="10218420" y="1920240"/>
          <a:ext cx="15316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8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Foundations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44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676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Chart type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208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3528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972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292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Clarity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736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7056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Integrity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13520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3820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Access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826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Wrap-up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16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6.1 Never let color carry meaning alone, and meet contrast minimums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rule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1691640"/>
            <a:ext cx="420624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57400"/>
            <a:ext cx="457200" cy="45720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280160" y="178308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Pair every color with a second cue — text, symbol, marker shape or pattern — and check contrast before publishing.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457200" y="3246120"/>
            <a:ext cx="4206240" cy="365760"/>
          </a:xfrm>
          <a:prstGeom prst="rect">
            <a:avLst/>
          </a:prstGeom>
          <a:solidFill>
            <a:srgbClr val="D51B24"/>
          </a:solidFill>
          <a:ln w="12700">
            <a:solidFill>
              <a:srgbClr val="D5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457200" y="3246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it works — what the standards say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57200" y="3611880"/>
            <a:ext cx="4206240" cy="2240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548640" y="3730752"/>
            <a:ext cx="4023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Color must not be the only way to convey information; text needs ≥ 4.5:1 contrast. </a:t>
            </a:r>
            <a:r>
              <a:rPr lang="en-US" sz="125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(W3C WCAG 2.2 · Power BI)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Lines, bars and slices need ≥ 3:1 contrast against what is next to them. </a:t>
            </a:r>
            <a:r>
              <a:rPr lang="en-US" sz="125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(W3C WCAG 2.2, SC 1.4.11)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Avoid red–green, blue–purple and green–grey pairs; turn on distinct markers; add alt text. </a:t>
            </a:r>
            <a:r>
              <a:rPr lang="en-US" sz="1250" i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(Microsoft Power BI)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029200" y="1325880"/>
            <a:ext cx="0" cy="4526280"/>
          </a:xfrm>
          <a:prstGeom prst="line">
            <a:avLst/>
          </a:prstGeom>
          <a:noFill/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855464" y="3415284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515868"/>
            <a:ext cx="146304" cy="146304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5394960" y="1325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51B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✕  Less effective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5394960" y="1709928"/>
            <a:ext cx="306324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 txBox="1"/>
          <p:nvPr/>
        </p:nvSpPr>
        <p:spPr>
          <a:xfrm>
            <a:off x="8686800" y="1325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6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✓  More effective</a:t>
            </a:r>
            <a:endParaRPr lang="en-US" sz="1400" dirty="0"/>
          </a:p>
        </p:txBody>
      </p:sp>
      <p:sp>
        <p:nvSpPr>
          <p:cNvPr id="36" name="Shape 32"/>
          <p:cNvSpPr/>
          <p:nvPr/>
        </p:nvSpPr>
        <p:spPr>
          <a:xfrm>
            <a:off x="8686800" y="1709928"/>
            <a:ext cx="306324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 txBox="1"/>
          <p:nvPr/>
        </p:nvSpPr>
        <p:spPr>
          <a:xfrm>
            <a:off x="5394960" y="50749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Red vs green only, pale colors and tiny grey text: hard or impossible to read with color-vision deficiency.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8686800" y="50749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High-contrast color plus an arrow plus words: still readable in greyscale or print.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5577840" y="2194560"/>
            <a:ext cx="2697480" cy="23774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 txBox="1"/>
          <p:nvPr/>
        </p:nvSpPr>
        <p:spPr>
          <a:xfrm>
            <a:off x="5577840" y="237744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CC56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+8%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0808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−5%</a:t>
            </a:r>
            <a:endParaRPr lang="en-US" sz="3200" dirty="0"/>
          </a:p>
        </p:txBody>
      </p:sp>
      <p:sp>
        <p:nvSpPr>
          <p:cNvPr id="41" name="Text 37"/>
          <p:cNvSpPr txBox="1"/>
          <p:nvPr/>
        </p:nvSpPr>
        <p:spPr>
          <a:xfrm>
            <a:off x="5577840" y="4023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FBFB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Region performance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8869680" y="2194560"/>
            <a:ext cx="2697480" cy="23774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 txBox="1"/>
          <p:nvPr/>
        </p:nvSpPr>
        <p:spPr>
          <a:xfrm>
            <a:off x="9052560" y="237744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▲ +8%  Above target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D51B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▼ −5%  Below target</a:t>
            </a:r>
            <a:endParaRPr lang="en-US" sz="2000" dirty="0"/>
          </a:p>
        </p:txBody>
      </p:sp>
      <p:sp>
        <p:nvSpPr>
          <p:cNvPr id="44" name="Text 40"/>
          <p:cNvSpPr txBox="1"/>
          <p:nvPr/>
        </p:nvSpPr>
        <p:spPr>
          <a:xfrm>
            <a:off x="8869680" y="4023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Region performance vs target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8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Foundations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44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676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Chart type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208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3528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972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292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Clarity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736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7056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Integrity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50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3820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Access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789920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Wrap-up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17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7.1 Run this checklist before you publish any visual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57200" y="1280160"/>
            <a:ext cx="361188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57200" y="12801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Purpose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1645920"/>
            <a:ext cx="3611880" cy="16916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847088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024128" y="175564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Does it answer one stated question for a known audience?</a:t>
            </a:r>
            <a:endParaRPr lang="en-US" sz="130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596896"/>
            <a:ext cx="274320" cy="27432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024128" y="250545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Is the takeaway visible within five seconds?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4251960" y="1280160"/>
            <a:ext cx="3611880" cy="365760"/>
          </a:xfrm>
          <a:prstGeom prst="rect">
            <a:avLst/>
          </a:prstGeom>
          <a:solidFill>
            <a:srgbClr val="D51B24"/>
          </a:solidFill>
          <a:ln w="12700">
            <a:solidFill>
              <a:srgbClr val="D5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 txBox="1"/>
          <p:nvPr/>
        </p:nvSpPr>
        <p:spPr>
          <a:xfrm>
            <a:off x="4251960" y="12801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Chart type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4251960" y="1645920"/>
            <a:ext cx="3611880" cy="16916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1847088"/>
            <a:ext cx="274320" cy="274320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4818888" y="175564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Does the chart match the relationship (FT vocabulary)?</a:t>
            </a:r>
            <a:endParaRPr lang="en-US" sz="130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2596896"/>
            <a:ext cx="274320" cy="27432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4818888" y="250545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Are values read by position or length where accuracy matters?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8046720" y="1280160"/>
            <a:ext cx="3611880" cy="365760"/>
          </a:xfrm>
          <a:prstGeom prst="rect">
            <a:avLst/>
          </a:prstGeom>
          <a:solidFill>
            <a:srgbClr val="156664"/>
          </a:solidFill>
          <a:ln w="12700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 txBox="1"/>
          <p:nvPr/>
        </p:nvSpPr>
        <p:spPr>
          <a:xfrm>
            <a:off x="8046720" y="12801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Color &amp; cues</a:t>
            </a:r>
            <a:endParaRPr lang="en-US" sz="1400" dirty="0"/>
          </a:p>
        </p:txBody>
      </p:sp>
      <p:sp>
        <p:nvSpPr>
          <p:cNvPr id="37" name="Shape 31"/>
          <p:cNvSpPr/>
          <p:nvPr/>
        </p:nvSpPr>
        <p:spPr>
          <a:xfrm>
            <a:off x="8046720" y="1645920"/>
            <a:ext cx="3611880" cy="16916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847088"/>
            <a:ext cx="274320" cy="274320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8613648" y="175564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Grey by default, ≤ 5 colors, one accent for the point?</a:t>
            </a:r>
            <a:endParaRPr lang="en-US" sz="13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2596896"/>
            <a:ext cx="274320" cy="274320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8613648" y="250545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Does the palette type match the data?</a:t>
            </a:r>
            <a:endParaRPr lang="en-US" sz="1300" dirty="0"/>
          </a:p>
        </p:txBody>
      </p:sp>
      <p:sp>
        <p:nvSpPr>
          <p:cNvPr id="42" name="Shape 34"/>
          <p:cNvSpPr/>
          <p:nvPr/>
        </p:nvSpPr>
        <p:spPr>
          <a:xfrm>
            <a:off x="457200" y="3520440"/>
            <a:ext cx="361188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5"/>
          <p:cNvSpPr txBox="1"/>
          <p:nvPr/>
        </p:nvSpPr>
        <p:spPr>
          <a:xfrm>
            <a:off x="457200" y="35204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Clarity</a:t>
            </a:r>
            <a:endParaRPr lang="en-US" sz="1400" dirty="0"/>
          </a:p>
        </p:txBody>
      </p:sp>
      <p:sp>
        <p:nvSpPr>
          <p:cNvPr id="44" name="Shape 36"/>
          <p:cNvSpPr/>
          <p:nvPr/>
        </p:nvSpPr>
        <p:spPr>
          <a:xfrm>
            <a:off x="457200" y="3886200"/>
            <a:ext cx="3611880" cy="16916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087368"/>
            <a:ext cx="274320" cy="274320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1024128" y="399592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Does the title state the takeaway, with units in the subtitle?</a:t>
            </a:r>
            <a:endParaRPr lang="en-US" sz="1300" dirty="0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837176"/>
            <a:ext cx="274320" cy="274320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1024128" y="474573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Are clutter and legends removed where direct labels work?</a:t>
            </a:r>
            <a:endParaRPr lang="en-US" sz="1300" dirty="0"/>
          </a:p>
        </p:txBody>
      </p:sp>
      <p:sp>
        <p:nvSpPr>
          <p:cNvPr id="49" name="Shape 39"/>
          <p:cNvSpPr/>
          <p:nvPr/>
        </p:nvSpPr>
        <p:spPr>
          <a:xfrm>
            <a:off x="4251960" y="3520440"/>
            <a:ext cx="3611880" cy="365760"/>
          </a:xfrm>
          <a:prstGeom prst="rect">
            <a:avLst/>
          </a:prstGeom>
          <a:solidFill>
            <a:srgbClr val="D51B24"/>
          </a:solidFill>
          <a:ln w="12700">
            <a:solidFill>
              <a:srgbClr val="D5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0"/>
          <p:cNvSpPr txBox="1"/>
          <p:nvPr/>
        </p:nvSpPr>
        <p:spPr>
          <a:xfrm>
            <a:off x="4251960" y="35204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Integrity</a:t>
            </a:r>
            <a:endParaRPr lang="en-US" sz="1400" dirty="0"/>
          </a:p>
        </p:txBody>
      </p:sp>
      <p:sp>
        <p:nvSpPr>
          <p:cNvPr id="51" name="Shape 41"/>
          <p:cNvSpPr/>
          <p:nvPr/>
        </p:nvSpPr>
        <p:spPr>
          <a:xfrm>
            <a:off x="4251960" y="3886200"/>
            <a:ext cx="3611880" cy="16916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2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4087368"/>
            <a:ext cx="274320" cy="274320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4818888" y="399592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 bar axes start at zero, with no dual axes?</a:t>
            </a:r>
            <a:endParaRPr lang="en-US" sz="1300" dirty="0"/>
          </a:p>
        </p:txBody>
      </p:sp>
      <p:pic>
        <p:nvPicPr>
          <p:cNvPr id="54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4837176"/>
            <a:ext cx="274320" cy="274320"/>
          </a:xfrm>
          <a:prstGeom prst="rect">
            <a:avLst/>
          </a:prstGeom>
        </p:spPr>
      </p:pic>
      <p:sp>
        <p:nvSpPr>
          <p:cNvPr id="55" name="Text 43"/>
          <p:cNvSpPr txBox="1"/>
          <p:nvPr/>
        </p:nvSpPr>
        <p:spPr>
          <a:xfrm>
            <a:off x="4818888" y="474573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Does every key number have a benchmark?</a:t>
            </a:r>
            <a:endParaRPr lang="en-US" sz="1300" dirty="0"/>
          </a:p>
        </p:txBody>
      </p:sp>
      <p:sp>
        <p:nvSpPr>
          <p:cNvPr id="56" name="Shape 44"/>
          <p:cNvSpPr/>
          <p:nvPr/>
        </p:nvSpPr>
        <p:spPr>
          <a:xfrm>
            <a:off x="8046720" y="3520440"/>
            <a:ext cx="3611880" cy="365760"/>
          </a:xfrm>
          <a:prstGeom prst="rect">
            <a:avLst/>
          </a:prstGeom>
          <a:solidFill>
            <a:srgbClr val="156664"/>
          </a:solidFill>
          <a:ln w="12700">
            <a:solidFill>
              <a:srgbClr val="156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45"/>
          <p:cNvSpPr txBox="1"/>
          <p:nvPr/>
        </p:nvSpPr>
        <p:spPr>
          <a:xfrm>
            <a:off x="8046720" y="35204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Consistency &amp; access</a:t>
            </a:r>
            <a:endParaRPr lang="en-US" sz="1400" dirty="0"/>
          </a:p>
        </p:txBody>
      </p:sp>
      <p:sp>
        <p:nvSpPr>
          <p:cNvPr id="58" name="Shape 46"/>
          <p:cNvSpPr/>
          <p:nvPr/>
        </p:nvSpPr>
        <p:spPr>
          <a:xfrm>
            <a:off x="8046720" y="3886200"/>
            <a:ext cx="3611880" cy="16916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9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4087368"/>
            <a:ext cx="274320" cy="274320"/>
          </a:xfrm>
          <a:prstGeom prst="rect">
            <a:avLst/>
          </a:prstGeom>
        </p:spPr>
      </p:pic>
      <p:sp>
        <p:nvSpPr>
          <p:cNvPr id="60" name="Text 47"/>
          <p:cNvSpPr txBox="1"/>
          <p:nvPr/>
        </p:nvSpPr>
        <p:spPr>
          <a:xfrm>
            <a:off x="8613648" y="399592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Same colors, order and scales across views?</a:t>
            </a:r>
            <a:endParaRPr lang="en-US" sz="1300" dirty="0"/>
          </a:p>
        </p:txBody>
      </p:sp>
      <p:pic>
        <p:nvPicPr>
          <p:cNvPr id="61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4837176"/>
            <a:ext cx="274320" cy="274320"/>
          </a:xfrm>
          <a:prstGeom prst="rect">
            <a:avLst/>
          </a:prstGeom>
        </p:spPr>
      </p:pic>
      <p:sp>
        <p:nvSpPr>
          <p:cNvPr id="62" name="Text 48"/>
          <p:cNvSpPr txBox="1"/>
          <p:nvPr/>
        </p:nvSpPr>
        <p:spPr>
          <a:xfrm>
            <a:off x="8613648" y="474573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Readable without color; text ≥ 4.5:1, marks ≥ 3:1?</a:t>
            </a:r>
            <a:endParaRPr lang="en-US" sz="1300" dirty="0"/>
          </a:p>
        </p:txBody>
      </p:sp>
      <p:sp>
        <p:nvSpPr>
          <p:cNvPr id="63" name="Shape 49"/>
          <p:cNvSpPr/>
          <p:nvPr/>
        </p:nvSpPr>
        <p:spPr>
          <a:xfrm>
            <a:off x="2651760" y="5760720"/>
            <a:ext cx="6858000" cy="411480"/>
          </a:xfrm>
          <a:prstGeom prst="rect">
            <a:avLst/>
          </a:prstGeom>
          <a:solidFill>
            <a:srgbClr val="121131"/>
          </a:solidFill>
          <a:ln w="12700">
            <a:solidFill>
              <a:srgbClr val="1211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50"/>
          <p:cNvSpPr txBox="1"/>
          <p:nvPr/>
        </p:nvSpPr>
        <p:spPr>
          <a:xfrm>
            <a:off x="2651760" y="5760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Right chart  +  clear design  +  honest scale  =  effective visualization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22960" y="6382512"/>
            <a:ext cx="10058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8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Foundations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444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676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Chart type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208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3528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972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292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Clarity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736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7056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Integrity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50096" y="6327648"/>
            <a:ext cx="109728" cy="109728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3820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Access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789920" y="6291072"/>
            <a:ext cx="182880" cy="182880"/>
          </a:xfrm>
          <a:prstGeom prst="ellipse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0058400" y="6473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Wrap-up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384280" y="6245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18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56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7.2 Sources consulted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57200" y="1280160"/>
            <a:ext cx="5440680" cy="365760"/>
          </a:xfrm>
          <a:prstGeom prst="rect">
            <a:avLst/>
          </a:prstGeom>
          <a:solidFill>
            <a:srgbClr val="1257A1"/>
          </a:solidFill>
          <a:ln w="12700">
            <a:solidFill>
              <a:srgbClr val="125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57200" y="128016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BI tools &amp; chart selection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1645920"/>
            <a:ext cx="5440680" cy="4315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594360" y="17373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173736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Microsoft Learn</a:t>
            </a:r>
            <a:endParaRPr lang="en-US" sz="1200" dirty="0"/>
          </a:p>
          <a:p>
            <a:pPr marL="0" indent="0">
              <a:buNone/>
            </a:pPr>
            <a:r>
              <a:rPr lang="en-US" sz="1200" u="sng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  <a:hlinkClick r:id="rId3" tooltip="https://learn.microsoft.com/en-us/power-bi/create-reports/service-dashboards-design-t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Tips for designing a great Power BI dashboard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2265883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" y="2265883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Microsoft Learn</a:t>
            </a:r>
            <a:endParaRPr lang="en-US" sz="1200" dirty="0"/>
          </a:p>
          <a:p>
            <a:pPr marL="0" indent="0">
              <a:buNone/>
            </a:pPr>
            <a:r>
              <a:rPr lang="en-US" sz="1200" u="sng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  <a:hlinkClick r:id="rId4" tooltip="https://learn.microsoft.com/en-us/power-bi/create-reports/desktop-accessibility-creating-repor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 Power BI reports for accessibility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279440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" y="2794406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Tableau Help</a:t>
            </a:r>
            <a:endParaRPr lang="en-US" sz="1200" dirty="0"/>
          </a:p>
          <a:p>
            <a:pPr marL="0" indent="0">
              <a:buNone/>
            </a:pPr>
            <a:r>
              <a:rPr lang="en-US" sz="1200" u="sng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  <a:hlinkClick r:id="rId5" tooltip="https://help.tableau.com/current/pro/desktop/en-us/visual_best_practices.ht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Visual best practices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332293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14400" y="332293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Financial Times</a:t>
            </a:r>
            <a:endParaRPr lang="en-US" sz="1200" dirty="0"/>
          </a:p>
          <a:p>
            <a:pPr marL="0" indent="0">
              <a:buNone/>
            </a:pPr>
            <a:r>
              <a:rPr lang="en-US" sz="1200" u="sng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  <a:hlinkClick r:id="rId6" tooltip="https://github.com/Financial-Times/chart-doctor/tree/main/visual-vocabula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Visual Vocabulary (Chart Doctor)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94360" y="3851453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14400" y="3851453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data.europa.eu</a:t>
            </a:r>
            <a:endParaRPr lang="en-US" sz="1200" dirty="0"/>
          </a:p>
          <a:p>
            <a:pPr marL="0" indent="0">
              <a:buNone/>
            </a:pPr>
            <a:r>
              <a:rPr lang="en-US" sz="1200" u="sng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  <a:hlinkClick r:id="rId7" tooltip="https://data.europa.eu/apps/data-visualisation-guide/choosing-charts-the-messag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visualisation guide: choosing charts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94360" y="437997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914400" y="4379976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ONS Service Manual</a:t>
            </a:r>
            <a:endParaRPr lang="en-US" sz="1200" dirty="0"/>
          </a:p>
          <a:p>
            <a:pPr marL="0" indent="0">
              <a:buNone/>
            </a:pPr>
            <a:r>
              <a:rPr lang="en-US" sz="1200" u="sng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  <a:hlinkClick r:id="rId8" tooltip="https://service-manual.ons.gov.uk/data-visualisation/guidance/principl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visualisation: principles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94360" y="4908499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14400" y="4908499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ONS Service Manual</a:t>
            </a:r>
            <a:endParaRPr lang="en-US" sz="1200" dirty="0"/>
          </a:p>
          <a:p>
            <a:pPr marL="0" indent="0">
              <a:buNone/>
            </a:pPr>
            <a:r>
              <a:rPr lang="en-US" sz="1200" u="sng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  <a:hlinkClick r:id="rId9" tooltip="https://service-manual.ons.gov.uk/data-visualisation/guidance/axes-and-gridlin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Axes and gridlines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94360" y="543702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8.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914400" y="5437022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ONS Service Manual</a:t>
            </a:r>
            <a:endParaRPr lang="en-US" sz="1200" dirty="0"/>
          </a:p>
          <a:p>
            <a:pPr marL="0" indent="0">
              <a:buNone/>
            </a:pPr>
            <a:r>
              <a:rPr lang="en-US" sz="1200" u="sng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  <a:hlinkClick r:id="rId10" tooltip="https://service-manual.ons.gov.uk/data-visualisation/guidance/chart-tex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Chart text (titles, labels)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172200" y="1280160"/>
            <a:ext cx="5440680" cy="365760"/>
          </a:xfrm>
          <a:prstGeom prst="rect">
            <a:avLst/>
          </a:prstGeom>
          <a:solidFill>
            <a:srgbClr val="D51B24"/>
          </a:solidFill>
          <a:ln w="12700">
            <a:solidFill>
              <a:srgbClr val="D51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6172200" y="128016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Color, accessibility &amp; notation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172200" y="1645920"/>
            <a:ext cx="5440680" cy="4315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6309360" y="17373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9.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629400" y="173736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ONS Service Manual</a:t>
            </a:r>
            <a:endParaRPr lang="en-US" sz="1200" dirty="0"/>
          </a:p>
          <a:p>
            <a:pPr marL="0" indent="0">
              <a:buNone/>
            </a:pPr>
            <a:r>
              <a:rPr lang="en-US" sz="1200" u="sng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  <a:hlinkClick r:id="rId11" tooltip="https://service-manual.ons.gov.uk/data-visualisation/colours/using-colours-in-char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Using colours in charts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309360" y="2265883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10.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629400" y="2265883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W3C WAI</a:t>
            </a:r>
            <a:endParaRPr lang="en-US" sz="1200" dirty="0"/>
          </a:p>
          <a:p>
            <a:pPr marL="0" indent="0">
              <a:buNone/>
            </a:pPr>
            <a:r>
              <a:rPr lang="en-US" sz="1200" u="sng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  <a:hlinkClick r:id="rId12" tooltip="https://www.w3.org/WAI/WCAG22/Understanding/non-text-contrast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WCAG 2.2: Non-text contrast (1.4.11)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309360" y="279440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11.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6629400" y="2794406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W3C WAI</a:t>
            </a:r>
            <a:endParaRPr lang="en-US" sz="1200" dirty="0"/>
          </a:p>
          <a:p>
            <a:pPr marL="0" indent="0">
              <a:buNone/>
            </a:pPr>
            <a:r>
              <a:rPr lang="en-US" sz="1200" u="sng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  <a:hlinkClick r:id="rId13" tooltip="https://www.w3.org/WAI/WCAG22/Understanding/use-of-color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WCAG 2.2: Use of color (1.4.1)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6309360" y="332293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12.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629400" y="332293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ColorBrewer 2.0</a:t>
            </a:r>
            <a:endParaRPr lang="en-US" sz="1200" dirty="0"/>
          </a:p>
          <a:p>
            <a:pPr marL="0" indent="0">
              <a:buNone/>
            </a:pPr>
            <a:r>
              <a:rPr lang="en-US" sz="1200" u="sng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  <a:hlinkClick r:id="rId14" tooltip="https://colorbrewer2.org/learnmore/schemes_full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Sequential, diverging &amp; qualitative schemes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309360" y="3851453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13.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6629400" y="3851453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Datawrapper</a:t>
            </a:r>
            <a:endParaRPr lang="en-US" sz="1200" dirty="0"/>
          </a:p>
          <a:p>
            <a:pPr marL="0" indent="0">
              <a:buNone/>
            </a:pPr>
            <a:r>
              <a:rPr lang="en-US" sz="1200" u="sng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  <a:hlinkClick r:id="rId15" tooltip="https://www.datawrapper.de/blog/colors-for-data-vis-style-guid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Colors for data vis style guides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6309360" y="437997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14.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6629400" y="4379976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Nielsen Norman Group</a:t>
            </a:r>
            <a:endParaRPr lang="en-US" sz="1200" dirty="0"/>
          </a:p>
          <a:p>
            <a:pPr marL="0" indent="0">
              <a:buNone/>
            </a:pPr>
            <a:r>
              <a:rPr lang="en-US" sz="1200" u="sng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  <a:hlinkClick r:id="rId16" tooltip="https://www.nngroup.com/articles/choosing-chart-types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Choosing chart types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6309360" y="4908499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15.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6629400" y="4908499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Stephen Few, Perceptual Edge</a:t>
            </a:r>
            <a:endParaRPr lang="en-US" sz="1200" dirty="0"/>
          </a:p>
          <a:p>
            <a:pPr marL="0" indent="0">
              <a:buNone/>
            </a:pPr>
            <a:r>
              <a:rPr lang="en-US" sz="1200" u="sng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  <a:hlinkClick r:id="rId17" tooltip="https://www.perceptualedge.com/articles/ie/visual_perception.pdf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Tapping the power of visual perception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6309360" y="543702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211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16.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6629400" y="5437022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IBCS Association</a:t>
            </a:r>
            <a:endParaRPr lang="en-US" sz="1200" dirty="0"/>
          </a:p>
          <a:p>
            <a:pPr marL="0" indent="0">
              <a:buNone/>
            </a:pPr>
            <a:r>
              <a:rPr lang="en-US" sz="1200" u="sng" dirty="0">
                <a:solidFill>
                  <a:srgbClr val="1257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  <a:hlinkClick r:id="rId18" tooltip="https://ibcs.com/standards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IBCS Standards 2.0 (business notation)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457200" y="599846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F7F7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All links accessed October 2026. Click a title to open the page.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alatino Linotyp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alatino Linotyp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2869</Words>
  <Application>Microsoft Macintosh PowerPoint</Application>
  <PresentationFormat>Widescreen</PresentationFormat>
  <Paragraphs>461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Palatino Linotype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Visualization Tips</dc:title>
  <dc:subject>PptxGenJS Presentation</dc:subject>
  <dc:creator>Cindy</dc:creator>
  <cp:lastModifiedBy>Cindy Liu</cp:lastModifiedBy>
  <cp:revision>9</cp:revision>
  <dcterms:created xsi:type="dcterms:W3CDTF">2026-10-10T23:30:15Z</dcterms:created>
  <dcterms:modified xsi:type="dcterms:W3CDTF">2026-10-12T02:33:38Z</dcterms:modified>
</cp:coreProperties>
</file>