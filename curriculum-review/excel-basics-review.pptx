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21" r:id="rId62"/>
    <p:sldId id="322" r:id="rId63"/>
    <p:sldId id="323" r:id="rId64"/>
    <p:sldId id="326" r:id="rId65"/>
    <p:sldId id="327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8" r:id="rId74"/>
    <p:sldId id="339" r:id="rId75"/>
    <p:sldId id="340" r:id="rId76"/>
    <p:sldId id="341" r:id="rId77"/>
    <p:sldId id="342" r:id="rId78"/>
    <p:sldId id="343" r:id="rId79"/>
    <p:sldId id="346" r:id="rId80"/>
    <p:sldId id="347" r:id="rId81"/>
    <p:sldId id="348" r:id="rId82"/>
    <p:sldId id="349" r:id="rId83"/>
    <p:sldId id="350" r:id="rId84"/>
    <p:sldId id="351" r:id="rId8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27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11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pic>
        <p:nvPicPr>
          <p:cNvPr id="3" name="Image 0" descr="/home/claude/work/tpl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6425527"/>
            <a:ext cx="2560320" cy="389457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96128" cy="6858000"/>
          </a:xfrm>
          <a:prstGeom prst="rect">
            <a:avLst/>
          </a:prstGeom>
          <a:solidFill>
            <a:srgbClr val="ED1B2F"/>
          </a:solidFill>
          <a:ln w="12700">
            <a:solidFill>
              <a:srgbClr val="ED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96128" y="6382512"/>
            <a:ext cx="6595567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pic>
        <p:nvPicPr>
          <p:cNvPr id="4" name="Image 0" descr="/home/claude/work/tpl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6425527"/>
            <a:ext cx="2560320" cy="389457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96128" cy="6858000"/>
          </a:xfrm>
          <a:prstGeom prst="rect">
            <a:avLst/>
          </a:prstGeom>
          <a:solidFill>
            <a:srgbClr val="ED1B2F"/>
          </a:solidFill>
          <a:ln w="12700">
            <a:solidFill>
              <a:srgbClr val="ED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96128" y="6382512"/>
            <a:ext cx="6595567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pic>
        <p:nvPicPr>
          <p:cNvPr id="4" name="Image 0" descr="/home/claude/work/tpl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6425527"/>
            <a:ext cx="2560320" cy="389457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54864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ose-up of a line chart on a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927" y="0"/>
            <a:ext cx="3477768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INSY 442 Data Analysis and Visualization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317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Refresher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 review: MGCR 331 Excel component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605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· Self-review before new content</a:t>
            </a:r>
            <a:endParaRPr lang="en-US" sz="1900" dirty="0"/>
          </a:p>
        </p:txBody>
      </p:sp>
      <p:pic>
        <p:nvPicPr>
          <p:cNvPr id="7" name="Image 1" descr="McGill Desautel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89320"/>
            <a:ext cx="4480560" cy="68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14400" y="548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Review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172200" y="68580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Basic Math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&amp; IF Functions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Statistics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Functions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&amp; Cleaning Data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Clean Models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 &amp; PivotTables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Analysis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Functions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Text Functions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Basic Math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Relative vs. absolute, operators, SUM to SUMPRODUCT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vs. Absolute References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 tells Excel which cell to use. The $ sign decides what stays fixed when you copy the formula.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77440"/>
          <a:ext cx="10789920" cy="1803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type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 when copied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reference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=B2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and row both change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Absolute reference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=$B$2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and row both stay fixed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Absolute column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=$B2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stays fixed; row changes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Absolute row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=B$2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changes; row stays fixed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914400" y="4800600"/>
            <a:ext cx="5486400" cy="9144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allout tail"/>
          <p:cNvSpPr/>
          <p:nvPr/>
        </p:nvSpPr>
        <p:spPr>
          <a:xfrm rot="10800000">
            <a:off x="1325880" y="5705856"/>
            <a:ext cx="365760" cy="20116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9728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Shortcut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Press F4 (Windows) or ⌘T (Mac) while editing a reference to cycle through $ options.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References: Lock One Direction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914400" y="1691640"/>
            <a:ext cx="52120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=$B2  →  column locked</a:t>
            </a:r>
            <a:endParaRPr lang="en-US" sz="22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=$B2 in E10, copy down one row → E11 shows =$B3.</a:t>
            </a:r>
            <a:endParaRPr lang="en-US" sz="22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E10:E11 to the right: every column still points at column B.</a:t>
            </a:r>
            <a:endParaRPr lang="en-US" sz="2200" dirty="0"/>
          </a:p>
        </p:txBody>
      </p:sp>
      <p:sp>
        <p:nvSpPr>
          <p:cNvPr id="5" name="card"/>
          <p:cNvSpPr/>
          <p:nvPr/>
        </p:nvSpPr>
        <p:spPr>
          <a:xfrm>
            <a:off x="6492240" y="1691640"/>
            <a:ext cx="52120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675120" y="18288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=B$2  →  row locked</a:t>
            </a:r>
            <a:endParaRPr lang="en-US" sz="22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=B$2 in B7, copy right and down.</a:t>
            </a:r>
            <a:endParaRPr lang="en-US" sz="22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still points at row 2; only the column letter changes.</a:t>
            </a:r>
            <a:endParaRPr lang="en-US" sz="2200" dirty="0"/>
          </a:p>
        </p:txBody>
      </p:sp>
      <p:sp>
        <p:nvSpPr>
          <p:cNvPr id="7" name="callout"/>
          <p:cNvSpPr/>
          <p:nvPr/>
        </p:nvSpPr>
        <p:spPr>
          <a:xfrm>
            <a:off x="914400" y="4800600"/>
            <a:ext cx="10789920" cy="960120"/>
          </a:xfrm>
          <a:prstGeom prst="roundRect">
            <a:avLst>
              <a:gd name="adj" fmla="val 1714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allout tail"/>
          <p:cNvSpPr/>
          <p:nvPr/>
        </p:nvSpPr>
        <p:spPr>
          <a:xfrm rot="10800000">
            <a:off x="1325880" y="5751576"/>
            <a:ext cx="365760" cy="20116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Memory tip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Whatever sits right after the $ stays put. $B2: B stays, the number moves. B$2: 2 stays, the letter moves.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Order Quantity × Price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grid of order cost = quantity × price for each year.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quantity: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column B, let rows change → </a:t>
            </a: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$B3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row 2, let columns change → </a:t>
            </a: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C$2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in C3: </a:t>
            </a: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=$B3*C$2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once, then drag across and down. Every cell stays correct.</a:t>
            </a:r>
            <a:endParaRPr lang="en-US" sz="2000" dirty="0"/>
          </a:p>
        </p:txBody>
      </p:sp>
      <p:pic>
        <p:nvPicPr>
          <p:cNvPr id="4" name="image104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75605"/>
            <a:ext cx="6263640" cy="2034345"/>
          </a:xfrm>
          <a:prstGeom prst="rect">
            <a:avLst/>
          </a:prstGeom>
        </p:spPr>
      </p:pic>
      <p:pic>
        <p:nvPicPr>
          <p:cNvPr id="5" name="image36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938549"/>
            <a:ext cx="6263640" cy="21125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Math Operators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789920" cy="2524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=3+3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Subtraction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=5-1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=5/1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Multiplication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=5*5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^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Exponentiation (5²)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=5^2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Parentheses set the order of operations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=5*(2+3)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Math Functions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are predefined formulas. Type = then the function name, then its arguments in parentheses.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31720"/>
          <a:ext cx="10789920" cy="2072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Arguments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least one number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=SUM(2,3,2,6)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Multiplication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least one number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=PRODUCT(2,3)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SQRT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 root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number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=SQRT(4)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raised to a power (e²)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number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=EXP(2)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7.3891…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log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number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=LN(10)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2.3025…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SUMPRODUCT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=SUMPRODUCT(array1, [array2], [array3], …)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45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Multiplies matching items in ranges of equal size, then adds up the products.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=SUMPRODUCT({2,3,4},{10,20,5})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× 10) + (3 × 20) + (4 × 5) = 100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use: total cost = Σ (quantity × unit price) without a helper column.</a:t>
            </a:r>
            <a:endParaRPr lang="en-US" sz="2000" dirty="0"/>
          </a:p>
        </p:txBody>
      </p:sp>
      <p:pic>
        <p:nvPicPr>
          <p:cNvPr id="5" name="image11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75" y="1614668"/>
            <a:ext cx="4507724" cy="2035260"/>
          </a:xfrm>
          <a:prstGeom prst="rect">
            <a:avLst/>
          </a:prstGeom>
        </p:spPr>
      </p:pic>
      <p:pic>
        <p:nvPicPr>
          <p:cNvPr id="6" name="image35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75" y="3968265"/>
            <a:ext cx="4507724" cy="17561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&amp; IF Functions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Comparisons, AND / OR, IF and nested IF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Statements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logical statement compares two values and returns TRUE or FALSE.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put math on either side: </a:t>
            </a: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=5*5&gt;20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TRUE, because Excel first works out 5 × 5 = 25.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49240" cy="15036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statement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=37=40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=37&lt;40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=37&gt;40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</a:t>
            </a:r>
            <a:endParaRPr lang="en-US" sz="4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789920" cy="2524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Equal 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=7=3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than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=5&gt;3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than or equal 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=3&gt;=3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 than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=6&lt;3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 than or equal 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=7&lt;=7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&lt;&gt;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equal 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=7&lt;&gt;8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and OR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914400" y="1645920"/>
            <a:ext cx="5212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AND(logical1, [logical2], …)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only if all statements are true.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6492240" y="1645920"/>
            <a:ext cx="5212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675120" y="1783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OR(logical1, [logical2], …)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if any statement is true.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5212080" cy="990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=AND(3=3, 2&lt;8)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=OR(3&gt;=5, 7&lt;=1)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image6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46120"/>
            <a:ext cx="5212080" cy="15625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Did each sales agent beat the target for every product?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=IF(logical_test, [value_if_true], [value_if_false])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48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you choose the output for each case: one result if the test is TRUE, another if it is FALSE.</a:t>
            </a:r>
            <a:endParaRPr lang="en-US" sz="2000" dirty="0"/>
          </a:p>
        </p:txBody>
      </p:sp>
      <p:pic>
        <p:nvPicPr>
          <p:cNvPr id="5" name="image1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52689"/>
            <a:ext cx="2377440" cy="12098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38328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Press Enter →</a:t>
            </a:r>
            <a:endParaRPr lang="en-US" sz="1500" dirty="0"/>
          </a:p>
        </p:txBody>
      </p:sp>
      <p:pic>
        <p:nvPicPr>
          <p:cNvPr id="7" name="image117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63240"/>
            <a:ext cx="2377440" cy="1188720"/>
          </a:xfrm>
          <a:prstGeom prst="rect">
            <a:avLst/>
          </a:prstGeom>
        </p:spPr>
      </p:pic>
      <p:pic>
        <p:nvPicPr>
          <p:cNvPr id="8" name="image15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487591"/>
            <a:ext cx="4206240" cy="19859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4400" y="4572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</a:rPr>
              <a:t>IF returns 1 because 37 &lt; 40 is TRUE.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IF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an IF inside the value_if_false of another IF to handle three or more outcomes.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checks the tests in order and stops at the first TRUE.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=IF(D&gt;=5,"Gold", IF(D&gt;=4.25,"Silver", IF(D&gt;=3.5,"Bronze","No award")))</a:t>
            </a:r>
            <a:endParaRPr lang="en-US" sz="2000" dirty="0"/>
          </a:p>
        </p:txBody>
      </p:sp>
      <p:pic>
        <p:nvPicPr>
          <p:cNvPr id="4" name="image10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17" y="957811"/>
            <a:ext cx="3967966" cy="1910275"/>
          </a:xfrm>
          <a:prstGeom prst="rect">
            <a:avLst/>
          </a:prstGeom>
        </p:spPr>
      </p:pic>
      <p:pic>
        <p:nvPicPr>
          <p:cNvPr id="5" name="image69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517" y="3128058"/>
            <a:ext cx="3967966" cy="247118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IF: Examples</a:t>
            </a:r>
            <a:endParaRPr lang="en-US" sz="4000" dirty="0"/>
          </a:p>
        </p:txBody>
      </p:sp>
      <p:pic>
        <p:nvPicPr>
          <p:cNvPr id="3" name="image9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655" y="1531445"/>
            <a:ext cx="8615411" cy="2222975"/>
          </a:xfrm>
          <a:prstGeom prst="rect">
            <a:avLst/>
          </a:prstGeom>
        </p:spPr>
      </p:pic>
      <p:pic>
        <p:nvPicPr>
          <p:cNvPr id="4" name="image110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655" y="3983020"/>
            <a:ext cx="8615411" cy="22122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Statistics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Range, central tendency, spread, relationships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the Range of the Data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914400" y="1645920"/>
            <a:ext cx="2468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COUNT(value1, …)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cells that contain numbers.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3520440" y="1645920"/>
            <a:ext cx="2468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703320" y="17830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COUNTA(value1, …)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all non-blank cells, numeric or not.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914400" y="3886200"/>
            <a:ext cx="2468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40233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MIN(number1, …)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smallest number.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520440" y="3886200"/>
            <a:ext cx="2468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703320" y="40233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MAX(number1, …)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largest number.</a:t>
            </a:r>
            <a:endParaRPr lang="en-US" sz="1400" dirty="0"/>
          </a:p>
        </p:txBody>
      </p:sp>
      <p:pic>
        <p:nvPicPr>
          <p:cNvPr id="11" name="image14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57354"/>
            <a:ext cx="5349240" cy="24748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LARGE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SMALL(array, k)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kth smallest value. k = 1 gives the minimum, k = 2 the second smallest.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LARGE(array, k)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kth largest value. k = 1 gives the maximum.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find the top three sales weeks for Products A and B.</a:t>
            </a:r>
            <a:endParaRPr lang="en-US" sz="2000" dirty="0"/>
          </a:p>
        </p:txBody>
      </p:sp>
      <p:pic>
        <p:nvPicPr>
          <p:cNvPr id="4" name="image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10762"/>
            <a:ext cx="5349240" cy="17051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RANK.EQ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RANK.EQ(number, ref, [order])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rank of a number within a list.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order: 0 or omitted = descending (default); 1 = ascending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MIN, MAX, SMALL, LARGE: give the value at a rank.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RANK.EQ: gives the rank of a value.</a:t>
            </a:r>
            <a:endParaRPr lang="en-US" sz="2000" dirty="0"/>
          </a:p>
        </p:txBody>
      </p:sp>
      <p:pic>
        <p:nvPicPr>
          <p:cNvPr id="4" name="image13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98317"/>
            <a:ext cx="5349240" cy="25300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RANK.EQ vs. RANK.AVG: Handling Ties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 and Angela are tied for second place. How do they get ranked?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914400" y="2286000"/>
            <a:ext cx="52120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24231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RANK.EQ (most common)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rank for everyone in a tie.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 = 2, Angela = 2, and nobody gets 3.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6492240" y="2286000"/>
            <a:ext cx="52120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24231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RANK.AVG (less common)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rank for everyone in a tie.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 = 2.5, Angela = 2.5.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Tendency: AVERAGE and MEDIAN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AVERAGE(number1, …)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mean of the numbers.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MEDIAN(number1, …)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value: half the observations are lower, half are higher.</a:t>
            </a:r>
            <a:endParaRPr lang="en-US" sz="2000" dirty="0"/>
          </a:p>
        </p:txBody>
      </p:sp>
      <p:pic>
        <p:nvPicPr>
          <p:cNvPr id="4" name="image4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424" y="1952607"/>
            <a:ext cx="5715000" cy="20621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Spread: VAR.S and STDEV.S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VAR.S(number1, …)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of a sample.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STDEV.S(number1, …)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 of a sample.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Sample-based. Each has a population version ending in .P (VAR.P, STDEV.P).</a:t>
            </a:r>
            <a:endParaRPr lang="en-US" sz="2000" dirty="0"/>
          </a:p>
        </p:txBody>
      </p:sp>
      <p:pic>
        <p:nvPicPr>
          <p:cNvPr id="4" name="image7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80432"/>
            <a:ext cx="3840480" cy="554736"/>
          </a:xfrm>
          <a:prstGeom prst="rect">
            <a:avLst/>
          </a:prstGeom>
        </p:spPr>
      </p:pic>
      <p:pic>
        <p:nvPicPr>
          <p:cNvPr id="5" name="image1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814384"/>
            <a:ext cx="5715000" cy="20979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COVARIANCE.S and CORREL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COVARIANCE.S(array1, array2)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two variables move together. Hard to interpret: its units depend on both variables.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CORREL(array1, array2)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on a fixed −1 to +1 scale with no units, so it is easier to compare.</a:t>
            </a:r>
            <a:endParaRPr lang="en-US" sz="2000" dirty="0"/>
          </a:p>
        </p:txBody>
      </p:sp>
      <p:pic>
        <p:nvPicPr>
          <p:cNvPr id="4" name="image13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02086"/>
            <a:ext cx="5349240" cy="19225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Functions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COUNTIF(S), SUMIF(S), AVERAGEIF(S)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COUNTIF(range, criteria)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counts cells in a range that meet one condition.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test is "equal to" (e.g., = 5 or = A6). Inequalities work too, e.g. "&gt;=30".</a:t>
            </a:r>
            <a:endParaRPr lang="en-US" sz="2000" dirty="0"/>
          </a:p>
        </p:txBody>
      </p:sp>
      <p:pic>
        <p:nvPicPr>
          <p:cNvPr id="4" name="image86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57254"/>
            <a:ext cx="4992368" cy="2109451"/>
          </a:xfrm>
          <a:prstGeom prst="rect">
            <a:avLst/>
          </a:prstGeom>
        </p:spPr>
      </p:pic>
      <p:pic>
        <p:nvPicPr>
          <p:cNvPr id="5" name="image62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368" y="3357254"/>
            <a:ext cx="5568952" cy="21094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COUNTIFS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COUNTIFS(criteria_range1, criteria1, [criteria_range2, criteria2], …)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cells that meet all conditions. Every criteria range must be the same length.</a:t>
            </a:r>
            <a:endParaRPr lang="en-US" sz="2000" dirty="0"/>
          </a:p>
        </p:txBody>
      </p:sp>
      <p:pic>
        <p:nvPicPr>
          <p:cNvPr id="4" name="image37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095" y="2467434"/>
            <a:ext cx="10152529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SUMIF(range, criteria, [sum_range])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sums cells that meet one condition.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two arguments, it sums the matching cells in range itself.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sum_range, it tests one column and sums a different one.</a:t>
            </a:r>
            <a:endParaRPr lang="en-US" sz="2000" dirty="0"/>
          </a:p>
        </p:txBody>
      </p:sp>
      <p:pic>
        <p:nvPicPr>
          <p:cNvPr id="4" name="image134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60113"/>
            <a:ext cx="5224632" cy="2115065"/>
          </a:xfrm>
          <a:prstGeom prst="rect">
            <a:avLst/>
          </a:prstGeom>
        </p:spPr>
      </p:pic>
      <p:pic>
        <p:nvPicPr>
          <p:cNvPr id="5" name="image46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632" y="3260113"/>
            <a:ext cx="5336688" cy="21150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SUMIFS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SUMIFS(sum_range, criteria_range1, criteria1, …)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sum_range comes first!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total revenue from male customers aged 35 or older.</a:t>
            </a:r>
            <a:endParaRPr lang="en-US" sz="2000" dirty="0"/>
          </a:p>
        </p:txBody>
      </p:sp>
      <p:pic>
        <p:nvPicPr>
          <p:cNvPr id="4" name="image10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86" y="2467723"/>
            <a:ext cx="10150748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AVERAGEIF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AVERAGEIF(range, criteria, [average_range])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cells that meet one condition. Like SUMIF, average_range lets you test one column and average another.</a:t>
            </a:r>
            <a:endParaRPr lang="en-US" sz="2000" dirty="0"/>
          </a:p>
        </p:txBody>
      </p:sp>
      <p:pic>
        <p:nvPicPr>
          <p:cNvPr id="4" name="image1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32790"/>
            <a:ext cx="5131335" cy="2049819"/>
          </a:xfrm>
          <a:prstGeom prst="rect">
            <a:avLst/>
          </a:prstGeom>
        </p:spPr>
      </p:pic>
      <p:pic>
        <p:nvPicPr>
          <p:cNvPr id="5" name="image127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335" y="3432790"/>
            <a:ext cx="5429985" cy="20498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AVERAGEIFS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AVERAGEIFS(average_range, criteria_range1, criteria1, …)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values that meet all conditions. Criteria ranges must be the same length.</a:t>
            </a:r>
            <a:endParaRPr lang="en-US" sz="2000" dirty="0"/>
          </a:p>
        </p:txBody>
      </p:sp>
      <p:pic>
        <p:nvPicPr>
          <p:cNvPr id="4" name="image65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80" y="2453832"/>
            <a:ext cx="1044596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Argument Order</a:t>
            </a:r>
            <a:endParaRPr lang="en-US" sz="4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789920" cy="13208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condition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conditions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COUNTIF(range, criteria)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COUNTIFS(range1, crit1, range2, crit2, …)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SUMIF(range, criteria, [sum_range])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SUMIFS(sum_range, range1, crit1, …)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AVERAGEIF(range, criteria, [avg_range])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AVERAGEIFS(avg_range, range1, crit1, …)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allout"/>
          <p:cNvSpPr/>
          <p:nvPr/>
        </p:nvSpPr>
        <p:spPr>
          <a:xfrm>
            <a:off x="914400" y="4297680"/>
            <a:ext cx="6400800" cy="9144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allout tail"/>
          <p:cNvSpPr/>
          <p:nvPr/>
        </p:nvSpPr>
        <p:spPr>
          <a:xfrm rot="10800000">
            <a:off x="1325880" y="5202936"/>
            <a:ext cx="365760" cy="20116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097280" y="43891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Common mistake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In the -IFS versions the range you add up or average moves to the front.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&amp; Cleaning Data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Power Query, layout tools, and cleanup functions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(Get &amp; Transform)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or connect to external data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the data: remove columns, change data types, merge tables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query into Excel for charts and reports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periodically to keep data up to date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=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Extract, Transform, Load</a:t>
            </a:r>
            <a:endParaRPr lang="en-US" sz="2000" dirty="0"/>
          </a:p>
        </p:txBody>
      </p:sp>
      <p:pic>
        <p:nvPicPr>
          <p:cNvPr id="4" name="image55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66464"/>
            <a:ext cx="5897880" cy="3593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Panes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headers visible while you scroll through long or wide data.</a:t>
            </a:r>
            <a:endParaRPr lang="en-US" sz="2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40280"/>
          <a:ext cx="10789920" cy="19710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Freeze top row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→ Freeze Panes → Freeze Top Row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Freeze first two columns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column C → View → Freeze Panes → Freeze Panes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Freeze rows and columns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the cell below the rows and right of the columns to keep → View → Freeze Panes → Freeze Panes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Unfreeze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→ Freeze Panes → Unfreeze Panes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Formatting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patterns and trends in your data easier to see.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Conditional Formatting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Cells Rules: greater than, between, duplicates…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Top/Bottom Rules: top 10, above average…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Bars, Color Scales, Icon Sets</a:t>
            </a:r>
            <a:endParaRPr lang="en-US" sz="2000" dirty="0"/>
          </a:p>
        </p:txBody>
      </p:sp>
      <p:pic>
        <p:nvPicPr>
          <p:cNvPr id="4" name="image43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487" y="1549601"/>
            <a:ext cx="3388905" cy="2190109"/>
          </a:xfrm>
          <a:prstGeom prst="rect">
            <a:avLst/>
          </a:prstGeom>
        </p:spPr>
      </p:pic>
      <p:pic>
        <p:nvPicPr>
          <p:cNvPr id="5" name="image114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487" y="3968310"/>
            <a:ext cx="3388905" cy="22087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Fill and Flash Fill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914400" y="1645920"/>
            <a:ext cx="5212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Fill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cells that follow a pattern: type a few values, then drag the fill handle.</a:t>
            </a:r>
            <a:endParaRPr lang="en-US" sz="19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1, 2 → 3, 4, 5; Jan → Feb → Mar</a:t>
            </a:r>
            <a:endParaRPr lang="en-US" sz="1900" dirty="0"/>
          </a:p>
        </p:txBody>
      </p:sp>
      <p:sp>
        <p:nvSpPr>
          <p:cNvPr id="5" name="card"/>
          <p:cNvSpPr/>
          <p:nvPr/>
        </p:nvSpPr>
        <p:spPr>
          <a:xfrm>
            <a:off x="6492240" y="1645920"/>
            <a:ext cx="52120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675120" y="17830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Fill</a:t>
            </a:r>
            <a:endParaRPr lang="en-US" sz="19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a pattern from an example you type, then fills the rest.</a:t>
            </a:r>
            <a:endParaRPr lang="en-US" sz="19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Shortcut: Ctrl + 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what users can enter in a cell, e.g. a dropdown list.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Data Validation → Allow: List → Source: type the options or point to a range</a:t>
            </a:r>
            <a:endParaRPr lang="en-US" sz="2000" dirty="0"/>
          </a:p>
        </p:txBody>
      </p:sp>
      <p:pic>
        <p:nvPicPr>
          <p:cNvPr id="4" name="image57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0"/>
            <a:ext cx="5365596" cy="2644046"/>
          </a:xfrm>
          <a:prstGeom prst="rect">
            <a:avLst/>
          </a:prstGeom>
        </p:spPr>
      </p:pic>
      <p:pic>
        <p:nvPicPr>
          <p:cNvPr id="5" name="image59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596" y="2743200"/>
            <a:ext cx="5195724" cy="26440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Shortcuts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 few keyboard shortcuts saves a lot of time in INSY 442 labs.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C / X / V: copy, cut, paste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Z: undo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S: save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Arrow: jump to the edge of the data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Mac: use ⌘ in place of Ctrl</a:t>
            </a:r>
            <a:endParaRPr lang="en-US" sz="2000" dirty="0"/>
          </a:p>
        </p:txBody>
      </p:sp>
      <p:pic>
        <p:nvPicPr>
          <p:cNvPr id="4" name="image6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075" y="1371600"/>
            <a:ext cx="4645045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COUNTBLANK and UNIQUE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COUNTBLANK(range)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empty cells. Useful for spotting missing data.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UNIQUE(array, [by_col], [exactly_once])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list of unique values in a range.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exactly_once = TRUE returns values that appear only once.</a:t>
            </a:r>
            <a:endParaRPr lang="en-US" sz="2000" dirty="0"/>
          </a:p>
        </p:txBody>
      </p:sp>
      <p:pic>
        <p:nvPicPr>
          <p:cNvPr id="4" name="image4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13" y="1566552"/>
            <a:ext cx="4032613" cy="1000751"/>
          </a:xfrm>
          <a:prstGeom prst="rect">
            <a:avLst/>
          </a:prstGeom>
        </p:spPr>
      </p:pic>
      <p:pic>
        <p:nvPicPr>
          <p:cNvPr id="5" name="image128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13" y="2795904"/>
            <a:ext cx="4032613" cy="33642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ROUND, ROUNDUP, ROUNDDOWN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ROUND(number, num_digits)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num_digits &gt; 0: round to that many decimal places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num_digits = 0: round to the nearest integer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num_digits &lt; 0: round to the left of the decimal (tens, hundreds…)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ROUNDUP always rounds away from zero; ROUNDDOWN always toward zero.</a:t>
            </a:r>
            <a:endParaRPr lang="en-US" sz="2000" dirty="0"/>
          </a:p>
        </p:txBody>
      </p:sp>
      <p:pic>
        <p:nvPicPr>
          <p:cNvPr id="4" name="image13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851508"/>
            <a:ext cx="5897880" cy="40236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NOT(logical)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reverses TRUE / FALSE. Use it to check that one value is not equal to another.</a:t>
            </a:r>
            <a:endParaRPr lang="en-US" sz="2000" dirty="0"/>
          </a:p>
        </p:txBody>
      </p:sp>
      <p:pic>
        <p:nvPicPr>
          <p:cNvPr id="4" name="image9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81934"/>
            <a:ext cx="10789920" cy="23857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Clean Models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Structure, error messages, IFERROR, named ranges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Strategies to Organize Spreadsheets</a:t>
            </a:r>
            <a:endParaRPr lang="en-US" sz="4000" dirty="0"/>
          </a:p>
        </p:txBody>
      </p:sp>
      <p:sp>
        <p:nvSpPr>
          <p:cNvPr id="3" name="strategy card"/>
          <p:cNvSpPr/>
          <p:nvPr/>
        </p:nvSpPr>
        <p:spPr>
          <a:xfrm>
            <a:off x="914400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430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D1B2F"/>
                </a:solidFill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State inputs &amp; assumptions clearly</a:t>
            </a:r>
            <a:endParaRPr lang="en-US" sz="1800" dirty="0"/>
          </a:p>
        </p:txBody>
      </p:sp>
      <p:sp>
        <p:nvSpPr>
          <p:cNvPr id="6" name="strategy card"/>
          <p:cNvSpPr/>
          <p:nvPr/>
        </p:nvSpPr>
        <p:spPr>
          <a:xfrm>
            <a:off x="3639312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67912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D1B2F"/>
                </a:solidFill>
              </a:rPr>
              <a:t>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867912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Separate model inputs from analysis</a:t>
            </a:r>
            <a:endParaRPr lang="en-US" sz="1800" dirty="0"/>
          </a:p>
        </p:txBody>
      </p:sp>
      <p:sp>
        <p:nvSpPr>
          <p:cNvPr id="9" name="strategy card"/>
          <p:cNvSpPr/>
          <p:nvPr/>
        </p:nvSpPr>
        <p:spPr>
          <a:xfrm>
            <a:off x="6364224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92824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D1B2F"/>
                </a:solidFill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592824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Analyze in easy-to-debug steps</a:t>
            </a:r>
            <a:endParaRPr lang="en-US" sz="1800" dirty="0"/>
          </a:p>
        </p:txBody>
      </p:sp>
      <p:sp>
        <p:nvSpPr>
          <p:cNvPr id="12" name="strategy card"/>
          <p:cNvSpPr/>
          <p:nvPr/>
        </p:nvSpPr>
        <p:spPr>
          <a:xfrm>
            <a:off x="9089136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31773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D1B2F"/>
                </a:solidFill>
              </a:rPr>
              <a:t>4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317736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Lay out the model so others can use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Conceptual Model</a:t>
            </a:r>
            <a:endParaRPr lang="en-US" sz="4000" dirty="0"/>
          </a:p>
        </p:txBody>
      </p:sp>
      <p:sp>
        <p:nvSpPr>
          <p:cNvPr id="3" name="INPUTS box"/>
          <p:cNvSpPr/>
          <p:nvPr/>
        </p:nvSpPr>
        <p:spPr>
          <a:xfrm>
            <a:off x="914400" y="1828800"/>
            <a:ext cx="3108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43000" y="20116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ED1B2F"/>
                </a:solidFill>
              </a:rPr>
              <a:t>INPUTS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All numbers and assumptions go here</a:t>
            </a:r>
            <a:endParaRPr lang="en-US" sz="2400" dirty="0"/>
          </a:p>
        </p:txBody>
      </p:sp>
      <p:sp>
        <p:nvSpPr>
          <p:cNvPr id="5" name="arrow"/>
          <p:cNvSpPr/>
          <p:nvPr/>
        </p:nvSpPr>
        <p:spPr>
          <a:xfrm>
            <a:off x="4114800" y="2697480"/>
            <a:ext cx="457200" cy="365760"/>
          </a:xfrm>
          <a:prstGeom prst="rightArrow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ODEL box"/>
          <p:cNvSpPr/>
          <p:nvPr/>
        </p:nvSpPr>
        <p:spPr>
          <a:xfrm>
            <a:off x="4663440" y="1828800"/>
            <a:ext cx="3108960" cy="2103120"/>
          </a:xfrm>
          <a:prstGeom prst="rect">
            <a:avLst/>
          </a:prstGeom>
          <a:solidFill>
            <a:srgbClr val="ED1B2F"/>
          </a:solidFill>
          <a:ln w="9525">
            <a:solidFill>
              <a:srgbClr val="ED1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20116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Calculations that only reference input cells</a:t>
            </a:r>
            <a:endParaRPr lang="en-US" sz="2400" dirty="0"/>
          </a:p>
        </p:txBody>
      </p:sp>
      <p:sp>
        <p:nvSpPr>
          <p:cNvPr id="8" name="arrow"/>
          <p:cNvSpPr/>
          <p:nvPr/>
        </p:nvSpPr>
        <p:spPr>
          <a:xfrm>
            <a:off x="7863840" y="2697480"/>
            <a:ext cx="457200" cy="365760"/>
          </a:xfrm>
          <a:prstGeom prst="rightArrow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UTPUTS box"/>
          <p:cNvSpPr/>
          <p:nvPr/>
        </p:nvSpPr>
        <p:spPr>
          <a:xfrm>
            <a:off x="8412480" y="1828800"/>
            <a:ext cx="3108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41080" y="20116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ED1B2F"/>
                </a:solidFill>
              </a:rPr>
              <a:t>OUTPUTS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</a:rPr>
              <a:t>The results you report</a:t>
            </a:r>
            <a:endParaRPr lang="en-US" sz="2400" dirty="0"/>
          </a:p>
        </p:txBody>
      </p:sp>
      <p:sp>
        <p:nvSpPr>
          <p:cNvPr id="11" name="callout"/>
          <p:cNvSpPr/>
          <p:nvPr/>
        </p:nvSpPr>
        <p:spPr>
          <a:xfrm>
            <a:off x="914400" y="4480560"/>
            <a:ext cx="6858000" cy="960120"/>
          </a:xfrm>
          <a:prstGeom prst="roundRect">
            <a:avLst>
              <a:gd name="adj" fmla="val 1714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allout tail"/>
          <p:cNvSpPr/>
          <p:nvPr/>
        </p:nvSpPr>
        <p:spPr>
          <a:xfrm rot="10800000">
            <a:off x="1325880" y="5431536"/>
            <a:ext cx="365760" cy="201168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97280" y="45720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Golden rule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Never hard-code numbers inside calculation formulas. Point to an input cell instead.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Error Messages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914400" y="169164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#VALUE!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or spaces where a number is expected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3639312" y="169164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822192" y="1828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#NAME?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does not recognise the function or name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364224" y="169164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47104" y="1828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#####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too narrow to show the value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9089136" y="169164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272016" y="1828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#DIV/0!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Dividing by zero or an empty cell</a:t>
            </a:r>
            <a:endParaRPr lang="en-US" sz="2000" dirty="0"/>
          </a:p>
        </p:txBody>
      </p:sp>
      <p:sp>
        <p:nvSpPr>
          <p:cNvPr id="11" name="card"/>
          <p:cNvSpPr/>
          <p:nvPr/>
        </p:nvSpPr>
        <p:spPr>
          <a:xfrm>
            <a:off x="914400" y="393192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97280" y="406908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#REF!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refers to a cell that is not valid</a:t>
            </a:r>
            <a:endParaRPr lang="en-US" sz="2000" dirty="0"/>
          </a:p>
        </p:txBody>
      </p:sp>
      <p:sp>
        <p:nvSpPr>
          <p:cNvPr id="13" name="card"/>
          <p:cNvSpPr/>
          <p:nvPr/>
        </p:nvSpPr>
        <p:spPr>
          <a:xfrm>
            <a:off x="3639312" y="393192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822192" y="406908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#NULL!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Ranges that do not intersect or a wrong range operator</a:t>
            </a:r>
            <a:endParaRPr lang="en-US" sz="2000" dirty="0"/>
          </a:p>
        </p:txBody>
      </p:sp>
      <p:sp>
        <p:nvSpPr>
          <p:cNvPr id="15" name="card"/>
          <p:cNvSpPr/>
          <p:nvPr/>
        </p:nvSpPr>
        <p:spPr>
          <a:xfrm>
            <a:off x="6364224" y="393192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47104" y="406908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#N/A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you are looking for cannot be found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9089136" y="3931920"/>
            <a:ext cx="254203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272016" y="406908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D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#NUM!</a:t>
            </a:r>
            <a:endParaRPr lang="en-US" sz="20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values that are not valid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IFERROR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IFERROR(value, value_if_error)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value_if_error if the formula errors; otherwise returns the normal result.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#N/A, #VALUE!, #REF!, #DIV/0!, #NUM!, #NAME?, #NULL!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=IFERROR(A2/B2, "Error in calculation")</a:t>
            </a:r>
            <a:endParaRPr lang="en-US" sz="2000" dirty="0"/>
          </a:p>
        </p:txBody>
      </p:sp>
      <p:pic>
        <p:nvPicPr>
          <p:cNvPr id="4" name="image95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095" y="1589089"/>
            <a:ext cx="5324569" cy="1719737"/>
          </a:xfrm>
          <a:prstGeom prst="rect">
            <a:avLst/>
          </a:prstGeom>
        </p:spPr>
      </p:pic>
      <p:pic>
        <p:nvPicPr>
          <p:cNvPr id="5" name="image31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095" y="3537426"/>
            <a:ext cx="5324569" cy="26001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Cells and Ranges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make formulas easier to read: =Price*Quantity instead of =B4*B5.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useful for organizing across worksheets and for formula auditing.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type the name in the Name Box (left of the formula bar), press Enter</a:t>
            </a:r>
            <a:endParaRPr lang="en-US" sz="2000" dirty="0"/>
          </a:p>
        </p:txBody>
      </p:sp>
      <p:pic>
        <p:nvPicPr>
          <p:cNvPr id="4" name="image12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03" y="1572586"/>
            <a:ext cx="4611675" cy="1821612"/>
          </a:xfrm>
          <a:prstGeom prst="rect">
            <a:avLst/>
          </a:prstGeom>
        </p:spPr>
      </p:pic>
      <p:pic>
        <p:nvPicPr>
          <p:cNvPr id="5" name="image135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103" y="3622797"/>
            <a:ext cx="4611675" cy="25312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Method 2: Create from Selection</a:t>
            </a:r>
            <a:endParaRPr lang="en-US" sz="4000" dirty="0"/>
          </a:p>
        </p:txBody>
      </p:sp>
      <p:pic>
        <p:nvPicPr>
          <p:cNvPr id="3" name="image10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58625"/>
            <a:ext cx="5354192" cy="2843671"/>
          </a:xfrm>
          <a:prstGeom prst="rect">
            <a:avLst/>
          </a:prstGeom>
        </p:spPr>
      </p:pic>
      <p:pic>
        <p:nvPicPr>
          <p:cNvPr id="4" name="image97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192" y="2258625"/>
            <a:ext cx="5207128" cy="28436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5943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Formulas → Define Names → Create from Selection: uses your row/column labels as names.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Method 3: Name Manager</a:t>
            </a:r>
            <a:endParaRPr lang="en-US" sz="4000" dirty="0"/>
          </a:p>
        </p:txBody>
      </p:sp>
      <p:pic>
        <p:nvPicPr>
          <p:cNvPr id="3" name="image96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841" y="1554480"/>
            <a:ext cx="8283039" cy="4251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5943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Formulas → Define Name or Name Manager: add, change or remove names.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Rules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letter, underscore or backslash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spaces: use _ or . instead (Cost_Materials)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look like a cell reference (no "B1")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case-sensitive: cost_materials = Cost_Materials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Name Manager lets you manage a name's scope</a:t>
            </a:r>
            <a:endParaRPr lang="en-US" sz="2000" dirty="0"/>
          </a:p>
        </p:txBody>
      </p:sp>
      <p:pic>
        <p:nvPicPr>
          <p:cNvPr id="4" name="image115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36444"/>
            <a:ext cx="5897880" cy="30537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 &amp; PivotTables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Find values and summarise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a range for a match and returns the matching item from a second range.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=XLOOKUP(lookup_value, lookup_array, return_array, [if_not_found], [match_mode], [search_mode])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first three arguments are required.</a:t>
            </a:r>
            <a:endParaRPr lang="en-US" sz="2000" dirty="0"/>
          </a:p>
        </p:txBody>
      </p:sp>
      <p:pic>
        <p:nvPicPr>
          <p:cNvPr id="4" name="image8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833" y="547353"/>
            <a:ext cx="4302840" cy="56248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XLOOKUP: Exact and Approximate Match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(default)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Brazil's dial code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=XLOOKUP(F2, B2:B11, D2:D11)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match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match_mode = 1 finds the next larger item, e.g. a tax bracket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=XLOOKUP(E2, C2:C7, B2:B7, 0, 1, 1)</a:t>
            </a:r>
            <a:endParaRPr lang="en-US" sz="2000" dirty="0"/>
          </a:p>
        </p:txBody>
      </p:sp>
      <p:pic>
        <p:nvPicPr>
          <p:cNvPr id="4" name="image9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06984"/>
            <a:ext cx="2152220" cy="1499133"/>
          </a:xfrm>
          <a:prstGeom prst="rect">
            <a:avLst/>
          </a:prstGeom>
        </p:spPr>
      </p:pic>
      <p:pic>
        <p:nvPicPr>
          <p:cNvPr id="5" name="image17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33" y="1606984"/>
            <a:ext cx="4312926" cy="1485564"/>
          </a:xfrm>
          <a:prstGeom prst="rect">
            <a:avLst/>
          </a:prstGeom>
        </p:spPr>
      </p:pic>
      <p:pic>
        <p:nvPicPr>
          <p:cNvPr id="6" name="image54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429000"/>
            <a:ext cx="5016003" cy="27052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XLOOKUP: if_not_found, search_mode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if_not_found returns a message instead of #N/A; search_mode = -1 searches from the bottom (e.g., the most recent sale).</a:t>
            </a:r>
            <a:endParaRPr lang="en-US" sz="2000" dirty="0"/>
          </a:p>
        </p:txBody>
      </p:sp>
      <p:pic>
        <p:nvPicPr>
          <p:cNvPr id="4" name="image2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17" y="2423160"/>
            <a:ext cx="8150087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XLOOKUP: Row and Column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 one XLOOKUP inside another to match a row and a column at the same time.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=XLOOKUP(B11, B4:B7, XLOOKUP(C11, C3:H3, C4:H7))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inner XLOOKUP returns the whole month column; the outer one picks the product.</a:t>
            </a:r>
            <a:endParaRPr lang="en-US" sz="2000" dirty="0"/>
          </a:p>
        </p:txBody>
      </p:sp>
      <p:pic>
        <p:nvPicPr>
          <p:cNvPr id="4" name="image3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728" y="1547337"/>
            <a:ext cx="3268424" cy="1879133"/>
          </a:xfrm>
          <a:prstGeom prst="rect">
            <a:avLst/>
          </a:prstGeom>
        </p:spPr>
      </p:pic>
      <p:pic>
        <p:nvPicPr>
          <p:cNvPr id="5" name="image120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728" y="3655069"/>
            <a:ext cx="3268424" cy="25242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interactive summary of the source data: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Pivot: change the view of the data on the fly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and filter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summary items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subtotals, totals and calculated fields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and dice; build a PivotChart</a:t>
            </a:r>
            <a:endParaRPr lang="en-US" sz="2000" dirty="0"/>
          </a:p>
        </p:txBody>
      </p:sp>
      <p:pic>
        <p:nvPicPr>
          <p:cNvPr id="4" name="image7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67615"/>
            <a:ext cx="5897880" cy="33914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PivotTables: Grouping &amp; Calculated Fields</a:t>
            </a:r>
            <a:endParaRPr lang="en-US" sz="4000" dirty="0"/>
          </a:p>
        </p:txBody>
      </p:sp>
      <p:pic>
        <p:nvPicPr>
          <p:cNvPr id="3" name="image64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84501"/>
            <a:ext cx="5331355" cy="2957678"/>
          </a:xfrm>
          <a:prstGeom prst="rect">
            <a:avLst/>
          </a:prstGeom>
        </p:spPr>
      </p:pic>
      <p:pic>
        <p:nvPicPr>
          <p:cNvPr id="4" name="image119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355" y="2384501"/>
            <a:ext cx="5229965" cy="29576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PivotTables: Charts and Label Filters</a:t>
            </a:r>
            <a:endParaRPr lang="en-US" sz="4000" dirty="0"/>
          </a:p>
        </p:txBody>
      </p:sp>
      <p:pic>
        <p:nvPicPr>
          <p:cNvPr id="3" name="image68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86462"/>
            <a:ext cx="5254294" cy="2753757"/>
          </a:xfrm>
          <a:prstGeom prst="rect">
            <a:avLst/>
          </a:prstGeom>
        </p:spPr>
      </p:pic>
      <p:pic>
        <p:nvPicPr>
          <p:cNvPr id="4" name="image53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294" y="2486462"/>
            <a:ext cx="5307026" cy="27537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PivotTable Examples (1)</a:t>
            </a:r>
            <a:endParaRPr lang="en-US" sz="4000" dirty="0"/>
          </a:p>
        </p:txBody>
      </p:sp>
      <p:pic>
        <p:nvPicPr>
          <p:cNvPr id="3" name="image18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7" y="1553006"/>
            <a:ext cx="9641734" cy="1582465"/>
          </a:xfrm>
          <a:prstGeom prst="rect">
            <a:avLst/>
          </a:prstGeom>
        </p:spPr>
      </p:pic>
      <p:pic>
        <p:nvPicPr>
          <p:cNvPr id="4" name="image98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2841" y="1553006"/>
            <a:ext cx="783373" cy="1582465"/>
          </a:xfrm>
          <a:prstGeom prst="rect">
            <a:avLst/>
          </a:prstGeom>
        </p:spPr>
      </p:pic>
      <p:pic>
        <p:nvPicPr>
          <p:cNvPr id="5" name="image66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7" y="3364071"/>
            <a:ext cx="9020305" cy="2809603"/>
          </a:xfrm>
          <a:prstGeom prst="rect">
            <a:avLst/>
          </a:prstGeom>
        </p:spPr>
      </p:pic>
      <p:pic>
        <p:nvPicPr>
          <p:cNvPr id="6" name="image51" descr="Excel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1412" y="3364071"/>
            <a:ext cx="1404802" cy="28096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Analysis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Goal Seek and Data Tables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Seek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/ sensitivity analysis: how results change when assumptions change.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Seek works backward: you know the output you want and solve for one input.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cell: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 cell with the result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value: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result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changing cell: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Excel may change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What-If Analysis → Goal Seek</a:t>
            </a:r>
            <a:endParaRPr lang="en-US" sz="2000" dirty="0"/>
          </a:p>
        </p:txBody>
      </p:sp>
      <p:pic>
        <p:nvPicPr>
          <p:cNvPr id="4" name="image94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308" y="1570743"/>
            <a:ext cx="3563424" cy="1926803"/>
          </a:xfrm>
          <a:prstGeom prst="rect">
            <a:avLst/>
          </a:prstGeom>
        </p:spPr>
      </p:pic>
      <p:pic>
        <p:nvPicPr>
          <p:cNvPr id="5" name="image33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308" y="3726146"/>
            <a:ext cx="3563424" cy="23840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Seek: Examples (1)</a:t>
            </a:r>
            <a:endParaRPr lang="en-US" sz="4000" dirty="0"/>
          </a:p>
        </p:txBody>
      </p:sp>
      <p:pic>
        <p:nvPicPr>
          <p:cNvPr id="3" name="image76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540" y="1504117"/>
            <a:ext cx="6035641" cy="1448554"/>
          </a:xfrm>
          <a:prstGeom prst="rect">
            <a:avLst/>
          </a:prstGeom>
        </p:spPr>
      </p:pic>
      <p:pic>
        <p:nvPicPr>
          <p:cNvPr id="4" name="image126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540" y="3181271"/>
            <a:ext cx="6035641" cy="30412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results for many input values at once.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One-variable: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 in a row or column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Two-variable: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two inputs, see every combination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What-If Analysis → Data Table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Row/Column input cell = the input the table substitutes into the formula.</a:t>
            </a:r>
            <a:endParaRPr lang="en-US" sz="2000" dirty="0"/>
          </a:p>
        </p:txBody>
      </p:sp>
      <p:pic>
        <p:nvPicPr>
          <p:cNvPr id="4" name="image44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67572"/>
            <a:ext cx="5897880" cy="29915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and Two-Way Data Tables</a:t>
            </a:r>
            <a:endParaRPr lang="en-US" sz="4000" dirty="0"/>
          </a:p>
        </p:txBody>
      </p:sp>
      <p:pic>
        <p:nvPicPr>
          <p:cNvPr id="3" name="image13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95799"/>
            <a:ext cx="5070166" cy="2535083"/>
          </a:xfrm>
          <a:prstGeom prst="rect">
            <a:avLst/>
          </a:prstGeom>
        </p:spPr>
      </p:pic>
      <p:pic>
        <p:nvPicPr>
          <p:cNvPr id="4" name="image87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166" y="2595799"/>
            <a:ext cx="5491154" cy="253508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Functions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PMT, PV, FV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PMT: Payment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PMT(rate, nper, pv, [fv], [type])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for a loan with constant payments and a constant interest rate.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units: monthly payments → annual rate / 12, years × 12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0 = end of period (default), 1 = beginning</a:t>
            </a:r>
            <a:endParaRPr lang="en-US" sz="2000" dirty="0"/>
          </a:p>
        </p:txBody>
      </p:sp>
      <p:pic>
        <p:nvPicPr>
          <p:cNvPr id="4" name="image28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295431"/>
            <a:ext cx="6080760" cy="31358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PMT: Practice Questions</a:t>
            </a:r>
            <a:endParaRPr lang="en-US" sz="4000" dirty="0"/>
          </a:p>
        </p:txBody>
      </p:sp>
      <p:pic>
        <p:nvPicPr>
          <p:cNvPr id="3" name="image3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86000"/>
            <a:ext cx="10789920" cy="35546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PV: Present Value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PV(rate, nper, pmt, [fv], [type])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value of a loan or investment at a constant interest rate.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you pay out (a deposit) is negative; money you receive is positive.</a:t>
            </a:r>
            <a:endParaRPr lang="en-US" sz="2000" dirty="0"/>
          </a:p>
        </p:txBody>
      </p:sp>
      <p:pic>
        <p:nvPicPr>
          <p:cNvPr id="4" name="image4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980" y="1587665"/>
            <a:ext cx="5413920" cy="2805395"/>
          </a:xfrm>
          <a:prstGeom prst="rect">
            <a:avLst/>
          </a:prstGeom>
        </p:spPr>
      </p:pic>
      <p:pic>
        <p:nvPicPr>
          <p:cNvPr id="5" name="image84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980" y="4621660"/>
            <a:ext cx="5413920" cy="15173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PV: Practice Questions</a:t>
            </a:r>
            <a:endParaRPr lang="en-US" sz="4000" dirty="0"/>
          </a:p>
        </p:txBody>
      </p:sp>
      <p:pic>
        <p:nvPicPr>
          <p:cNvPr id="3" name="image123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09" y="1554480"/>
            <a:ext cx="9966302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FV: Future Value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FV(rate, nper, pmt, [pv], [type])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value of an investment with periodic, constant payments and a constant rate.</a:t>
            </a:r>
            <a:endParaRPr lang="en-US" sz="2000" dirty="0"/>
          </a:p>
        </p:txBody>
      </p:sp>
      <p:pic>
        <p:nvPicPr>
          <p:cNvPr id="4" name="image8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277055"/>
            <a:ext cx="6080760" cy="31725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FV: Practice Questions</a:t>
            </a:r>
            <a:endParaRPr lang="en-US" sz="4000" dirty="0"/>
          </a:p>
        </p:txBody>
      </p:sp>
      <p:pic>
        <p:nvPicPr>
          <p:cNvPr id="3" name="image7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67205"/>
            <a:ext cx="10789920" cy="39922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960120" y="2377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Text Functions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931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Working with dates and cleaning 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and Serial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=DATE(year, month, day)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serial number for a date.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stores dates as numbers (days since 1 Jan 1900). 2023-08-10 = 45148.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cell format to switch between date and serial number.</a:t>
            </a:r>
            <a:endParaRPr lang="en-US" sz="2000" dirty="0"/>
          </a:p>
        </p:txBody>
      </p:sp>
      <p:pic>
        <p:nvPicPr>
          <p:cNvPr id="4" name="image133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0200"/>
            <a:ext cx="3638025" cy="984663"/>
          </a:xfrm>
          <a:prstGeom prst="rect">
            <a:avLst/>
          </a:prstGeom>
        </p:spPr>
      </p:pic>
      <p:pic>
        <p:nvPicPr>
          <p:cNvPr id="5" name="image48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813463"/>
            <a:ext cx="2862998" cy="1387855"/>
          </a:xfrm>
          <a:prstGeom prst="rect">
            <a:avLst/>
          </a:prstGeom>
        </p:spPr>
      </p:pic>
      <p:pic>
        <p:nvPicPr>
          <p:cNvPr id="6" name="image106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429918"/>
            <a:ext cx="2967170" cy="14319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=DAY(serial_number)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day of the month (1–31).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whether the date is shown in date or general (serial number) format.</a:t>
            </a:r>
            <a:endParaRPr lang="en-US" sz="2000" dirty="0"/>
          </a:p>
        </p:txBody>
      </p:sp>
      <p:pic>
        <p:nvPicPr>
          <p:cNvPr id="4" name="image99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450" y="1157735"/>
            <a:ext cx="2099697" cy="1292121"/>
          </a:xfrm>
          <a:prstGeom prst="rect">
            <a:avLst/>
          </a:prstGeom>
        </p:spPr>
      </p:pic>
      <p:pic>
        <p:nvPicPr>
          <p:cNvPr id="5" name="image29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450" y="2683738"/>
            <a:ext cx="3617939" cy="1292121"/>
          </a:xfrm>
          <a:prstGeom prst="rect">
            <a:avLst/>
          </a:prstGeom>
        </p:spPr>
      </p:pic>
      <p:pic>
        <p:nvPicPr>
          <p:cNvPr id="6" name="image105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450" y="4209741"/>
            <a:ext cx="3204302" cy="16239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=MONTH(serial_number)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month (1–12).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=MONTH(A1) on 2023-10-15 returns 10 (October).</a:t>
            </a:r>
            <a:endParaRPr lang="en-US" sz="2000" dirty="0"/>
          </a:p>
        </p:txBody>
      </p:sp>
      <p:pic>
        <p:nvPicPr>
          <p:cNvPr id="4" name="image1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33" y="1576032"/>
            <a:ext cx="4795014" cy="2442793"/>
          </a:xfrm>
          <a:prstGeom prst="rect">
            <a:avLst/>
          </a:prstGeom>
        </p:spPr>
      </p:pic>
      <p:pic>
        <p:nvPicPr>
          <p:cNvPr id="5" name="image56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433" y="4247425"/>
            <a:ext cx="2993314" cy="11880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=TODAY()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current date; updates each time the file opens.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one date from another to get the days between them, whatever the format (as long as both are valid dates).</a:t>
            </a:r>
            <a:endParaRPr lang="en-US" sz="2000" dirty="0"/>
          </a:p>
        </p:txBody>
      </p:sp>
      <p:pic>
        <p:nvPicPr>
          <p:cNvPr id="4" name="image125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34447"/>
            <a:ext cx="6080760" cy="2800528"/>
          </a:xfrm>
          <a:prstGeom prst="rect">
            <a:avLst/>
          </a:prstGeom>
        </p:spPr>
      </p:pic>
      <p:pic>
        <p:nvPicPr>
          <p:cNvPr id="5" name="image136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963575"/>
            <a:ext cx="2882116" cy="828659"/>
          </a:xfrm>
          <a:prstGeom prst="rect">
            <a:avLst/>
          </a:prstGeom>
        </p:spPr>
      </p:pic>
      <p:pic>
        <p:nvPicPr>
          <p:cNvPr id="6" name="image24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276" y="4963575"/>
            <a:ext cx="2970044" cy="8286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=YEAR(serial_number)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year as an integer from 1900 to 9999.</a:t>
            </a:r>
            <a:endParaRPr lang="en-US" sz="2000" dirty="0"/>
          </a:p>
        </p:txBody>
      </p:sp>
      <p:pic>
        <p:nvPicPr>
          <p:cNvPr id="4" name="image116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889" y="1582368"/>
            <a:ext cx="5132101" cy="2406385"/>
          </a:xfrm>
          <a:prstGeom prst="rect">
            <a:avLst/>
          </a:prstGeom>
        </p:spPr>
      </p:pic>
      <p:pic>
        <p:nvPicPr>
          <p:cNvPr id="5" name="image14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889" y="4217353"/>
            <a:ext cx="5132101" cy="19269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=CONCAT(text1, [text2], …)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text from several cells and/or strings.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separators as strings, e.g. " is a "</a:t>
            </a:r>
            <a:endParaRPr lang="en-US" sz="2000" dirty="0"/>
          </a:p>
        </p:txBody>
      </p:sp>
      <p:pic>
        <p:nvPicPr>
          <p:cNvPr id="4" name="image121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312746"/>
            <a:ext cx="6080760" cy="31011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=FIND(find_text, within_text, [start_num])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position of one text string inside another.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start_num: where to start searching (optional)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Case-sensitive; returns an error if the text is not found</a:t>
            </a:r>
            <a:endParaRPr lang="en-US" sz="2000" dirty="0"/>
          </a:p>
        </p:txBody>
      </p:sp>
      <p:pic>
        <p:nvPicPr>
          <p:cNvPr id="4" name="image80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046940"/>
            <a:ext cx="6080760" cy="2810662"/>
          </a:xfrm>
          <a:prstGeom prst="rect">
            <a:avLst/>
          </a:prstGeom>
        </p:spPr>
      </p:pic>
      <p:pic>
        <p:nvPicPr>
          <p:cNvPr id="5" name="image45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5086203"/>
            <a:ext cx="1166340" cy="593537"/>
          </a:xfrm>
          <a:prstGeom prst="rect">
            <a:avLst/>
          </a:prstGeom>
        </p:spPr>
      </p:pic>
      <p:pic>
        <p:nvPicPr>
          <p:cNvPr id="6" name="image107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500" y="5086203"/>
            <a:ext cx="4685820" cy="5935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and RIGHT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=LEFT(text, [num_chars])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character(s). Omit num_chars → only the first character.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=RIGHT(text, [num_chars])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character(s) of the text.</a:t>
            </a:r>
            <a:endParaRPr lang="en-US" sz="2000" dirty="0"/>
          </a:p>
        </p:txBody>
      </p:sp>
      <p:pic>
        <p:nvPicPr>
          <p:cNvPr id="4" name="image11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42722"/>
            <a:ext cx="6263640" cy="3093542"/>
          </a:xfrm>
          <a:prstGeom prst="rect">
            <a:avLst/>
          </a:prstGeom>
        </p:spPr>
      </p:pic>
      <p:pic>
        <p:nvPicPr>
          <p:cNvPr id="5" name="image7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5064864"/>
            <a:ext cx="1758096" cy="919093"/>
          </a:xfrm>
          <a:prstGeom prst="rect">
            <a:avLst/>
          </a:prstGeom>
        </p:spPr>
      </p:pic>
      <p:pic>
        <p:nvPicPr>
          <p:cNvPr id="6" name="image77" descr="Excel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7376" y="5064864"/>
            <a:ext cx="1908152" cy="919093"/>
          </a:xfrm>
          <a:prstGeom prst="rect">
            <a:avLst/>
          </a:prstGeom>
        </p:spPr>
      </p:pic>
      <p:pic>
        <p:nvPicPr>
          <p:cNvPr id="7" name="image74" descr="Excel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128" y="5064864"/>
            <a:ext cx="2140192" cy="9190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and LEN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=MID(text, start_num, num_chars)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num_chars characters, starting at start_num.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=LEN(text)</a:t>
            </a:r>
            <a:endParaRPr lang="en-US" sz="2000" dirty="0"/>
          </a:p>
          <a:p>
            <a:pPr marL="457200" lvl="1" indent="-228600">
              <a:spcAft>
                <a:spcPts val="300"/>
              </a:spcAft>
              <a:buSzPct val="100000"/>
              <a:buChar char="▸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characters. Spaces and every character count!</a:t>
            </a:r>
            <a:endParaRPr lang="en-US" sz="2000" dirty="0"/>
          </a:p>
        </p:txBody>
      </p:sp>
      <p:pic>
        <p:nvPicPr>
          <p:cNvPr id="4" name="image26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58" y="1564493"/>
            <a:ext cx="4306884" cy="2275470"/>
          </a:xfrm>
          <a:prstGeom prst="rect">
            <a:avLst/>
          </a:prstGeom>
        </p:spPr>
      </p:pic>
      <p:pic>
        <p:nvPicPr>
          <p:cNvPr id="5" name="image73" descr="Excel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58" y="4068563"/>
            <a:ext cx="4306884" cy="20936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 Format Numbers and Dates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=TEXT(value, format_text)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how a number appears by applying a format code.</a:t>
            </a:r>
            <a:endParaRPr lang="en-US" sz="20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88920"/>
          <a:ext cx="5120640" cy="1574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(A1 = 2023-08-10)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=TEXT(A1,"DD")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=TEXT(A1,"DdD")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=TEXT(A1,"DDDD")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Thursday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=TEXT(A1,"YYYY-MMMM_DDDD")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2023-August_Thursday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122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80882"/>
            <a:ext cx="5349240" cy="27191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502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D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=TRIM(text)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all spaces except single spaces between words.</a:t>
            </a:r>
            <a:endParaRPr lang="en-US" sz="2000" dirty="0"/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SzPct val="100000"/>
              <a:buChar char="▸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clean imported or copy-pasted data before a lookup.</a:t>
            </a:r>
            <a:endParaRPr lang="en-US" sz="2000" dirty="0"/>
          </a:p>
        </p:txBody>
      </p:sp>
      <p:pic>
        <p:nvPicPr>
          <p:cNvPr id="4" name="image118" descr="Exc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192" y="1649392"/>
            <a:ext cx="5069918" cy="25941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Gill Desautels">
  <a:themeElements>
    <a:clrScheme name="McGill Desautels">
      <a:dk1>
        <a:srgbClr val="000000"/>
      </a:dk1>
      <a:lt1>
        <a:srgbClr val="FFFFFF"/>
      </a:lt1>
      <a:dk2>
        <a:srgbClr val="181818"/>
      </a:dk2>
      <a:lt2>
        <a:srgbClr val="F5F5F5"/>
      </a:lt2>
      <a:accent1>
        <a:srgbClr val="ED1B2F"/>
      </a:accent1>
      <a:accent2>
        <a:srgbClr val="C00000"/>
      </a:accent2>
      <a:accent3>
        <a:srgbClr val="595959"/>
      </a:accent3>
      <a:accent4>
        <a:srgbClr val="A6A6A6"/>
      </a:accent4>
      <a:accent5>
        <a:srgbClr val="1F7A4D"/>
      </a:accent5>
      <a:accent6>
        <a:srgbClr val="D9D9D9"/>
      </a:accent6>
      <a:hlink>
        <a:srgbClr val="ED1B2F"/>
      </a:hlink>
      <a:folHlink>
        <a:srgbClr val="C00000"/>
      </a:folHlink>
    </a:clrScheme>
    <a:fontScheme name="McGill Desautel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3689</Words>
  <Application>Microsoft Macintosh PowerPoint</Application>
  <PresentationFormat>Widescreen</PresentationFormat>
  <Paragraphs>667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Courier New</vt:lpstr>
      <vt:lpstr>Georgia</vt:lpstr>
      <vt:lpstr>McGill Desautels</vt:lpstr>
      <vt:lpstr>PowerPoint Presentation</vt:lpstr>
      <vt:lpstr>This Review</vt:lpstr>
      <vt:lpstr>References &amp; Basic Math</vt:lpstr>
      <vt:lpstr>Relative vs. Absolute References</vt:lpstr>
      <vt:lpstr>Mixed References: Lock One Direction</vt:lpstr>
      <vt:lpstr>Example: Order Quantity × Price</vt:lpstr>
      <vt:lpstr>Basic Math Operators</vt:lpstr>
      <vt:lpstr>Common Math Functions</vt:lpstr>
      <vt:lpstr>SUMPRODUCT</vt:lpstr>
      <vt:lpstr>Logic &amp; IF Functions</vt:lpstr>
      <vt:lpstr>Logical Statements</vt:lpstr>
      <vt:lpstr>Logical Operators</vt:lpstr>
      <vt:lpstr>AND and OR</vt:lpstr>
      <vt:lpstr>IF</vt:lpstr>
      <vt:lpstr>Nested IF</vt:lpstr>
      <vt:lpstr>Nested IF: Examples</vt:lpstr>
      <vt:lpstr>Descriptive Statistics</vt:lpstr>
      <vt:lpstr>Describing the Range of the Data</vt:lpstr>
      <vt:lpstr>SMALL and LARGE</vt:lpstr>
      <vt:lpstr>RANK.EQ</vt:lpstr>
      <vt:lpstr>RANK.EQ vs. RANK.AVG: Handling Ties</vt:lpstr>
      <vt:lpstr>Central Tendency: AVERAGE and MEDIAN</vt:lpstr>
      <vt:lpstr>Spread: VAR.S and STDEV.S</vt:lpstr>
      <vt:lpstr>COVARIANCE.S and CORREL</vt:lpstr>
      <vt:lpstr>Conditional Functions</vt:lpstr>
      <vt:lpstr>COUNTIF</vt:lpstr>
      <vt:lpstr>COUNTIFS</vt:lpstr>
      <vt:lpstr>SUMIF</vt:lpstr>
      <vt:lpstr>SUMIFS</vt:lpstr>
      <vt:lpstr>AVERAGEIF</vt:lpstr>
      <vt:lpstr>AVERAGEIFS</vt:lpstr>
      <vt:lpstr>Watch the Argument Order</vt:lpstr>
      <vt:lpstr>Preparing &amp; Cleaning Data</vt:lpstr>
      <vt:lpstr>Power Query (Get &amp; Transform)</vt:lpstr>
      <vt:lpstr>Freeze Panes</vt:lpstr>
      <vt:lpstr>Conditional Formatting</vt:lpstr>
      <vt:lpstr>Auto Fill and Flash Fill</vt:lpstr>
      <vt:lpstr>Data Validation</vt:lpstr>
      <vt:lpstr>Handy Shortcuts</vt:lpstr>
      <vt:lpstr>COUNTBLANK and UNIQUE</vt:lpstr>
      <vt:lpstr>ROUND, ROUNDUP, ROUNDDOWN</vt:lpstr>
      <vt:lpstr>NOT</vt:lpstr>
      <vt:lpstr>Building Clean Models</vt:lpstr>
      <vt:lpstr>4 Strategies to Organize Spreadsheets</vt:lpstr>
      <vt:lpstr>Use a Conceptual Model</vt:lpstr>
      <vt:lpstr>Excel Error Messages</vt:lpstr>
      <vt:lpstr>IFERROR</vt:lpstr>
      <vt:lpstr>Naming Cells and Ranges</vt:lpstr>
      <vt:lpstr>Naming Method 2: Create from Selection</vt:lpstr>
      <vt:lpstr>Naming Method 3: Name Manager</vt:lpstr>
      <vt:lpstr>Naming Rules</vt:lpstr>
      <vt:lpstr>XLOOKUP &amp; PivotTables</vt:lpstr>
      <vt:lpstr>XLOOKUP</vt:lpstr>
      <vt:lpstr>XLOOKUP: Exact and Approximate Match</vt:lpstr>
      <vt:lpstr>XLOOKUP: if_not_found, search_mode</vt:lpstr>
      <vt:lpstr>XLOOKUP: Row and Column</vt:lpstr>
      <vt:lpstr>PivotTables</vt:lpstr>
      <vt:lpstr>PivotTables: Grouping &amp; Calculated Fields</vt:lpstr>
      <vt:lpstr>PivotTables: Charts and Label Filters</vt:lpstr>
      <vt:lpstr>PivotTable Examples (1)</vt:lpstr>
      <vt:lpstr>What-If Analysis</vt:lpstr>
      <vt:lpstr>Goal Seek</vt:lpstr>
      <vt:lpstr>Goal Seek: Examples (1)</vt:lpstr>
      <vt:lpstr>Data Tables</vt:lpstr>
      <vt:lpstr>One-Way and Two-Way Data Tables</vt:lpstr>
      <vt:lpstr>Financial Functions</vt:lpstr>
      <vt:lpstr>PMT: Payment</vt:lpstr>
      <vt:lpstr>PMT: Practice Questions</vt:lpstr>
      <vt:lpstr>PV: Present Value</vt:lpstr>
      <vt:lpstr>PV: Practice Questions</vt:lpstr>
      <vt:lpstr>FV: Future Value</vt:lpstr>
      <vt:lpstr>FV: Practice Questions</vt:lpstr>
      <vt:lpstr>Date &amp; Text Functions</vt:lpstr>
      <vt:lpstr>DATE and Serial Numbers</vt:lpstr>
      <vt:lpstr>DAY</vt:lpstr>
      <vt:lpstr>MONTH</vt:lpstr>
      <vt:lpstr>TODAY</vt:lpstr>
      <vt:lpstr>YEAR</vt:lpstr>
      <vt:lpstr>CONCAT</vt:lpstr>
      <vt:lpstr>FIND</vt:lpstr>
      <vt:lpstr>LEFT and RIGHT</vt:lpstr>
      <vt:lpstr>MID and LEN</vt:lpstr>
      <vt:lpstr>TEXT: Format Numbers and Dates</vt:lpstr>
      <vt:lpstr>TRIM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MGCR 331 Excel Refresher</dc:title>
  <dc:subject>INSY 442 Week 1 self-review</dc:subject>
  <dc:creator>PptxGenJS</dc:creator>
  <cp:lastModifiedBy>Cindy Liu</cp:lastModifiedBy>
  <cp:revision>34</cp:revision>
  <dcterms:created xsi:type="dcterms:W3CDTF">2026-10-16T00:32:49Z</dcterms:created>
  <dcterms:modified xsi:type="dcterms:W3CDTF">2026-10-16T00:52:23Z</dcterms:modified>
</cp:coreProperties>
</file>