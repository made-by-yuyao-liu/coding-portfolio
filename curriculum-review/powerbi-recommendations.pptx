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5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374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the four Power BI class notes (Winter 2026) and Microsoft's PL-300 Power BI Data Analyst skills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1: intro to data visualization, storytelling, color, insights, the Power BI ecosystem, long vs wide data, chart selection, and a first lab (basic Power Query data types, theme, scatter chart, slicer, trendline). Class 2: data modeling (star schema, keys, relationships) and DAX (calculated columns vs measures, row vs filter context, iterators, IF/SWITCH/RELATED/DIVIDE). Class 3: advanced exercises on formatting, relationships, iterator DAX and many chart types. Class 4: DAX function review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1 touched Power Query only to change a data type; this goes further, with real cleaning on messy data. CALCULATE is the next step after Class 2's row vs filter context and is the most-used DAX function in industry. Time intelligence (year-to-date, prior year, YoY %) is how almost every business KPI is reported. All three are listed in Microsoft's PL-300 Power BI Data Analyst exam outline. Timings assume an ~80-minute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1–3 built visuals, but students never made a report a manager could navigate or shared one. Drillthrough, bookmarks, tooltips and conditional formatting turn a page of charts into a usable report. Publishing, scheduled refresh and row-level security are how reports actually reach users (15–20% of PL-300). Copilot is now on the PL-300 outline; it needs paid capacity, so treat it as an instructor demo. Publishing also needs Power BI Service access, so confirm McGill student accounts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9601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D5D6DA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clean-data-power-bi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cFlHJx1hy3c" TargetMode="External"/><Relationship Id="rId4" Type="http://schemas.openxmlformats.org/officeDocument/2006/relationships/hyperlink" Target="https://sqlbi.com/tv/introducing-calculate-in-da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ojA-f0ckS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power-bi/enterprise/service-admin-rls" TargetMode="External"/><Relationship Id="rId4" Type="http://schemas.openxmlformats.org/officeDocument/2006/relationships/hyperlink" Target="https://www.youtube.com/watch?v=qHmsonZRb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102E"/>
                </a:solidFill>
              </a:rPr>
              <a:t>INSY 442  ·  COURSE REVIEW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Power BI in INSY 442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5D6DA"/>
                </a:solidFill>
              </a:rPr>
              <a:t>What Winter 2026 covered, and two classes to add based on what employers ask for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BB2"/>
                </a:solidFill>
              </a:rPr>
              <a:t>Cindy Liu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WINTER 2026 RECAP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four Power BI classes covered</a:t>
            </a:r>
            <a:endParaRPr lang="en-US" sz="3000" dirty="0"/>
          </a:p>
        </p:txBody>
      </p:sp>
      <p:sp>
        <p:nvSpPr>
          <p:cNvPr id="5" name="card-2"/>
          <p:cNvSpPr/>
          <p:nvPr/>
        </p:nvSpPr>
        <p:spPr>
          <a:xfrm>
            <a:off x="548640" y="1554480"/>
            <a:ext cx="2602154" cy="470916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dge-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1E1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adge-t-4"/>
          <p:cNvSpPr txBox="1"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xt-5"/>
          <p:cNvSpPr txBox="1"/>
          <p:nvPr/>
        </p:nvSpPr>
        <p:spPr>
          <a:xfrm>
            <a:off x="1371600" y="1691640"/>
            <a:ext cx="1687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CLASS 1</a:t>
            </a:r>
            <a:endParaRPr lang="en-US" sz="1100" dirty="0"/>
          </a:p>
        </p:txBody>
      </p:sp>
      <p:sp>
        <p:nvSpPr>
          <p:cNvPr id="9" name="txt-6"/>
          <p:cNvSpPr txBox="1"/>
          <p:nvPr/>
        </p:nvSpPr>
        <p:spPr>
          <a:xfrm>
            <a:off x="1371600" y="1938528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 to Data Viz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95528" y="26334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xt-7"/>
          <p:cNvSpPr txBox="1"/>
          <p:nvPr/>
        </p:nvSpPr>
        <p:spPr>
          <a:xfrm>
            <a:off x="960120" y="24688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Pros &amp; cons of data visuals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" y="30449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xt-8"/>
          <p:cNvSpPr txBox="1"/>
          <p:nvPr/>
        </p:nvSpPr>
        <p:spPr>
          <a:xfrm>
            <a:off x="960120" y="28803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 storytelling: 7 story types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" y="34564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xt-9"/>
          <p:cNvSpPr txBox="1"/>
          <p:nvPr/>
        </p:nvSpPr>
        <p:spPr>
          <a:xfrm>
            <a:off x="960120" y="32918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Color schemes &amp; best practices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5528" y="38679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xt-10"/>
          <p:cNvSpPr txBox="1"/>
          <p:nvPr/>
        </p:nvSpPr>
        <p:spPr>
          <a:xfrm>
            <a:off x="960120" y="370332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 → insights → actions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5528" y="427939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xt-11"/>
          <p:cNvSpPr txBox="1"/>
          <p:nvPr/>
        </p:nvSpPr>
        <p:spPr>
          <a:xfrm>
            <a:off x="960120" y="4114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Power BI ecosystem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5528" y="46908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xt-12"/>
          <p:cNvSpPr txBox="1"/>
          <p:nvPr/>
        </p:nvSpPr>
        <p:spPr>
          <a:xfrm>
            <a:off x="960120" y="45262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Reports vs dashboards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95528" y="51023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xt-13"/>
          <p:cNvSpPr txBox="1"/>
          <p:nvPr/>
        </p:nvSpPr>
        <p:spPr>
          <a:xfrm>
            <a:off x="960120" y="49377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Long vs wide data format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95528" y="55138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xt-14"/>
          <p:cNvSpPr txBox="1"/>
          <p:nvPr/>
        </p:nvSpPr>
        <p:spPr>
          <a:xfrm>
            <a:off x="960120" y="53492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Choosing the right chart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95528" y="59253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xt-15"/>
          <p:cNvSpPr txBox="1"/>
          <p:nvPr/>
        </p:nvSpPr>
        <p:spPr>
          <a:xfrm>
            <a:off x="960120" y="576072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Lab: scatter, slicer, trend</a:t>
            </a:r>
            <a:endParaRPr lang="en-US" sz="1300" dirty="0"/>
          </a:p>
        </p:txBody>
      </p:sp>
      <p:sp>
        <p:nvSpPr>
          <p:cNvPr id="28" name="card-16"/>
          <p:cNvSpPr/>
          <p:nvPr/>
        </p:nvSpPr>
        <p:spPr>
          <a:xfrm>
            <a:off x="3379394" y="1554480"/>
            <a:ext cx="2602154" cy="470916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badge-17"/>
          <p:cNvSpPr/>
          <p:nvPr/>
        </p:nvSpPr>
        <p:spPr>
          <a:xfrm>
            <a:off x="3607994" y="1755648"/>
            <a:ext cx="457200" cy="457200"/>
          </a:xfrm>
          <a:prstGeom prst="ellipse">
            <a:avLst/>
          </a:prstGeom>
          <a:solidFill>
            <a:srgbClr val="1E1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badge-t-18"/>
          <p:cNvSpPr txBox="1"/>
          <p:nvPr/>
        </p:nvSpPr>
        <p:spPr>
          <a:xfrm>
            <a:off x="360799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xt-19"/>
          <p:cNvSpPr txBox="1"/>
          <p:nvPr/>
        </p:nvSpPr>
        <p:spPr>
          <a:xfrm>
            <a:off x="4202354" y="1691640"/>
            <a:ext cx="1687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CLASS 2</a:t>
            </a:r>
            <a:endParaRPr lang="en-US" sz="1100" dirty="0"/>
          </a:p>
        </p:txBody>
      </p:sp>
      <p:sp>
        <p:nvSpPr>
          <p:cNvPr id="32" name="txt-20"/>
          <p:cNvSpPr txBox="1"/>
          <p:nvPr/>
        </p:nvSpPr>
        <p:spPr>
          <a:xfrm>
            <a:off x="4202354" y="1938528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&amp; DAX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3626282" y="26334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xt-21"/>
          <p:cNvSpPr txBox="1"/>
          <p:nvPr/>
        </p:nvSpPr>
        <p:spPr>
          <a:xfrm>
            <a:off x="3790874" y="24688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Fact vs dimension tables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626282" y="30449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xt-22"/>
          <p:cNvSpPr txBox="1"/>
          <p:nvPr/>
        </p:nvSpPr>
        <p:spPr>
          <a:xfrm>
            <a:off x="3790874" y="28803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Star schema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626282" y="34564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xt-23"/>
          <p:cNvSpPr txBox="1"/>
          <p:nvPr/>
        </p:nvSpPr>
        <p:spPr>
          <a:xfrm>
            <a:off x="3790874" y="32918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PK, FK &amp; composite keys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3626282" y="38679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xt-24"/>
          <p:cNvSpPr txBox="1"/>
          <p:nvPr/>
        </p:nvSpPr>
        <p:spPr>
          <a:xfrm>
            <a:off x="3790874" y="370332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Relationships &amp; filter direction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3626282" y="427939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xt-25"/>
          <p:cNvSpPr txBox="1"/>
          <p:nvPr/>
        </p:nvSpPr>
        <p:spPr>
          <a:xfrm>
            <a:off x="3790874" y="4114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Calc columns vs measures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626282" y="46908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xt-26"/>
          <p:cNvSpPr txBox="1"/>
          <p:nvPr/>
        </p:nvSpPr>
        <p:spPr>
          <a:xfrm>
            <a:off x="3790874" y="45262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Row vs filter context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3626282" y="51023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xt-27"/>
          <p:cNvSpPr txBox="1"/>
          <p:nvPr/>
        </p:nvSpPr>
        <p:spPr>
          <a:xfrm>
            <a:off x="3790874" y="49377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Iterators + FILTER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3626282" y="55138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xt-28"/>
          <p:cNvSpPr txBox="1"/>
          <p:nvPr/>
        </p:nvSpPr>
        <p:spPr>
          <a:xfrm>
            <a:off x="3790874" y="53492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IF, SWITCH, RELATED, DIVIDE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3626282" y="59253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xt-29"/>
          <p:cNvSpPr txBox="1"/>
          <p:nvPr/>
        </p:nvSpPr>
        <p:spPr>
          <a:xfrm>
            <a:off x="3790874" y="576072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Lab: hierarchies &amp; slicers</a:t>
            </a:r>
            <a:endParaRPr lang="en-US" sz="1300" dirty="0"/>
          </a:p>
        </p:txBody>
      </p:sp>
      <p:sp>
        <p:nvSpPr>
          <p:cNvPr id="51" name="card-30"/>
          <p:cNvSpPr/>
          <p:nvPr/>
        </p:nvSpPr>
        <p:spPr>
          <a:xfrm>
            <a:off x="6210148" y="1554480"/>
            <a:ext cx="2602154" cy="470916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badge-31"/>
          <p:cNvSpPr/>
          <p:nvPr/>
        </p:nvSpPr>
        <p:spPr>
          <a:xfrm>
            <a:off x="6438748" y="1755648"/>
            <a:ext cx="457200" cy="457200"/>
          </a:xfrm>
          <a:prstGeom prst="ellipse">
            <a:avLst/>
          </a:prstGeom>
          <a:solidFill>
            <a:srgbClr val="1E1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badge-t-32"/>
          <p:cNvSpPr txBox="1"/>
          <p:nvPr/>
        </p:nvSpPr>
        <p:spPr>
          <a:xfrm>
            <a:off x="64387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xt-33"/>
          <p:cNvSpPr txBox="1"/>
          <p:nvPr/>
        </p:nvSpPr>
        <p:spPr>
          <a:xfrm>
            <a:off x="7033108" y="1691640"/>
            <a:ext cx="1687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CLASS 3</a:t>
            </a:r>
            <a:endParaRPr lang="en-US" sz="1100" dirty="0"/>
          </a:p>
        </p:txBody>
      </p:sp>
      <p:sp>
        <p:nvSpPr>
          <p:cNvPr id="55" name="txt-34"/>
          <p:cNvSpPr txBox="1"/>
          <p:nvPr/>
        </p:nvSpPr>
        <p:spPr>
          <a:xfrm>
            <a:off x="7033108" y="1938528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Lab</a:t>
            </a:r>
            <a:endParaRPr lang="en-US" sz="1700" dirty="0"/>
          </a:p>
        </p:txBody>
      </p:sp>
      <p:sp>
        <p:nvSpPr>
          <p:cNvPr id="56" name="Shape 53"/>
          <p:cNvSpPr/>
          <p:nvPr/>
        </p:nvSpPr>
        <p:spPr>
          <a:xfrm>
            <a:off x="6457036" y="26334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xt-35"/>
          <p:cNvSpPr txBox="1"/>
          <p:nvPr/>
        </p:nvSpPr>
        <p:spPr>
          <a:xfrm>
            <a:off x="6621628" y="24688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Formatting rules for visuals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6457036" y="30449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xt-36"/>
          <p:cNvSpPr txBox="1"/>
          <p:nvPr/>
        </p:nvSpPr>
        <p:spPr>
          <a:xfrm>
            <a:off x="6621628" y="28803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Linking DimDate to FactSales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6457036" y="34564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xt-37"/>
          <p:cNvSpPr txBox="1"/>
          <p:nvPr/>
        </p:nvSpPr>
        <p:spPr>
          <a:xfrm>
            <a:off x="6621628" y="32918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Iterators + FILTER + RELATED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6457036" y="38679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xt-38"/>
          <p:cNvSpPr txBox="1"/>
          <p:nvPr/>
        </p:nvSpPr>
        <p:spPr>
          <a:xfrm>
            <a:off x="6621628" y="370332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Line, area &amp; ribbon charts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6457036" y="427939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xt-39"/>
          <p:cNvSpPr txBox="1"/>
          <p:nvPr/>
        </p:nvSpPr>
        <p:spPr>
          <a:xfrm>
            <a:off x="6621628" y="4114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Pie &amp; 100% stacked bar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6457036" y="46908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xt-40"/>
          <p:cNvSpPr txBox="1"/>
          <p:nvPr/>
        </p:nvSpPr>
        <p:spPr>
          <a:xfrm>
            <a:off x="6621628" y="45262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Gauge vs target, multi-row card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6457036" y="51023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xt-41"/>
          <p:cNvSpPr txBox="1"/>
          <p:nvPr/>
        </p:nvSpPr>
        <p:spPr>
          <a:xfrm>
            <a:off x="6621628" y="49377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Table &amp; matrix with subtotals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6457036" y="55138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xt-42"/>
          <p:cNvSpPr txBox="1"/>
          <p:nvPr/>
        </p:nvSpPr>
        <p:spPr>
          <a:xfrm>
            <a:off x="6621628" y="53492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Scatter, map vs treemap</a:t>
            </a:r>
            <a:endParaRPr lang="en-US" sz="1300" dirty="0"/>
          </a:p>
        </p:txBody>
      </p:sp>
      <p:sp>
        <p:nvSpPr>
          <p:cNvPr id="72" name="card-43"/>
          <p:cNvSpPr/>
          <p:nvPr/>
        </p:nvSpPr>
        <p:spPr>
          <a:xfrm>
            <a:off x="9040901" y="1554480"/>
            <a:ext cx="2602154" cy="470916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badge-44"/>
          <p:cNvSpPr/>
          <p:nvPr/>
        </p:nvSpPr>
        <p:spPr>
          <a:xfrm>
            <a:off x="9269501" y="1755648"/>
            <a:ext cx="457200" cy="457200"/>
          </a:xfrm>
          <a:prstGeom prst="ellipse">
            <a:avLst/>
          </a:prstGeom>
          <a:solidFill>
            <a:srgbClr val="1E1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badge-t-45"/>
          <p:cNvSpPr txBox="1"/>
          <p:nvPr/>
        </p:nvSpPr>
        <p:spPr>
          <a:xfrm>
            <a:off x="9269501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75" name="txt-46"/>
          <p:cNvSpPr txBox="1"/>
          <p:nvPr/>
        </p:nvSpPr>
        <p:spPr>
          <a:xfrm>
            <a:off x="9863861" y="1691640"/>
            <a:ext cx="1687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CLASS 4</a:t>
            </a:r>
            <a:endParaRPr lang="en-US" sz="1100" dirty="0"/>
          </a:p>
        </p:txBody>
      </p:sp>
      <p:sp>
        <p:nvSpPr>
          <p:cNvPr id="76" name="txt-47"/>
          <p:cNvSpPr txBox="1"/>
          <p:nvPr/>
        </p:nvSpPr>
        <p:spPr>
          <a:xfrm>
            <a:off x="9863861" y="1938528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Review</a:t>
            </a:r>
            <a:endParaRPr lang="en-US" sz="1700" dirty="0"/>
          </a:p>
        </p:txBody>
      </p:sp>
      <p:sp>
        <p:nvSpPr>
          <p:cNvPr id="77" name="Shape 74"/>
          <p:cNvSpPr/>
          <p:nvPr/>
        </p:nvSpPr>
        <p:spPr>
          <a:xfrm>
            <a:off x="9287789" y="26334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xt-48"/>
          <p:cNvSpPr txBox="1"/>
          <p:nvPr/>
        </p:nvSpPr>
        <p:spPr>
          <a:xfrm>
            <a:off x="9452381" y="24688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SUM, AVERAGE, COUNT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9287789" y="30449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xt-49"/>
          <p:cNvSpPr txBox="1"/>
          <p:nvPr/>
        </p:nvSpPr>
        <p:spPr>
          <a:xfrm>
            <a:off x="9452381" y="28803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MAX, DISTINCTCOUNT, ROUND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9287789" y="345643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xt-50"/>
          <p:cNvSpPr txBox="1"/>
          <p:nvPr/>
        </p:nvSpPr>
        <p:spPr>
          <a:xfrm>
            <a:off x="9452381" y="32918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SUMX, AVERAGEX, COUNTX</a:t>
            </a:r>
            <a:endParaRPr lang="en-US" sz="1300" dirty="0"/>
          </a:p>
        </p:txBody>
      </p:sp>
      <p:sp>
        <p:nvSpPr>
          <p:cNvPr id="83" name="Shape 80"/>
          <p:cNvSpPr/>
          <p:nvPr/>
        </p:nvSpPr>
        <p:spPr>
          <a:xfrm>
            <a:off x="9287789" y="38679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xt-51"/>
          <p:cNvSpPr txBox="1"/>
          <p:nvPr/>
        </p:nvSpPr>
        <p:spPr>
          <a:xfrm>
            <a:off x="9452381" y="370332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FILTER inside iterators</a:t>
            </a:r>
            <a:endParaRPr lang="en-US" sz="1300" dirty="0"/>
          </a:p>
        </p:txBody>
      </p:sp>
      <p:sp>
        <p:nvSpPr>
          <p:cNvPr id="85" name="Shape 82"/>
          <p:cNvSpPr/>
          <p:nvPr/>
        </p:nvSpPr>
        <p:spPr>
          <a:xfrm>
            <a:off x="9287789" y="427939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xt-52"/>
          <p:cNvSpPr txBox="1"/>
          <p:nvPr/>
        </p:nvSpPr>
        <p:spPr>
          <a:xfrm>
            <a:off x="9452381" y="411480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IF vs SWITCH(TRUE())</a:t>
            </a:r>
            <a:endParaRPr lang="en-US" sz="1300" dirty="0"/>
          </a:p>
        </p:txBody>
      </p:sp>
      <p:sp>
        <p:nvSpPr>
          <p:cNvPr id="87" name="Shape 84"/>
          <p:cNvSpPr/>
          <p:nvPr/>
        </p:nvSpPr>
        <p:spPr>
          <a:xfrm>
            <a:off x="9287789" y="469087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xt-53"/>
          <p:cNvSpPr txBox="1"/>
          <p:nvPr/>
        </p:nvSpPr>
        <p:spPr>
          <a:xfrm>
            <a:off x="9452381" y="452628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RELATED across tables</a:t>
            </a:r>
            <a:endParaRPr lang="en-US" sz="1300" dirty="0"/>
          </a:p>
        </p:txBody>
      </p:sp>
      <p:sp>
        <p:nvSpPr>
          <p:cNvPr id="89" name="Shape 86"/>
          <p:cNvSpPr/>
          <p:nvPr/>
        </p:nvSpPr>
        <p:spPr>
          <a:xfrm>
            <a:off x="9287789" y="51023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xt-54"/>
          <p:cNvSpPr txBox="1"/>
          <p:nvPr/>
        </p:nvSpPr>
        <p:spPr>
          <a:xfrm>
            <a:off x="9452381" y="493776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DIVIDE for safe ratios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5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NEW CONTENT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</a:t>
            </a:r>
            <a:r>
              <a:rPr lang="en-US" dirty="0"/>
              <a:t>content </a:t>
            </a: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data prep + core DAX</a:t>
            </a:r>
            <a:endParaRPr lang="en-US" sz="3000" dirty="0"/>
          </a:p>
        </p:txBody>
      </p:sp>
      <p:sp>
        <p:nvSpPr>
          <p:cNvPr id="5" name="card-56"/>
          <p:cNvSpPr/>
          <p:nvPr/>
        </p:nvSpPr>
        <p:spPr>
          <a:xfrm>
            <a:off x="548640" y="1645920"/>
            <a:ext cx="630936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dge-57"/>
          <p:cNvSpPr/>
          <p:nvPr/>
        </p:nvSpPr>
        <p:spPr>
          <a:xfrm>
            <a:off x="731520" y="183794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adge-t-58"/>
          <p:cNvSpPr txBox="1"/>
          <p:nvPr/>
        </p:nvSpPr>
        <p:spPr>
          <a:xfrm>
            <a:off x="7315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xt-59"/>
          <p:cNvSpPr txBox="1"/>
          <p:nvPr/>
        </p:nvSpPr>
        <p:spPr>
          <a:xfrm>
            <a:off x="137160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Power Query cleaning</a:t>
            </a:r>
            <a:endParaRPr lang="en-US" sz="1600" dirty="0"/>
          </a:p>
        </p:txBody>
      </p:sp>
      <p:sp>
        <p:nvSpPr>
          <p:cNvPr id="11" name="txt-62"/>
          <p:cNvSpPr txBox="1"/>
          <p:nvPr/>
        </p:nvSpPr>
        <p:spPr>
          <a:xfrm>
            <a:off x="1371600" y="20665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Split columns, unpivot, merge tables, fix nulls and errors</a:t>
            </a:r>
            <a:endParaRPr lang="en-US" sz="1300" dirty="0"/>
          </a:p>
        </p:txBody>
      </p:sp>
      <p:sp>
        <p:nvSpPr>
          <p:cNvPr id="12" name="card-63"/>
          <p:cNvSpPr/>
          <p:nvPr/>
        </p:nvSpPr>
        <p:spPr>
          <a:xfrm>
            <a:off x="548640" y="2606040"/>
            <a:ext cx="630936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badge-64"/>
          <p:cNvSpPr/>
          <p:nvPr/>
        </p:nvSpPr>
        <p:spPr>
          <a:xfrm>
            <a:off x="731520" y="279806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-t-65"/>
          <p:cNvSpPr txBox="1"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xt-66"/>
          <p:cNvSpPr txBox="1"/>
          <p:nvPr/>
        </p:nvSpPr>
        <p:spPr>
          <a:xfrm>
            <a:off x="1371600" y="2679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CALCULATE &amp; % of total</a:t>
            </a:r>
            <a:endParaRPr lang="en-US" sz="1600" dirty="0"/>
          </a:p>
        </p:txBody>
      </p:sp>
      <p:sp>
        <p:nvSpPr>
          <p:cNvPr id="18" name="txt-69"/>
          <p:cNvSpPr txBox="1"/>
          <p:nvPr/>
        </p:nvSpPr>
        <p:spPr>
          <a:xfrm>
            <a:off x="1371600" y="30266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Change filters inside a measure; REMOVEFILTERS for shares</a:t>
            </a:r>
            <a:endParaRPr lang="en-US" sz="1300" dirty="0"/>
          </a:p>
        </p:txBody>
      </p:sp>
      <p:sp>
        <p:nvSpPr>
          <p:cNvPr id="19" name="card-70"/>
          <p:cNvSpPr/>
          <p:nvPr/>
        </p:nvSpPr>
        <p:spPr>
          <a:xfrm>
            <a:off x="548640" y="3566160"/>
            <a:ext cx="630936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-71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adge-t-72"/>
          <p:cNvSpPr txBox="1"/>
          <p:nvPr/>
        </p:nvSpPr>
        <p:spPr>
          <a:xfrm>
            <a:off x="73152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xt-73"/>
          <p:cNvSpPr txBox="1"/>
          <p:nvPr/>
        </p:nvSpPr>
        <p:spPr>
          <a:xfrm>
            <a:off x="1371600" y="3639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Date table + time intelligence</a:t>
            </a:r>
            <a:endParaRPr lang="en-US" sz="1600" dirty="0"/>
          </a:p>
        </p:txBody>
      </p:sp>
      <p:sp>
        <p:nvSpPr>
          <p:cNvPr id="25" name="txt-76"/>
          <p:cNvSpPr txBox="1"/>
          <p:nvPr/>
        </p:nvSpPr>
        <p:spPr>
          <a:xfrm>
            <a:off x="1371600" y="39867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Mark a date table; YTD, prior year and YoY % measures</a:t>
            </a:r>
            <a:endParaRPr lang="en-US" sz="1300" dirty="0"/>
          </a:p>
        </p:txBody>
      </p:sp>
      <p:sp>
        <p:nvSpPr>
          <p:cNvPr id="26" name="code-bg-77"/>
          <p:cNvSpPr/>
          <p:nvPr/>
        </p:nvSpPr>
        <p:spPr>
          <a:xfrm>
            <a:off x="548640" y="4553712"/>
            <a:ext cx="6309360" cy="1645920"/>
          </a:xfrm>
          <a:prstGeom prst="roundRect">
            <a:avLst>
              <a:gd name="adj" fmla="val 3333"/>
            </a:avLst>
          </a:prstGeom>
          <a:solidFill>
            <a:srgbClr val="25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code-label-78"/>
          <p:cNvSpPr txBox="1"/>
          <p:nvPr/>
        </p:nvSpPr>
        <p:spPr>
          <a:xfrm>
            <a:off x="777240" y="4690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</a:rPr>
              <a:t>DAX  ·  BUILDS ON THE CLASS 2–3</a:t>
            </a:r>
            <a:endParaRPr lang="en-US" sz="1100" dirty="0"/>
          </a:p>
        </p:txBody>
      </p:sp>
      <p:sp>
        <p:nvSpPr>
          <p:cNvPr id="28" name="code-79"/>
          <p:cNvSpPr txBox="1"/>
          <p:nvPr/>
        </p:nvSpPr>
        <p:spPr>
          <a:xfrm>
            <a:off x="777240" y="501091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of Total = DIVIDE([Revenue],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CALCULATE([Revenue], REMOVEFILTERS(DimProduct[Category])))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PY = CALCULATE([Revenue],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SAMEPERIODLASTYEAR(DimDate[Date]))</a:t>
            </a:r>
            <a:endParaRPr lang="en-US" sz="1200" dirty="0"/>
          </a:p>
        </p:txBody>
      </p:sp>
      <p:sp>
        <p:nvSpPr>
          <p:cNvPr id="29" name="txt-80"/>
          <p:cNvSpPr txBox="1"/>
          <p:nvPr/>
        </p:nvSpPr>
        <p:spPr>
          <a:xfrm>
            <a:off x="7223760" y="164592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/>
                </a:solidFill>
              </a:rPr>
              <a:t>SOME HELPFUL LINKS FOR INSPIRATION</a:t>
            </a:r>
            <a:endParaRPr lang="en-US" sz="1200" dirty="0"/>
          </a:p>
        </p:txBody>
      </p:sp>
      <p:sp>
        <p:nvSpPr>
          <p:cNvPr id="30" name="card-81"/>
          <p:cNvSpPr/>
          <p:nvPr/>
        </p:nvSpPr>
        <p:spPr>
          <a:xfrm>
            <a:off x="7223760" y="2057400"/>
            <a:ext cx="441929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hip-82"/>
          <p:cNvSpPr/>
          <p:nvPr/>
        </p:nvSpPr>
        <p:spPr>
          <a:xfrm>
            <a:off x="7406640" y="236829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3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hip-t-83"/>
          <p:cNvSpPr txBox="1"/>
          <p:nvPr/>
        </p:nvSpPr>
        <p:spPr>
          <a:xfrm>
            <a:off x="7406640" y="2368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WEB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366760" y="216712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F6EA5"/>
                </a:solidFill>
                <a:hlinkClick r:id="rId3" tooltip="https://learn.microsoft.com/en-us/training/modules/clean-data-power-bi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Clean, transform, and load data</a:t>
            </a:r>
            <a:endParaRPr lang="en-US" sz="1400" dirty="0"/>
          </a:p>
        </p:txBody>
      </p:sp>
      <p:sp>
        <p:nvSpPr>
          <p:cNvPr id="34" name="txt-84"/>
          <p:cNvSpPr txBox="1"/>
          <p:nvPr/>
        </p:nvSpPr>
        <p:spPr>
          <a:xfrm>
            <a:off x="8366760" y="256032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Microsoft Learn — free Power Query module</a:t>
            </a:r>
            <a:endParaRPr lang="en-US" sz="1200" dirty="0"/>
          </a:p>
        </p:txBody>
      </p:sp>
      <p:sp>
        <p:nvSpPr>
          <p:cNvPr id="35" name="card-85"/>
          <p:cNvSpPr/>
          <p:nvPr/>
        </p:nvSpPr>
        <p:spPr>
          <a:xfrm>
            <a:off x="7223760" y="3154680"/>
            <a:ext cx="441929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chip-86"/>
          <p:cNvSpPr/>
          <p:nvPr/>
        </p:nvSpPr>
        <p:spPr>
          <a:xfrm>
            <a:off x="7406640" y="346557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3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chip-t-87"/>
          <p:cNvSpPr txBox="1"/>
          <p:nvPr/>
        </p:nvSpPr>
        <p:spPr>
          <a:xfrm>
            <a:off x="7406640" y="3465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WEB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366760" y="326440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F6EA5"/>
                </a:solidFill>
                <a:hlinkClick r:id="rId4" tooltip="https://sqlbi.com/tv/introducing-calculate-in-da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Introducing CALCULATE in DAX</a:t>
            </a:r>
            <a:endParaRPr lang="en-US" sz="1400" dirty="0"/>
          </a:p>
        </p:txBody>
      </p:sp>
      <p:sp>
        <p:nvSpPr>
          <p:cNvPr id="39" name="txt-88"/>
          <p:cNvSpPr txBox="1"/>
          <p:nvPr/>
        </p:nvSpPr>
        <p:spPr>
          <a:xfrm>
            <a:off x="8366760" y="365760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SQLBI — the go-to DAX experts explain CALCULATE</a:t>
            </a:r>
            <a:endParaRPr lang="en-US" sz="1200" dirty="0"/>
          </a:p>
        </p:txBody>
      </p:sp>
      <p:sp>
        <p:nvSpPr>
          <p:cNvPr id="40" name="card-89"/>
          <p:cNvSpPr/>
          <p:nvPr/>
        </p:nvSpPr>
        <p:spPr>
          <a:xfrm>
            <a:off x="7223760" y="4251960"/>
            <a:ext cx="441929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chip-90"/>
          <p:cNvSpPr/>
          <p:nvPr/>
        </p:nvSpPr>
        <p:spPr>
          <a:xfrm>
            <a:off x="7406640" y="456285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chip-t-91"/>
          <p:cNvSpPr txBox="1"/>
          <p:nvPr/>
        </p:nvSpPr>
        <p:spPr>
          <a:xfrm>
            <a:off x="7406640" y="45628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VIDEO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366760" y="436168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F6EA5"/>
                </a:solidFill>
                <a:hlinkClick r:id="rId5" tooltip="https://www.youtube.com/watch?v=cFlHJx1hy3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time intelligence</a:t>
            </a:r>
            <a:endParaRPr lang="en-US" sz="1400" dirty="0"/>
          </a:p>
        </p:txBody>
      </p:sp>
      <p:sp>
        <p:nvSpPr>
          <p:cNvPr id="44" name="txt-92"/>
          <p:cNvSpPr txBox="1"/>
          <p:nvPr/>
        </p:nvSpPr>
        <p:spPr>
          <a:xfrm>
            <a:off x="8366760" y="475488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YouTube — SAMEPERIODLASTYEAR, prior month, rolling avg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9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NEW CONTENT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</a:t>
            </a:r>
            <a:r>
              <a:rPr lang="en-US" dirty="0"/>
              <a:t>content </a:t>
            </a: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reporting + going live</a:t>
            </a:r>
            <a:endParaRPr lang="en-US" sz="3000" dirty="0"/>
          </a:p>
        </p:txBody>
      </p:sp>
      <p:sp>
        <p:nvSpPr>
          <p:cNvPr id="5" name="card-94"/>
          <p:cNvSpPr/>
          <p:nvPr/>
        </p:nvSpPr>
        <p:spPr>
          <a:xfrm>
            <a:off x="548640" y="1645920"/>
            <a:ext cx="630936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dge-95"/>
          <p:cNvSpPr/>
          <p:nvPr/>
        </p:nvSpPr>
        <p:spPr>
          <a:xfrm>
            <a:off x="731520" y="183794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adge-t-96"/>
          <p:cNvSpPr txBox="1"/>
          <p:nvPr/>
        </p:nvSpPr>
        <p:spPr>
          <a:xfrm>
            <a:off x="7315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xt-97"/>
          <p:cNvSpPr txBox="1"/>
          <p:nvPr/>
        </p:nvSpPr>
        <p:spPr>
          <a:xfrm>
            <a:off x="137160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Interactive reports</a:t>
            </a:r>
            <a:endParaRPr lang="en-US" sz="1600" dirty="0"/>
          </a:p>
        </p:txBody>
      </p:sp>
      <p:sp>
        <p:nvSpPr>
          <p:cNvPr id="11" name="txt-100"/>
          <p:cNvSpPr txBox="1"/>
          <p:nvPr/>
        </p:nvSpPr>
        <p:spPr>
          <a:xfrm>
            <a:off x="1371600" y="20665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Drillthrough, bookmarks &amp; buttons, tooltips, conditional formatting</a:t>
            </a:r>
            <a:endParaRPr lang="en-US" sz="1300" dirty="0"/>
          </a:p>
        </p:txBody>
      </p:sp>
      <p:sp>
        <p:nvSpPr>
          <p:cNvPr id="12" name="card-101"/>
          <p:cNvSpPr/>
          <p:nvPr/>
        </p:nvSpPr>
        <p:spPr>
          <a:xfrm>
            <a:off x="548640" y="2606040"/>
            <a:ext cx="630936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badge-102"/>
          <p:cNvSpPr/>
          <p:nvPr/>
        </p:nvSpPr>
        <p:spPr>
          <a:xfrm>
            <a:off x="731520" y="279806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-t-103"/>
          <p:cNvSpPr txBox="1"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xt-104"/>
          <p:cNvSpPr txBox="1"/>
          <p:nvPr/>
        </p:nvSpPr>
        <p:spPr>
          <a:xfrm>
            <a:off x="1371600" y="2679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Publish, refresh &amp; security</a:t>
            </a:r>
            <a:endParaRPr lang="en-US" sz="1600" dirty="0"/>
          </a:p>
        </p:txBody>
      </p:sp>
      <p:sp>
        <p:nvSpPr>
          <p:cNvPr id="18" name="txt-107"/>
          <p:cNvSpPr txBox="1"/>
          <p:nvPr/>
        </p:nvSpPr>
        <p:spPr>
          <a:xfrm>
            <a:off x="1371600" y="30266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Publish to a workspace, schedule refresh, row-level security</a:t>
            </a:r>
            <a:endParaRPr lang="en-US" sz="1300" dirty="0"/>
          </a:p>
        </p:txBody>
      </p:sp>
      <p:sp>
        <p:nvSpPr>
          <p:cNvPr id="19" name="card-108"/>
          <p:cNvSpPr/>
          <p:nvPr/>
        </p:nvSpPr>
        <p:spPr>
          <a:xfrm>
            <a:off x="548640" y="3566160"/>
            <a:ext cx="630936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-109"/>
          <p:cNvSpPr/>
          <p:nvPr/>
        </p:nvSpPr>
        <p:spPr>
          <a:xfrm>
            <a:off x="731520" y="37581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badge-t-110"/>
          <p:cNvSpPr txBox="1"/>
          <p:nvPr/>
        </p:nvSpPr>
        <p:spPr>
          <a:xfrm>
            <a:off x="73152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xt-111"/>
          <p:cNvSpPr txBox="1"/>
          <p:nvPr/>
        </p:nvSpPr>
        <p:spPr>
          <a:xfrm>
            <a:off x="1371600" y="3639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Copilot demo</a:t>
            </a:r>
            <a:endParaRPr lang="en-US" sz="1600" dirty="0"/>
          </a:p>
        </p:txBody>
      </p:sp>
      <p:sp>
        <p:nvSpPr>
          <p:cNvPr id="25" name="txt-114"/>
          <p:cNvSpPr txBox="1"/>
          <p:nvPr/>
        </p:nvSpPr>
        <p:spPr>
          <a:xfrm>
            <a:off x="1371600" y="39867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Generate and explain DAX, draft a report page — then check it</a:t>
            </a:r>
            <a:endParaRPr lang="en-US" sz="1300" dirty="0"/>
          </a:p>
        </p:txBody>
      </p:sp>
      <p:sp>
        <p:nvSpPr>
          <p:cNvPr id="26" name="card-115"/>
          <p:cNvSpPr/>
          <p:nvPr/>
        </p:nvSpPr>
        <p:spPr>
          <a:xfrm>
            <a:off x="548640" y="4553712"/>
            <a:ext cx="6309360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xt-116"/>
          <p:cNvSpPr txBox="1"/>
          <p:nvPr/>
        </p:nvSpPr>
        <p:spPr>
          <a:xfrm>
            <a:off x="822960" y="4663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</a:rPr>
              <a:t>LAB IDEA</a:t>
            </a:r>
            <a:endParaRPr lang="en-US" sz="1200" dirty="0"/>
          </a:p>
        </p:txBody>
      </p:sp>
      <p:sp>
        <p:nvSpPr>
          <p:cNvPr id="28" name="txt-117"/>
          <p:cNvSpPr txBox="1"/>
          <p:nvPr/>
        </p:nvSpPr>
        <p:spPr>
          <a:xfrm>
            <a:off x="822960" y="498348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Turn the Class 3 sales report into a 3-page app: overview with KPI cards, a product drillthrough page, and an RLS role so each regional manager sees only their region.</a:t>
            </a:r>
            <a:endParaRPr lang="en-US" sz="1400" dirty="0"/>
          </a:p>
        </p:txBody>
      </p:sp>
      <p:sp>
        <p:nvSpPr>
          <p:cNvPr id="29" name="txt-118"/>
          <p:cNvSpPr txBox="1"/>
          <p:nvPr/>
        </p:nvSpPr>
        <p:spPr>
          <a:xfrm>
            <a:off x="7223760" y="164592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5"/>
                </a:solidFill>
              </a:rPr>
              <a:t>SOME HELPFUL LINKS FOR INSPIRATION</a:t>
            </a:r>
            <a:endParaRPr lang="en-US" sz="1200" dirty="0"/>
          </a:p>
        </p:txBody>
      </p:sp>
      <p:sp>
        <p:nvSpPr>
          <p:cNvPr id="30" name="card-119"/>
          <p:cNvSpPr/>
          <p:nvPr/>
        </p:nvSpPr>
        <p:spPr>
          <a:xfrm>
            <a:off x="7223760" y="2057400"/>
            <a:ext cx="441929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chip-120"/>
          <p:cNvSpPr/>
          <p:nvPr/>
        </p:nvSpPr>
        <p:spPr>
          <a:xfrm>
            <a:off x="7406640" y="236829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hip-t-121"/>
          <p:cNvSpPr txBox="1"/>
          <p:nvPr/>
        </p:nvSpPr>
        <p:spPr>
          <a:xfrm>
            <a:off x="7406640" y="2368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VIDEO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366760" y="216712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F6EA5"/>
                </a:solidFill>
                <a:hlinkClick r:id="rId3" tooltip="https://www.youtube.com/watch?v=JojA-f0ckS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Buttons &amp; bookmarks tutorial</a:t>
            </a:r>
            <a:endParaRPr lang="en-US" sz="1400" dirty="0"/>
          </a:p>
        </p:txBody>
      </p:sp>
      <p:sp>
        <p:nvSpPr>
          <p:cNvPr id="34" name="txt-122"/>
          <p:cNvSpPr txBox="1"/>
          <p:nvPr/>
        </p:nvSpPr>
        <p:spPr>
          <a:xfrm>
            <a:off x="8366760" y="256032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YouTube — page navigation and show/hide views</a:t>
            </a:r>
            <a:endParaRPr lang="en-US" sz="1200" dirty="0"/>
          </a:p>
        </p:txBody>
      </p:sp>
      <p:sp>
        <p:nvSpPr>
          <p:cNvPr id="35" name="card-123"/>
          <p:cNvSpPr/>
          <p:nvPr/>
        </p:nvSpPr>
        <p:spPr>
          <a:xfrm>
            <a:off x="7223760" y="3154680"/>
            <a:ext cx="441929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chip-124"/>
          <p:cNvSpPr/>
          <p:nvPr/>
        </p:nvSpPr>
        <p:spPr>
          <a:xfrm>
            <a:off x="7406640" y="346557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chip-t-125"/>
          <p:cNvSpPr txBox="1"/>
          <p:nvPr/>
        </p:nvSpPr>
        <p:spPr>
          <a:xfrm>
            <a:off x="7406640" y="3465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VIDEO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366760" y="326440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F6EA5"/>
                </a:solidFill>
                <a:hlinkClick r:id="rId4" tooltip="https://www.youtube.com/watch?v=qHmsonZRb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Bookmarks and drillthrough</a:t>
            </a:r>
            <a:endParaRPr lang="en-US" sz="1400" dirty="0"/>
          </a:p>
        </p:txBody>
      </p:sp>
      <p:sp>
        <p:nvSpPr>
          <p:cNvPr id="39" name="txt-126"/>
          <p:cNvSpPr txBox="1"/>
          <p:nvPr/>
        </p:nvSpPr>
        <p:spPr>
          <a:xfrm>
            <a:off x="8366760" y="365760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YouTube — designing navigable reports</a:t>
            </a:r>
            <a:endParaRPr lang="en-US" sz="1200" dirty="0"/>
          </a:p>
        </p:txBody>
      </p:sp>
      <p:sp>
        <p:nvSpPr>
          <p:cNvPr id="40" name="card-127"/>
          <p:cNvSpPr/>
          <p:nvPr/>
        </p:nvSpPr>
        <p:spPr>
          <a:xfrm>
            <a:off x="7223760" y="4251960"/>
            <a:ext cx="441929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chip-128"/>
          <p:cNvSpPr/>
          <p:nvPr/>
        </p:nvSpPr>
        <p:spPr>
          <a:xfrm>
            <a:off x="7406640" y="456285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3A3D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chip-t-129"/>
          <p:cNvSpPr txBox="1"/>
          <p:nvPr/>
        </p:nvSpPr>
        <p:spPr>
          <a:xfrm>
            <a:off x="7406640" y="45628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WEB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366760" y="436168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F6EA5"/>
                </a:solidFill>
                <a:hlinkClick r:id="rId5" tooltip="https://learn.microsoft.com/power-bi/enterprise/service-admin-r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Row-level security with Power BI</a:t>
            </a:r>
            <a:endParaRPr lang="en-US" sz="1400" dirty="0"/>
          </a:p>
        </p:txBody>
      </p:sp>
      <p:sp>
        <p:nvSpPr>
          <p:cNvPr id="44" name="txt-130"/>
          <p:cNvSpPr txBox="1"/>
          <p:nvPr/>
        </p:nvSpPr>
        <p:spPr>
          <a:xfrm>
            <a:off x="8366760" y="475488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Microsoft Learn — set up and test RLS roles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9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Y442 Review">
  <a:themeElements>
    <a:clrScheme name="INSY442 Review">
      <a:dk1>
        <a:srgbClr val="1E1F24"/>
      </a:dk1>
      <a:lt1>
        <a:srgbClr val="FFFFFF"/>
      </a:lt1>
      <a:dk2>
        <a:srgbClr val="3A3D45"/>
      </a:dk2>
      <a:lt2>
        <a:srgbClr val="F2F2F4"/>
      </a:lt2>
      <a:accent1>
        <a:srgbClr val="C8102E"/>
      </a:accent1>
      <a:accent2>
        <a:srgbClr val="E8A33D"/>
      </a:accent2>
      <a:accent3>
        <a:srgbClr val="2F6EA5"/>
      </a:accent3>
      <a:accent4>
        <a:srgbClr val="3D8B5F"/>
      </a:accent4>
      <a:accent5>
        <a:srgbClr val="8A8D93"/>
      </a:accent5>
      <a:accent6>
        <a:srgbClr val="7A0E1E"/>
      </a:accent6>
      <a:hlink>
        <a:srgbClr val="2F6EA5"/>
      </a:hlink>
      <a:folHlink>
        <a:srgbClr val="7A0E1E"/>
      </a:folHlink>
    </a:clrScheme>
    <a:fontScheme name="INSY442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813</Words>
  <Application>Microsoft Macintosh PowerPoint</Application>
  <PresentationFormat>Widescreen</PresentationFormat>
  <Paragraphs>111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Courier New</vt:lpstr>
      <vt:lpstr>INSY442 Review</vt:lpstr>
      <vt:lpstr>Expanding Power BI in INSY 442</vt:lpstr>
      <vt:lpstr>What the four Power BI classes covered</vt:lpstr>
      <vt:lpstr>Add content on data prep + core DAX</vt:lpstr>
      <vt:lpstr>Add content on reporting + going live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Power BI in INSY 442</dc:title>
  <dc:subject>PptxGenJS Presentation</dc:subject>
  <dc:creator>INSY 442 Research Assistant</dc:creator>
  <cp:lastModifiedBy>Cindy Liu</cp:lastModifiedBy>
  <cp:revision>9</cp:revision>
  <dcterms:created xsi:type="dcterms:W3CDTF">2026-10-16T01:03:20Z</dcterms:created>
  <dcterms:modified xsi:type="dcterms:W3CDTF">2026-10-16T01:15:26Z</dcterms:modified>
</cp:coreProperties>
</file>