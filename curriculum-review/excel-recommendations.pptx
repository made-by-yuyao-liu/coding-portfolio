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28"/>
    <p:restoredTop sz="94610"/>
  </p:normalViewPr>
  <p:slideViewPr>
    <p:cSldViewPr snapToGrid="0" snapToObjects="1">
      <p:cViewPr varScale="1">
        <p:scale>
          <a:sx n="111" d="100"/>
          <a:sy n="111" d="100"/>
        </p:scale>
        <p:origin x="2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4511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the four Excel classes from Winter 2026 (Exploring, Aggregating, Assembling and Analyzing Data), compared against the Excel content of MGCR 331, the prerequisite intro course.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column per Excel class from Winter 2026, built from the class notes. Class 1 (Jan 13) Exploring Data: basics, references, named ranges, Auto/Flash Fill, IF/IFS/IFERROR and input validation. Class 2 Aggregating Data: logical, count, sum, average functions, SUMPRODUCT and data validation. Class 3 Assembling Data: dynamic arrays, reference and lookup functions, LET and LAMBDA. Class 4 Analyzing Data: financial functions, sort/filter, conditional formatting, sparklines and PivotTables.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struck-through topics are already taught in MGCR 331 (the prerequisite intro course): IF / nested IF, AND / OR, COUNT family, SUM / SUMIF(S), AVERAGEIF(S), SUMPRODUCT basics, named ranges, cell references, Auto Fill / Flash Fill, IFERROR, data validation, UNIQUE, XLOOKUP basics, PMT / FV, conditional formatting and PivotTables. Recommendation: students review these on their own using an Excel review package (the RA can supply notes), and class time goes to the topics in green plus the two new sessions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MGCR 331 introduced individual text functions (TRIM, LEFT, MID, CONCAT) and Power Query in isolation. This class pulls them into one realistic workflow: students get a deliberately messy export and must make it analysis-ready. It also feeds directly into Class 4's 'pivot-ready data' rule and into Power BI's Power Query lesson. Suggested lab: a messy sales export with duplicate orders, stray spaces, mixed-case regions, numbers stored as text, text dates and a wide month-by-month layout → clean, de-duplicated, long-format table → PivotTable.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is about working like an analyst rather than learning new functions. Excel Tables are the anchor: they auto-expand, make formulas readable with structured references, and connect cleanly to PivotTables and Power BI. Shortcuts and formula auditing save time and catch errors in group projects. MGCR 331 introduced the Inputs / Model / Outputs layout; here students apply it in a timed exercise.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1F2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11680"/>
            <a:ext cx="9601200" cy="164592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548640" y="3840480"/>
            <a:ext cx="9144000" cy="914400"/>
          </a:xfrm>
          <a:prstGeom prst="rect">
            <a:avLst/>
          </a:prstGeom>
          <a:noFill/>
          <a:ln/>
        </p:spPr>
        <p:txBody>
          <a:bodyPr wrap="square" rtlCol="0"/>
          <a:lstStyle>
            <a:lvl1pPr marL="0" indent="0" algn="l">
              <a:buNone/>
              <a:defRPr lang="en-US" sz="2000" dirty="0">
                <a:solidFill>
                  <a:srgbClr val="D5D6DA"/>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58368"/>
            <a:ext cx="11094415" cy="731520"/>
          </a:xfrm>
          <a:prstGeom prst="rect">
            <a:avLst/>
          </a:prstGeom>
          <a:noFill/>
          <a:ln/>
        </p:spPr>
        <p:txBody>
          <a:bodyPr wrap="square" rtlCol="0"/>
          <a:lstStyle>
            <a:lvl1pPr marL="0" indent="0" algn="l">
              <a:buNone/>
              <a:defRPr lang="en-US" sz="30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9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9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support.microsoft.com/en-us/Excel/top-ten-ways-to-clean-your-data"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hyperlink" Target="https://www.youtube.com/watch?v=GoZMQLYIgMA" TargetMode="External"/><Relationship Id="rId4" Type="http://schemas.openxmlformats.org/officeDocument/2006/relationships/hyperlink" Target="https://www.youtube.com/watch?v=x78JR7XHTro"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support.microsoft.com/en-us/office/overview-of-excel-tables-7ab0bb7d-3a9e-4b56-a3c9-6c94334e492c"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hyperlink" Target="https://support.microsoft.com/office/keyboard-shortcuts-in-excel-1798d9d5-842a-42b8-9c99-9b7213f0040f" TargetMode="External"/><Relationship Id="rId4" Type="http://schemas.openxmlformats.org/officeDocument/2006/relationships/hyperlink" Target="https://www.youtube.com/watch?v=fA80hdoAO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80160"/>
            <a:ext cx="7315200" cy="365760"/>
          </a:xfrm>
          <a:prstGeom prst="rect">
            <a:avLst/>
          </a:prstGeom>
          <a:noFill/>
          <a:ln/>
        </p:spPr>
        <p:txBody>
          <a:bodyPr wrap="square" lIns="0" tIns="0" rIns="0" bIns="0" rtlCol="0" anchor="ctr"/>
          <a:lstStyle/>
          <a:p>
            <a:pPr marL="0" indent="0">
              <a:buNone/>
            </a:pPr>
            <a:r>
              <a:rPr lang="en-US" sz="1400" b="1" kern="0" spc="300" dirty="0">
                <a:solidFill>
                  <a:srgbClr val="C8102E"/>
                </a:solidFill>
              </a:rPr>
              <a:t>INSY 442  ·  COURSE REVIEW</a:t>
            </a:r>
            <a:endParaRPr lang="en-US" sz="1400" dirty="0"/>
          </a:p>
        </p:txBody>
      </p:sp>
      <p:sp>
        <p:nvSpPr>
          <p:cNvPr id="3" name="Text 0"/>
          <p:cNvSpPr>
            <a:spLocks noGrp="1"/>
          </p:cNvSpPr>
          <p:nvPr>
            <p:ph type="title" idx="100" hasCustomPrompt="1"/>
          </p:nvPr>
        </p:nvSpPr>
        <p:spPr>
          <a:xfrm>
            <a:off x="548640" y="2011680"/>
            <a:ext cx="9601200" cy="164592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Excel in INSY 442</a:t>
            </a:r>
            <a:endParaRPr lang="en-US" sz="4400" dirty="0"/>
          </a:p>
        </p:txBody>
      </p:sp>
      <p:sp>
        <p:nvSpPr>
          <p:cNvPr id="4" name="Text 0"/>
          <p:cNvSpPr>
            <a:spLocks noGrp="1"/>
          </p:cNvSpPr>
          <p:nvPr>
            <p:ph type="body" idx="101" hasCustomPrompt="1"/>
          </p:nvPr>
        </p:nvSpPr>
        <p:spPr>
          <a:xfrm>
            <a:off x="548640" y="3840480"/>
            <a:ext cx="9144000" cy="914400"/>
          </a:xfrm>
          <a:prstGeom prst="rect">
            <a:avLst/>
          </a:prstGeom>
          <a:noFill/>
          <a:ln/>
        </p:spPr>
        <p:txBody>
          <a:bodyPr wrap="square" lIns="0" tIns="0" rIns="0" bIns="0" rtlCol="0" anchor="t"/>
          <a:lstStyle/>
          <a:p>
            <a:pPr marL="0" indent="0" algn="l">
              <a:buNone/>
            </a:pPr>
            <a:r>
              <a:rPr lang="en-US" sz="2000" dirty="0">
                <a:solidFill>
                  <a:srgbClr val="D5D6DA"/>
                </a:solidFill>
              </a:rPr>
              <a:t>Removing overlap with MGCR 331 and using the freed class for data cleaning and working habits</a:t>
            </a:r>
            <a:endParaRPr lang="en-US" sz="2000" dirty="0"/>
          </a:p>
        </p:txBody>
      </p:sp>
      <p:sp>
        <p:nvSpPr>
          <p:cNvPr id="5" name="Text 3"/>
          <p:cNvSpPr txBox="1"/>
          <p:nvPr/>
        </p:nvSpPr>
        <p:spPr>
          <a:xfrm>
            <a:off x="548640" y="5852160"/>
            <a:ext cx="7315200" cy="365760"/>
          </a:xfrm>
          <a:prstGeom prst="rect">
            <a:avLst/>
          </a:prstGeom>
          <a:noFill/>
          <a:ln/>
        </p:spPr>
        <p:txBody>
          <a:bodyPr wrap="square" lIns="0" tIns="0" rIns="0" bIns="0" rtlCol="0" anchor="ctr"/>
          <a:lstStyle/>
          <a:p>
            <a:pPr marL="0" indent="0">
              <a:buNone/>
            </a:pPr>
            <a:r>
              <a:rPr lang="en-US" sz="1400" dirty="0">
                <a:solidFill>
                  <a:srgbClr val="A9ABB2"/>
                </a:solidFill>
              </a:rPr>
              <a:t>Cindy Liu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1"/>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WINTER 2026 RECAP</a:t>
            </a:r>
            <a:endParaRPr lang="en-US" sz="1200" dirty="0"/>
          </a:p>
        </p:txBody>
      </p:sp>
      <p:sp>
        <p:nvSpPr>
          <p:cNvPr id="3" name="Text 0"/>
          <p:cNvSpPr>
            <a:spLocks noGrp="1"/>
          </p:cNvSpPr>
          <p:nvPr>
            <p:ph type="title" idx="100" hasCustomPrompt="1"/>
          </p:nvPr>
        </p:nvSpPr>
        <p:spPr>
          <a:xfrm>
            <a:off x="548640" y="658368"/>
            <a:ext cx="11094415" cy="731520"/>
          </a:xfrm>
          <a:prstGeom prst="rect">
            <a:avLst/>
          </a:prstGeom>
          <a:noFill/>
          <a:ln/>
        </p:spPr>
        <p:txBody>
          <a:bodyPr wrap="square" lIns="0" tIns="0" rIns="0" bIns="0" rtlCol="0" anchor="t"/>
          <a:lstStyle/>
          <a:p>
            <a:pPr marL="0" indent="0" algn="l">
              <a:buNone/>
            </a:pPr>
            <a:r>
              <a:rPr lang="en-US" sz="3000" b="1" dirty="0">
                <a:solidFill>
                  <a:schemeClr val="tx1"/>
                </a:solidFill>
                <a:latin typeface="Cambria" pitchFamily="34" charset="0"/>
                <a:ea typeface="Cambria" pitchFamily="34" charset="-122"/>
                <a:cs typeface="Cambria" pitchFamily="34" charset="-120"/>
              </a:rPr>
              <a:t>What the four Excel classes covered</a:t>
            </a:r>
            <a:endParaRPr lang="en-US" sz="3000" dirty="0"/>
          </a:p>
        </p:txBody>
      </p:sp>
      <p:sp>
        <p:nvSpPr>
          <p:cNvPr id="5" name="card-2"/>
          <p:cNvSpPr/>
          <p:nvPr/>
        </p:nvSpPr>
        <p:spPr>
          <a:xfrm>
            <a:off x="548640" y="1554480"/>
            <a:ext cx="2602154" cy="4206240"/>
          </a:xfrm>
          <a:prstGeom prst="roundRect">
            <a:avLst>
              <a:gd name="adj" fmla="val 2811"/>
            </a:avLst>
          </a:prstGeom>
          <a:solidFill>
            <a:schemeClr val="bg2"/>
          </a:solidFill>
          <a:ln/>
        </p:spPr>
        <p:txBody>
          <a:bodyPr/>
          <a:lstStyle/>
          <a:p>
            <a:endParaRPr lang="en-US"/>
          </a:p>
        </p:txBody>
      </p:sp>
      <p:sp>
        <p:nvSpPr>
          <p:cNvPr id="6" name="badge-3"/>
          <p:cNvSpPr/>
          <p:nvPr/>
        </p:nvSpPr>
        <p:spPr>
          <a:xfrm>
            <a:off x="777240" y="1755648"/>
            <a:ext cx="457200" cy="457200"/>
          </a:xfrm>
          <a:prstGeom prst="ellipse">
            <a:avLst/>
          </a:prstGeom>
          <a:solidFill>
            <a:srgbClr val="1E1F24"/>
          </a:solidFill>
          <a:ln/>
        </p:spPr>
        <p:txBody>
          <a:bodyPr/>
          <a:lstStyle/>
          <a:p>
            <a:endParaRPr lang="en-US"/>
          </a:p>
        </p:txBody>
      </p:sp>
      <p:sp>
        <p:nvSpPr>
          <p:cNvPr id="7" name="badge-t-4"/>
          <p:cNvSpPr txBox="1"/>
          <p:nvPr/>
        </p:nvSpPr>
        <p:spPr>
          <a:xfrm>
            <a:off x="777240" y="1755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8" name="txt-5"/>
          <p:cNvSpPr txBox="1"/>
          <p:nvPr/>
        </p:nvSpPr>
        <p:spPr>
          <a:xfrm>
            <a:off x="1371600" y="1691640"/>
            <a:ext cx="1687754" cy="292608"/>
          </a:xfrm>
          <a:prstGeom prst="rect">
            <a:avLst/>
          </a:prstGeom>
          <a:noFill/>
          <a:ln/>
        </p:spPr>
        <p:txBody>
          <a:bodyPr wrap="square" lIns="0" tIns="0" rIns="0" bIns="0" rtlCol="0" anchor="t"/>
          <a:lstStyle/>
          <a:p>
            <a:pPr marL="0" indent="0">
              <a:buNone/>
            </a:pPr>
            <a:r>
              <a:rPr lang="en-US" sz="1100" b="1" kern="0" spc="100" dirty="0">
                <a:solidFill>
                  <a:schemeClr val="accent5"/>
                </a:solidFill>
              </a:rPr>
              <a:t>CLASS 1</a:t>
            </a:r>
            <a:endParaRPr lang="en-US" sz="1100" dirty="0"/>
          </a:p>
        </p:txBody>
      </p:sp>
      <p:sp>
        <p:nvSpPr>
          <p:cNvPr id="9" name="txt-6"/>
          <p:cNvSpPr txBox="1"/>
          <p:nvPr/>
        </p:nvSpPr>
        <p:spPr>
          <a:xfrm>
            <a:off x="1371600" y="1938528"/>
            <a:ext cx="1687754" cy="36576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Exploring Data</a:t>
            </a:r>
            <a:endParaRPr lang="en-US" sz="1700" dirty="0"/>
          </a:p>
        </p:txBody>
      </p:sp>
      <p:sp>
        <p:nvSpPr>
          <p:cNvPr id="10" name="Shape 7"/>
          <p:cNvSpPr/>
          <p:nvPr/>
        </p:nvSpPr>
        <p:spPr>
          <a:xfrm>
            <a:off x="795528" y="2610612"/>
            <a:ext cx="82296" cy="82296"/>
          </a:xfrm>
          <a:prstGeom prst="ellipse">
            <a:avLst/>
          </a:prstGeom>
          <a:solidFill>
            <a:srgbClr val="8A8D93"/>
          </a:solidFill>
          <a:ln/>
        </p:spPr>
        <p:txBody>
          <a:bodyPr/>
          <a:lstStyle/>
          <a:p>
            <a:endParaRPr lang="en-US"/>
          </a:p>
        </p:txBody>
      </p:sp>
      <p:sp>
        <p:nvSpPr>
          <p:cNvPr id="11" name="txt-7"/>
          <p:cNvSpPr txBox="1"/>
          <p:nvPr/>
        </p:nvSpPr>
        <p:spPr>
          <a:xfrm>
            <a:off x="960120" y="2468880"/>
            <a:ext cx="2144954" cy="365760"/>
          </a:xfrm>
          <a:prstGeom prst="rect">
            <a:avLst/>
          </a:prstGeom>
          <a:noFill/>
          <a:ln/>
        </p:spPr>
        <p:txBody>
          <a:bodyPr wrap="square" lIns="0" tIns="0" rIns="0" bIns="0" rtlCol="0" anchor="ctr"/>
          <a:lstStyle/>
          <a:p>
            <a:pPr marL="0" indent="0">
              <a:buNone/>
            </a:pPr>
            <a:r>
              <a:rPr lang="en-US" sz="1300" dirty="0">
                <a:solidFill>
                  <a:schemeClr val="tx1"/>
                </a:solidFill>
              </a:rPr>
              <a:t>Cells, ranges, formulas</a:t>
            </a:r>
            <a:endParaRPr lang="en-US" sz="1300" dirty="0"/>
          </a:p>
        </p:txBody>
      </p:sp>
      <p:sp>
        <p:nvSpPr>
          <p:cNvPr id="12" name="Shape 9"/>
          <p:cNvSpPr/>
          <p:nvPr/>
        </p:nvSpPr>
        <p:spPr>
          <a:xfrm>
            <a:off x="795528" y="2976372"/>
            <a:ext cx="82296" cy="82296"/>
          </a:xfrm>
          <a:prstGeom prst="ellipse">
            <a:avLst/>
          </a:prstGeom>
          <a:solidFill>
            <a:srgbClr val="8A8D93"/>
          </a:solidFill>
          <a:ln/>
        </p:spPr>
        <p:txBody>
          <a:bodyPr/>
          <a:lstStyle/>
          <a:p>
            <a:endParaRPr lang="en-US"/>
          </a:p>
        </p:txBody>
      </p:sp>
      <p:sp>
        <p:nvSpPr>
          <p:cNvPr id="13" name="txt-8"/>
          <p:cNvSpPr txBox="1"/>
          <p:nvPr/>
        </p:nvSpPr>
        <p:spPr>
          <a:xfrm>
            <a:off x="960120" y="2834640"/>
            <a:ext cx="2144954" cy="365760"/>
          </a:xfrm>
          <a:prstGeom prst="rect">
            <a:avLst/>
          </a:prstGeom>
          <a:noFill/>
          <a:ln/>
        </p:spPr>
        <p:txBody>
          <a:bodyPr wrap="square" lIns="0" tIns="0" rIns="0" bIns="0" rtlCol="0" anchor="ctr"/>
          <a:lstStyle/>
          <a:p>
            <a:pPr marL="0" indent="0">
              <a:buNone/>
            </a:pPr>
            <a:r>
              <a:rPr lang="en-US" sz="1300" dirty="0">
                <a:solidFill>
                  <a:schemeClr val="tx1"/>
                </a:solidFill>
              </a:rPr>
              <a:t>3-D sheet references</a:t>
            </a:r>
            <a:endParaRPr lang="en-US" sz="1300" dirty="0"/>
          </a:p>
        </p:txBody>
      </p:sp>
      <p:sp>
        <p:nvSpPr>
          <p:cNvPr id="14" name="Shape 11"/>
          <p:cNvSpPr/>
          <p:nvPr/>
        </p:nvSpPr>
        <p:spPr>
          <a:xfrm>
            <a:off x="795528" y="3342132"/>
            <a:ext cx="82296" cy="82296"/>
          </a:xfrm>
          <a:prstGeom prst="ellipse">
            <a:avLst/>
          </a:prstGeom>
          <a:solidFill>
            <a:srgbClr val="8A8D93"/>
          </a:solidFill>
          <a:ln/>
        </p:spPr>
        <p:txBody>
          <a:bodyPr/>
          <a:lstStyle/>
          <a:p>
            <a:endParaRPr lang="en-US"/>
          </a:p>
        </p:txBody>
      </p:sp>
      <p:sp>
        <p:nvSpPr>
          <p:cNvPr id="15" name="txt-9"/>
          <p:cNvSpPr txBox="1"/>
          <p:nvPr/>
        </p:nvSpPr>
        <p:spPr>
          <a:xfrm>
            <a:off x="960120" y="3200400"/>
            <a:ext cx="2144954" cy="365760"/>
          </a:xfrm>
          <a:prstGeom prst="rect">
            <a:avLst/>
          </a:prstGeom>
          <a:noFill/>
          <a:ln/>
        </p:spPr>
        <p:txBody>
          <a:bodyPr wrap="square" lIns="0" tIns="0" rIns="0" bIns="0" rtlCol="0" anchor="ctr"/>
          <a:lstStyle/>
          <a:p>
            <a:pPr marL="0" indent="0">
              <a:buNone/>
            </a:pPr>
            <a:r>
              <a:rPr lang="en-US" sz="1300" dirty="0">
                <a:solidFill>
                  <a:schemeClr val="tx1"/>
                </a:solidFill>
              </a:rPr>
              <a:t>Named ranges</a:t>
            </a:r>
            <a:endParaRPr lang="en-US" sz="1300" dirty="0"/>
          </a:p>
        </p:txBody>
      </p:sp>
      <p:sp>
        <p:nvSpPr>
          <p:cNvPr id="16" name="Shape 13"/>
          <p:cNvSpPr/>
          <p:nvPr/>
        </p:nvSpPr>
        <p:spPr>
          <a:xfrm>
            <a:off x="795528" y="3707892"/>
            <a:ext cx="82296" cy="82296"/>
          </a:xfrm>
          <a:prstGeom prst="ellipse">
            <a:avLst/>
          </a:prstGeom>
          <a:solidFill>
            <a:srgbClr val="8A8D93"/>
          </a:solidFill>
          <a:ln/>
        </p:spPr>
        <p:txBody>
          <a:bodyPr/>
          <a:lstStyle/>
          <a:p>
            <a:endParaRPr lang="en-US"/>
          </a:p>
        </p:txBody>
      </p:sp>
      <p:sp>
        <p:nvSpPr>
          <p:cNvPr id="17" name="txt-10"/>
          <p:cNvSpPr txBox="1"/>
          <p:nvPr/>
        </p:nvSpPr>
        <p:spPr>
          <a:xfrm>
            <a:off x="960120" y="3566160"/>
            <a:ext cx="2144954" cy="365760"/>
          </a:xfrm>
          <a:prstGeom prst="rect">
            <a:avLst/>
          </a:prstGeom>
          <a:noFill/>
          <a:ln/>
        </p:spPr>
        <p:txBody>
          <a:bodyPr wrap="square" lIns="0" tIns="0" rIns="0" bIns="0" rtlCol="0" anchor="ctr"/>
          <a:lstStyle/>
          <a:p>
            <a:pPr marL="0" indent="0">
              <a:buNone/>
            </a:pPr>
            <a:r>
              <a:rPr lang="en-US" sz="1300" dirty="0">
                <a:solidFill>
                  <a:schemeClr val="tx1"/>
                </a:solidFill>
              </a:rPr>
              <a:t>Relative / absolute refs</a:t>
            </a:r>
            <a:endParaRPr lang="en-US" sz="1300" dirty="0"/>
          </a:p>
        </p:txBody>
      </p:sp>
      <p:sp>
        <p:nvSpPr>
          <p:cNvPr id="18" name="Shape 15"/>
          <p:cNvSpPr/>
          <p:nvPr/>
        </p:nvSpPr>
        <p:spPr>
          <a:xfrm>
            <a:off x="795528" y="4073652"/>
            <a:ext cx="82296" cy="82296"/>
          </a:xfrm>
          <a:prstGeom prst="ellipse">
            <a:avLst/>
          </a:prstGeom>
          <a:solidFill>
            <a:srgbClr val="8A8D93"/>
          </a:solidFill>
          <a:ln/>
        </p:spPr>
        <p:txBody>
          <a:bodyPr/>
          <a:lstStyle/>
          <a:p>
            <a:endParaRPr lang="en-US"/>
          </a:p>
        </p:txBody>
      </p:sp>
      <p:sp>
        <p:nvSpPr>
          <p:cNvPr id="19" name="txt-11"/>
          <p:cNvSpPr txBox="1"/>
          <p:nvPr/>
        </p:nvSpPr>
        <p:spPr>
          <a:xfrm>
            <a:off x="960120" y="3931920"/>
            <a:ext cx="2144954" cy="365760"/>
          </a:xfrm>
          <a:prstGeom prst="rect">
            <a:avLst/>
          </a:prstGeom>
          <a:noFill/>
          <a:ln/>
        </p:spPr>
        <p:txBody>
          <a:bodyPr wrap="square" lIns="0" tIns="0" rIns="0" bIns="0" rtlCol="0" anchor="ctr"/>
          <a:lstStyle/>
          <a:p>
            <a:pPr marL="0" indent="0">
              <a:buNone/>
            </a:pPr>
            <a:r>
              <a:rPr lang="en-US" sz="1300" dirty="0">
                <a:solidFill>
                  <a:schemeClr val="tx1"/>
                </a:solidFill>
              </a:rPr>
              <a:t>Auto Fill &amp; Flash Fill</a:t>
            </a:r>
            <a:endParaRPr lang="en-US" sz="1300" dirty="0"/>
          </a:p>
        </p:txBody>
      </p:sp>
      <p:sp>
        <p:nvSpPr>
          <p:cNvPr id="20" name="Shape 17"/>
          <p:cNvSpPr/>
          <p:nvPr/>
        </p:nvSpPr>
        <p:spPr>
          <a:xfrm>
            <a:off x="795528" y="4439412"/>
            <a:ext cx="82296" cy="82296"/>
          </a:xfrm>
          <a:prstGeom prst="ellipse">
            <a:avLst/>
          </a:prstGeom>
          <a:solidFill>
            <a:srgbClr val="8A8D93"/>
          </a:solidFill>
          <a:ln/>
        </p:spPr>
        <p:txBody>
          <a:bodyPr/>
          <a:lstStyle/>
          <a:p>
            <a:endParaRPr lang="en-US"/>
          </a:p>
        </p:txBody>
      </p:sp>
      <p:sp>
        <p:nvSpPr>
          <p:cNvPr id="21" name="txt-12"/>
          <p:cNvSpPr txBox="1"/>
          <p:nvPr/>
        </p:nvSpPr>
        <p:spPr>
          <a:xfrm>
            <a:off x="960120" y="4297680"/>
            <a:ext cx="2144954" cy="365760"/>
          </a:xfrm>
          <a:prstGeom prst="rect">
            <a:avLst/>
          </a:prstGeom>
          <a:noFill/>
          <a:ln/>
        </p:spPr>
        <p:txBody>
          <a:bodyPr wrap="square" lIns="0" tIns="0" rIns="0" bIns="0" rtlCol="0" anchor="ctr"/>
          <a:lstStyle/>
          <a:p>
            <a:pPr marL="0" indent="0">
              <a:buNone/>
            </a:pPr>
            <a:r>
              <a:rPr lang="en-US" sz="1300" dirty="0">
                <a:solidFill>
                  <a:schemeClr val="tx1"/>
                </a:solidFill>
              </a:rPr>
              <a:t>IF, nested IF, IFS</a:t>
            </a:r>
            <a:endParaRPr lang="en-US" sz="1300" dirty="0"/>
          </a:p>
        </p:txBody>
      </p:sp>
      <p:sp>
        <p:nvSpPr>
          <p:cNvPr id="22" name="Shape 19"/>
          <p:cNvSpPr/>
          <p:nvPr/>
        </p:nvSpPr>
        <p:spPr>
          <a:xfrm>
            <a:off x="795528" y="4805172"/>
            <a:ext cx="82296" cy="82296"/>
          </a:xfrm>
          <a:prstGeom prst="ellipse">
            <a:avLst/>
          </a:prstGeom>
          <a:solidFill>
            <a:srgbClr val="8A8D93"/>
          </a:solidFill>
          <a:ln/>
        </p:spPr>
        <p:txBody>
          <a:bodyPr/>
          <a:lstStyle/>
          <a:p>
            <a:endParaRPr lang="en-US"/>
          </a:p>
        </p:txBody>
      </p:sp>
      <p:sp>
        <p:nvSpPr>
          <p:cNvPr id="23" name="txt-13"/>
          <p:cNvSpPr txBox="1"/>
          <p:nvPr/>
        </p:nvSpPr>
        <p:spPr>
          <a:xfrm>
            <a:off x="960120" y="4663440"/>
            <a:ext cx="2144954" cy="365760"/>
          </a:xfrm>
          <a:prstGeom prst="rect">
            <a:avLst/>
          </a:prstGeom>
          <a:noFill/>
          <a:ln/>
        </p:spPr>
        <p:txBody>
          <a:bodyPr wrap="square" lIns="0" tIns="0" rIns="0" bIns="0" rtlCol="0" anchor="ctr"/>
          <a:lstStyle/>
          <a:p>
            <a:pPr marL="0" indent="0">
              <a:buNone/>
            </a:pPr>
            <a:r>
              <a:rPr lang="en-US" sz="1300" dirty="0">
                <a:solidFill>
                  <a:schemeClr val="tx1"/>
                </a:solidFill>
              </a:rPr>
              <a:t>IFERROR</a:t>
            </a:r>
            <a:endParaRPr lang="en-US" sz="1300" dirty="0"/>
          </a:p>
        </p:txBody>
      </p:sp>
      <p:sp>
        <p:nvSpPr>
          <p:cNvPr id="24" name="Shape 21"/>
          <p:cNvSpPr/>
          <p:nvPr/>
        </p:nvSpPr>
        <p:spPr>
          <a:xfrm>
            <a:off x="795528" y="5170932"/>
            <a:ext cx="82296" cy="82296"/>
          </a:xfrm>
          <a:prstGeom prst="ellipse">
            <a:avLst/>
          </a:prstGeom>
          <a:solidFill>
            <a:srgbClr val="8A8D93"/>
          </a:solidFill>
          <a:ln/>
        </p:spPr>
        <p:txBody>
          <a:bodyPr/>
          <a:lstStyle/>
          <a:p>
            <a:endParaRPr lang="en-US"/>
          </a:p>
        </p:txBody>
      </p:sp>
      <p:sp>
        <p:nvSpPr>
          <p:cNvPr id="25" name="txt-14"/>
          <p:cNvSpPr txBox="1"/>
          <p:nvPr/>
        </p:nvSpPr>
        <p:spPr>
          <a:xfrm>
            <a:off x="960120" y="5029200"/>
            <a:ext cx="2144954" cy="365760"/>
          </a:xfrm>
          <a:prstGeom prst="rect">
            <a:avLst/>
          </a:prstGeom>
          <a:noFill/>
          <a:ln/>
        </p:spPr>
        <p:txBody>
          <a:bodyPr wrap="square" lIns="0" tIns="0" rIns="0" bIns="0" rtlCol="0" anchor="ctr"/>
          <a:lstStyle/>
          <a:p>
            <a:pPr marL="0" indent="0">
              <a:buNone/>
            </a:pPr>
            <a:r>
              <a:rPr lang="en-US" sz="1300" dirty="0">
                <a:solidFill>
                  <a:schemeClr val="tx1"/>
                </a:solidFill>
              </a:rPr>
              <a:t>ISNUMBER / VALUE checks</a:t>
            </a:r>
            <a:endParaRPr lang="en-US" sz="1300" dirty="0"/>
          </a:p>
        </p:txBody>
      </p:sp>
      <p:sp>
        <p:nvSpPr>
          <p:cNvPr id="26" name="Shape 23"/>
          <p:cNvSpPr/>
          <p:nvPr/>
        </p:nvSpPr>
        <p:spPr>
          <a:xfrm>
            <a:off x="795528" y="5536692"/>
            <a:ext cx="82296" cy="82296"/>
          </a:xfrm>
          <a:prstGeom prst="ellipse">
            <a:avLst/>
          </a:prstGeom>
          <a:solidFill>
            <a:srgbClr val="8A8D93"/>
          </a:solidFill>
          <a:ln/>
        </p:spPr>
        <p:txBody>
          <a:bodyPr/>
          <a:lstStyle/>
          <a:p>
            <a:endParaRPr lang="en-US"/>
          </a:p>
        </p:txBody>
      </p:sp>
      <p:sp>
        <p:nvSpPr>
          <p:cNvPr id="27" name="txt-15"/>
          <p:cNvSpPr txBox="1"/>
          <p:nvPr/>
        </p:nvSpPr>
        <p:spPr>
          <a:xfrm>
            <a:off x="960120" y="5394960"/>
            <a:ext cx="2144954" cy="365760"/>
          </a:xfrm>
          <a:prstGeom prst="rect">
            <a:avLst/>
          </a:prstGeom>
          <a:noFill/>
          <a:ln/>
        </p:spPr>
        <p:txBody>
          <a:bodyPr wrap="square" lIns="0" tIns="0" rIns="0" bIns="0" rtlCol="0" anchor="ctr"/>
          <a:lstStyle/>
          <a:p>
            <a:pPr marL="0" indent="0">
              <a:buNone/>
            </a:pPr>
            <a:r>
              <a:rPr lang="en-US" sz="1300" dirty="0">
                <a:solidFill>
                  <a:schemeClr val="tx1"/>
                </a:solidFill>
              </a:rPr>
              <a:t>Number &lt; text &lt; logical</a:t>
            </a:r>
            <a:endParaRPr lang="en-US" sz="1300" dirty="0"/>
          </a:p>
        </p:txBody>
      </p:sp>
      <p:sp>
        <p:nvSpPr>
          <p:cNvPr id="28" name="card-16"/>
          <p:cNvSpPr/>
          <p:nvPr/>
        </p:nvSpPr>
        <p:spPr>
          <a:xfrm>
            <a:off x="3379394" y="1554480"/>
            <a:ext cx="2602154" cy="4206240"/>
          </a:xfrm>
          <a:prstGeom prst="roundRect">
            <a:avLst>
              <a:gd name="adj" fmla="val 2811"/>
            </a:avLst>
          </a:prstGeom>
          <a:solidFill>
            <a:schemeClr val="bg2"/>
          </a:solidFill>
          <a:ln/>
        </p:spPr>
        <p:txBody>
          <a:bodyPr/>
          <a:lstStyle/>
          <a:p>
            <a:endParaRPr lang="en-US"/>
          </a:p>
        </p:txBody>
      </p:sp>
      <p:sp>
        <p:nvSpPr>
          <p:cNvPr id="29" name="badge-17"/>
          <p:cNvSpPr/>
          <p:nvPr/>
        </p:nvSpPr>
        <p:spPr>
          <a:xfrm>
            <a:off x="3607994" y="1755648"/>
            <a:ext cx="457200" cy="457200"/>
          </a:xfrm>
          <a:prstGeom prst="ellipse">
            <a:avLst/>
          </a:prstGeom>
          <a:solidFill>
            <a:srgbClr val="1E1F24"/>
          </a:solidFill>
          <a:ln/>
        </p:spPr>
        <p:txBody>
          <a:bodyPr/>
          <a:lstStyle/>
          <a:p>
            <a:endParaRPr lang="en-US"/>
          </a:p>
        </p:txBody>
      </p:sp>
      <p:sp>
        <p:nvSpPr>
          <p:cNvPr id="30" name="badge-t-18"/>
          <p:cNvSpPr txBox="1"/>
          <p:nvPr/>
        </p:nvSpPr>
        <p:spPr>
          <a:xfrm>
            <a:off x="3607994" y="1755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31" name="txt-19"/>
          <p:cNvSpPr txBox="1"/>
          <p:nvPr/>
        </p:nvSpPr>
        <p:spPr>
          <a:xfrm>
            <a:off x="4202354" y="1691640"/>
            <a:ext cx="1687754" cy="292608"/>
          </a:xfrm>
          <a:prstGeom prst="rect">
            <a:avLst/>
          </a:prstGeom>
          <a:noFill/>
          <a:ln/>
        </p:spPr>
        <p:txBody>
          <a:bodyPr wrap="square" lIns="0" tIns="0" rIns="0" bIns="0" rtlCol="0" anchor="t"/>
          <a:lstStyle/>
          <a:p>
            <a:pPr marL="0" indent="0">
              <a:buNone/>
            </a:pPr>
            <a:r>
              <a:rPr lang="en-US" sz="1100" b="1" kern="0" spc="100" dirty="0">
                <a:solidFill>
                  <a:schemeClr val="accent5"/>
                </a:solidFill>
              </a:rPr>
              <a:t>CLASS 2</a:t>
            </a:r>
            <a:endParaRPr lang="en-US" sz="1100" dirty="0"/>
          </a:p>
        </p:txBody>
      </p:sp>
      <p:sp>
        <p:nvSpPr>
          <p:cNvPr id="32" name="txt-20"/>
          <p:cNvSpPr txBox="1"/>
          <p:nvPr/>
        </p:nvSpPr>
        <p:spPr>
          <a:xfrm>
            <a:off x="4202354" y="1938528"/>
            <a:ext cx="1870634" cy="36576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Aggregating Data</a:t>
            </a:r>
            <a:endParaRPr lang="en-US" sz="1700" dirty="0"/>
          </a:p>
        </p:txBody>
      </p:sp>
      <p:sp>
        <p:nvSpPr>
          <p:cNvPr id="33" name="Shape 30"/>
          <p:cNvSpPr/>
          <p:nvPr/>
        </p:nvSpPr>
        <p:spPr>
          <a:xfrm>
            <a:off x="3626282" y="2610612"/>
            <a:ext cx="82296" cy="82296"/>
          </a:xfrm>
          <a:prstGeom prst="ellipse">
            <a:avLst/>
          </a:prstGeom>
          <a:solidFill>
            <a:srgbClr val="8A8D93"/>
          </a:solidFill>
          <a:ln/>
        </p:spPr>
        <p:txBody>
          <a:bodyPr/>
          <a:lstStyle/>
          <a:p>
            <a:endParaRPr lang="en-US"/>
          </a:p>
        </p:txBody>
      </p:sp>
      <p:sp>
        <p:nvSpPr>
          <p:cNvPr id="34" name="txt-21"/>
          <p:cNvSpPr txBox="1"/>
          <p:nvPr/>
        </p:nvSpPr>
        <p:spPr>
          <a:xfrm>
            <a:off x="3790874" y="2468880"/>
            <a:ext cx="2144954" cy="365760"/>
          </a:xfrm>
          <a:prstGeom prst="rect">
            <a:avLst/>
          </a:prstGeom>
          <a:noFill/>
          <a:ln/>
        </p:spPr>
        <p:txBody>
          <a:bodyPr wrap="square" lIns="0" tIns="0" rIns="0" bIns="0" rtlCol="0" anchor="ctr"/>
          <a:lstStyle/>
          <a:p>
            <a:pPr marL="0" indent="0">
              <a:buNone/>
            </a:pPr>
            <a:r>
              <a:rPr lang="en-US" sz="1300" dirty="0">
                <a:solidFill>
                  <a:schemeClr val="tx1"/>
                </a:solidFill>
              </a:rPr>
              <a:t>AND / OR</a:t>
            </a:r>
            <a:endParaRPr lang="en-US" sz="1300" dirty="0"/>
          </a:p>
        </p:txBody>
      </p:sp>
      <p:sp>
        <p:nvSpPr>
          <p:cNvPr id="35" name="Shape 32"/>
          <p:cNvSpPr/>
          <p:nvPr/>
        </p:nvSpPr>
        <p:spPr>
          <a:xfrm>
            <a:off x="3626282" y="2976372"/>
            <a:ext cx="82296" cy="82296"/>
          </a:xfrm>
          <a:prstGeom prst="ellipse">
            <a:avLst/>
          </a:prstGeom>
          <a:solidFill>
            <a:srgbClr val="8A8D93"/>
          </a:solidFill>
          <a:ln/>
        </p:spPr>
        <p:txBody>
          <a:bodyPr/>
          <a:lstStyle/>
          <a:p>
            <a:endParaRPr lang="en-US"/>
          </a:p>
        </p:txBody>
      </p:sp>
      <p:sp>
        <p:nvSpPr>
          <p:cNvPr id="36" name="txt-22"/>
          <p:cNvSpPr txBox="1"/>
          <p:nvPr/>
        </p:nvSpPr>
        <p:spPr>
          <a:xfrm>
            <a:off x="3790874" y="2834640"/>
            <a:ext cx="2144954" cy="365760"/>
          </a:xfrm>
          <a:prstGeom prst="rect">
            <a:avLst/>
          </a:prstGeom>
          <a:noFill/>
          <a:ln/>
        </p:spPr>
        <p:txBody>
          <a:bodyPr wrap="square" lIns="0" tIns="0" rIns="0" bIns="0" rtlCol="0" anchor="ctr"/>
          <a:lstStyle/>
          <a:p>
            <a:pPr marL="0" indent="0">
              <a:buNone/>
            </a:pPr>
            <a:r>
              <a:rPr lang="en-US" sz="1300" dirty="0">
                <a:solidFill>
                  <a:schemeClr val="tx1"/>
                </a:solidFill>
              </a:rPr>
              <a:t>COUNT / COUNTA / BLANK</a:t>
            </a:r>
            <a:endParaRPr lang="en-US" sz="1300" dirty="0"/>
          </a:p>
        </p:txBody>
      </p:sp>
      <p:sp>
        <p:nvSpPr>
          <p:cNvPr id="37" name="Shape 34"/>
          <p:cNvSpPr/>
          <p:nvPr/>
        </p:nvSpPr>
        <p:spPr>
          <a:xfrm>
            <a:off x="3626282" y="3342132"/>
            <a:ext cx="82296" cy="82296"/>
          </a:xfrm>
          <a:prstGeom prst="ellipse">
            <a:avLst/>
          </a:prstGeom>
          <a:solidFill>
            <a:srgbClr val="8A8D93"/>
          </a:solidFill>
          <a:ln/>
        </p:spPr>
        <p:txBody>
          <a:bodyPr/>
          <a:lstStyle/>
          <a:p>
            <a:endParaRPr lang="en-US"/>
          </a:p>
        </p:txBody>
      </p:sp>
      <p:sp>
        <p:nvSpPr>
          <p:cNvPr id="38" name="txt-23"/>
          <p:cNvSpPr txBox="1"/>
          <p:nvPr/>
        </p:nvSpPr>
        <p:spPr>
          <a:xfrm>
            <a:off x="3790874" y="3200400"/>
            <a:ext cx="2144954" cy="365760"/>
          </a:xfrm>
          <a:prstGeom prst="rect">
            <a:avLst/>
          </a:prstGeom>
          <a:noFill/>
          <a:ln/>
        </p:spPr>
        <p:txBody>
          <a:bodyPr wrap="square" lIns="0" tIns="0" rIns="0" bIns="0" rtlCol="0" anchor="ctr"/>
          <a:lstStyle/>
          <a:p>
            <a:pPr marL="0" indent="0">
              <a:buNone/>
            </a:pPr>
            <a:r>
              <a:rPr lang="en-US" sz="1300" dirty="0">
                <a:solidFill>
                  <a:schemeClr val="tx1"/>
                </a:solidFill>
              </a:rPr>
              <a:t>COUNTIF / COUNTIFS</a:t>
            </a:r>
            <a:endParaRPr lang="en-US" sz="1300" dirty="0"/>
          </a:p>
        </p:txBody>
      </p:sp>
      <p:sp>
        <p:nvSpPr>
          <p:cNvPr id="39" name="Shape 36"/>
          <p:cNvSpPr/>
          <p:nvPr/>
        </p:nvSpPr>
        <p:spPr>
          <a:xfrm>
            <a:off x="3626282" y="3707892"/>
            <a:ext cx="82296" cy="82296"/>
          </a:xfrm>
          <a:prstGeom prst="ellipse">
            <a:avLst/>
          </a:prstGeom>
          <a:solidFill>
            <a:srgbClr val="8A8D93"/>
          </a:solidFill>
          <a:ln/>
        </p:spPr>
        <p:txBody>
          <a:bodyPr/>
          <a:lstStyle/>
          <a:p>
            <a:endParaRPr lang="en-US"/>
          </a:p>
        </p:txBody>
      </p:sp>
      <p:sp>
        <p:nvSpPr>
          <p:cNvPr id="40" name="txt-24"/>
          <p:cNvSpPr txBox="1"/>
          <p:nvPr/>
        </p:nvSpPr>
        <p:spPr>
          <a:xfrm>
            <a:off x="3790874" y="3566160"/>
            <a:ext cx="2144954" cy="365760"/>
          </a:xfrm>
          <a:prstGeom prst="rect">
            <a:avLst/>
          </a:prstGeom>
          <a:noFill/>
          <a:ln/>
        </p:spPr>
        <p:txBody>
          <a:bodyPr wrap="square" lIns="0" tIns="0" rIns="0" bIns="0" rtlCol="0" anchor="ctr"/>
          <a:lstStyle/>
          <a:p>
            <a:pPr marL="0" indent="0">
              <a:buNone/>
            </a:pPr>
            <a:r>
              <a:rPr lang="en-US" sz="1300" dirty="0">
                <a:solidFill>
                  <a:schemeClr val="tx1"/>
                </a:solidFill>
              </a:rPr>
              <a:t>SUM / SUMIF / SUMIFS</a:t>
            </a:r>
            <a:endParaRPr lang="en-US" sz="1300" dirty="0"/>
          </a:p>
        </p:txBody>
      </p:sp>
      <p:sp>
        <p:nvSpPr>
          <p:cNvPr id="41" name="Shape 38"/>
          <p:cNvSpPr/>
          <p:nvPr/>
        </p:nvSpPr>
        <p:spPr>
          <a:xfrm>
            <a:off x="3626282" y="4073652"/>
            <a:ext cx="82296" cy="82296"/>
          </a:xfrm>
          <a:prstGeom prst="ellipse">
            <a:avLst/>
          </a:prstGeom>
          <a:solidFill>
            <a:srgbClr val="8A8D93"/>
          </a:solidFill>
          <a:ln/>
        </p:spPr>
        <p:txBody>
          <a:bodyPr/>
          <a:lstStyle/>
          <a:p>
            <a:endParaRPr lang="en-US"/>
          </a:p>
        </p:txBody>
      </p:sp>
      <p:sp>
        <p:nvSpPr>
          <p:cNvPr id="42" name="txt-25"/>
          <p:cNvSpPr txBox="1"/>
          <p:nvPr/>
        </p:nvSpPr>
        <p:spPr>
          <a:xfrm>
            <a:off x="3790874" y="3931920"/>
            <a:ext cx="2144954" cy="365760"/>
          </a:xfrm>
          <a:prstGeom prst="rect">
            <a:avLst/>
          </a:prstGeom>
          <a:noFill/>
          <a:ln/>
        </p:spPr>
        <p:txBody>
          <a:bodyPr wrap="square" lIns="0" tIns="0" rIns="0" bIns="0" rtlCol="0" anchor="ctr"/>
          <a:lstStyle/>
          <a:p>
            <a:pPr marL="0" indent="0">
              <a:buNone/>
            </a:pPr>
            <a:r>
              <a:rPr lang="en-US" sz="1300" dirty="0">
                <a:solidFill>
                  <a:schemeClr val="tx1"/>
                </a:solidFill>
              </a:rPr>
              <a:t>AVERAGEIF / AVERAGEIFS</a:t>
            </a:r>
            <a:endParaRPr lang="en-US" sz="1300" dirty="0"/>
          </a:p>
        </p:txBody>
      </p:sp>
      <p:sp>
        <p:nvSpPr>
          <p:cNvPr id="43" name="Shape 40"/>
          <p:cNvSpPr/>
          <p:nvPr/>
        </p:nvSpPr>
        <p:spPr>
          <a:xfrm>
            <a:off x="3626282" y="4439412"/>
            <a:ext cx="82296" cy="82296"/>
          </a:xfrm>
          <a:prstGeom prst="ellipse">
            <a:avLst/>
          </a:prstGeom>
          <a:solidFill>
            <a:srgbClr val="8A8D93"/>
          </a:solidFill>
          <a:ln/>
        </p:spPr>
        <p:txBody>
          <a:bodyPr/>
          <a:lstStyle/>
          <a:p>
            <a:endParaRPr lang="en-US"/>
          </a:p>
        </p:txBody>
      </p:sp>
      <p:sp>
        <p:nvSpPr>
          <p:cNvPr id="44" name="txt-26"/>
          <p:cNvSpPr txBox="1"/>
          <p:nvPr/>
        </p:nvSpPr>
        <p:spPr>
          <a:xfrm>
            <a:off x="3790874" y="4297680"/>
            <a:ext cx="2144954" cy="365760"/>
          </a:xfrm>
          <a:prstGeom prst="rect">
            <a:avLst/>
          </a:prstGeom>
          <a:noFill/>
          <a:ln/>
        </p:spPr>
        <p:txBody>
          <a:bodyPr wrap="square" lIns="0" tIns="0" rIns="0" bIns="0" rtlCol="0" anchor="ctr"/>
          <a:lstStyle/>
          <a:p>
            <a:pPr marL="0" indent="0">
              <a:buNone/>
            </a:pPr>
            <a:r>
              <a:rPr lang="en-US" sz="1300" dirty="0">
                <a:solidFill>
                  <a:schemeClr val="tx1"/>
                </a:solidFill>
              </a:rPr>
              <a:t>How blanks are treated</a:t>
            </a:r>
            <a:endParaRPr lang="en-US" sz="1300" dirty="0"/>
          </a:p>
        </p:txBody>
      </p:sp>
      <p:sp>
        <p:nvSpPr>
          <p:cNvPr id="45" name="Shape 42"/>
          <p:cNvSpPr/>
          <p:nvPr/>
        </p:nvSpPr>
        <p:spPr>
          <a:xfrm>
            <a:off x="3626282" y="4805172"/>
            <a:ext cx="82296" cy="82296"/>
          </a:xfrm>
          <a:prstGeom prst="ellipse">
            <a:avLst/>
          </a:prstGeom>
          <a:solidFill>
            <a:srgbClr val="8A8D93"/>
          </a:solidFill>
          <a:ln/>
        </p:spPr>
        <p:txBody>
          <a:bodyPr/>
          <a:lstStyle/>
          <a:p>
            <a:endParaRPr lang="en-US"/>
          </a:p>
        </p:txBody>
      </p:sp>
      <p:sp>
        <p:nvSpPr>
          <p:cNvPr id="46" name="txt-27"/>
          <p:cNvSpPr txBox="1"/>
          <p:nvPr/>
        </p:nvSpPr>
        <p:spPr>
          <a:xfrm>
            <a:off x="3790874" y="4663440"/>
            <a:ext cx="2144954" cy="365760"/>
          </a:xfrm>
          <a:prstGeom prst="rect">
            <a:avLst/>
          </a:prstGeom>
          <a:noFill/>
          <a:ln/>
        </p:spPr>
        <p:txBody>
          <a:bodyPr wrap="square" lIns="0" tIns="0" rIns="0" bIns="0" rtlCol="0" anchor="ctr"/>
          <a:lstStyle/>
          <a:p>
            <a:pPr marL="0" indent="0">
              <a:buNone/>
            </a:pPr>
            <a:r>
              <a:rPr lang="en-US" sz="1300" dirty="0">
                <a:solidFill>
                  <a:schemeClr val="tx1"/>
                </a:solidFill>
              </a:rPr>
              <a:t>SUMPRODUCT basics</a:t>
            </a:r>
            <a:endParaRPr lang="en-US" sz="1300" dirty="0"/>
          </a:p>
        </p:txBody>
      </p:sp>
      <p:sp>
        <p:nvSpPr>
          <p:cNvPr id="47" name="Shape 44"/>
          <p:cNvSpPr/>
          <p:nvPr/>
        </p:nvSpPr>
        <p:spPr>
          <a:xfrm>
            <a:off x="3626282" y="5170932"/>
            <a:ext cx="82296" cy="82296"/>
          </a:xfrm>
          <a:prstGeom prst="ellipse">
            <a:avLst/>
          </a:prstGeom>
          <a:solidFill>
            <a:srgbClr val="8A8D93"/>
          </a:solidFill>
          <a:ln/>
        </p:spPr>
        <p:txBody>
          <a:bodyPr/>
          <a:lstStyle/>
          <a:p>
            <a:endParaRPr lang="en-US"/>
          </a:p>
        </p:txBody>
      </p:sp>
      <p:sp>
        <p:nvSpPr>
          <p:cNvPr id="48" name="txt-28"/>
          <p:cNvSpPr txBox="1"/>
          <p:nvPr/>
        </p:nvSpPr>
        <p:spPr>
          <a:xfrm>
            <a:off x="3790874" y="5029200"/>
            <a:ext cx="2144954" cy="365760"/>
          </a:xfrm>
          <a:prstGeom prst="rect">
            <a:avLst/>
          </a:prstGeom>
          <a:noFill/>
          <a:ln/>
        </p:spPr>
        <p:txBody>
          <a:bodyPr wrap="square" lIns="0" tIns="0" rIns="0" bIns="0" rtlCol="0" anchor="ctr"/>
          <a:lstStyle/>
          <a:p>
            <a:pPr marL="0" indent="0">
              <a:buNone/>
            </a:pPr>
            <a:r>
              <a:rPr lang="en-US" sz="1300" dirty="0">
                <a:solidFill>
                  <a:schemeClr val="tx1"/>
                </a:solidFill>
              </a:rPr>
              <a:t>SUMPRODUCT logic (*, +, --)</a:t>
            </a:r>
            <a:endParaRPr lang="en-US" sz="1300" dirty="0"/>
          </a:p>
        </p:txBody>
      </p:sp>
      <p:sp>
        <p:nvSpPr>
          <p:cNvPr id="49" name="Shape 46"/>
          <p:cNvSpPr/>
          <p:nvPr/>
        </p:nvSpPr>
        <p:spPr>
          <a:xfrm>
            <a:off x="3626282" y="5536692"/>
            <a:ext cx="82296" cy="82296"/>
          </a:xfrm>
          <a:prstGeom prst="ellipse">
            <a:avLst/>
          </a:prstGeom>
          <a:solidFill>
            <a:srgbClr val="8A8D93"/>
          </a:solidFill>
          <a:ln/>
        </p:spPr>
        <p:txBody>
          <a:bodyPr/>
          <a:lstStyle/>
          <a:p>
            <a:endParaRPr lang="en-US"/>
          </a:p>
        </p:txBody>
      </p:sp>
      <p:sp>
        <p:nvSpPr>
          <p:cNvPr id="50" name="txt-29"/>
          <p:cNvSpPr txBox="1"/>
          <p:nvPr/>
        </p:nvSpPr>
        <p:spPr>
          <a:xfrm>
            <a:off x="3790874" y="5394960"/>
            <a:ext cx="2144954" cy="365760"/>
          </a:xfrm>
          <a:prstGeom prst="rect">
            <a:avLst/>
          </a:prstGeom>
          <a:noFill/>
          <a:ln/>
        </p:spPr>
        <p:txBody>
          <a:bodyPr wrap="square" lIns="0" tIns="0" rIns="0" bIns="0" rtlCol="0" anchor="ctr"/>
          <a:lstStyle/>
          <a:p>
            <a:pPr marL="0" indent="0">
              <a:buNone/>
            </a:pPr>
            <a:r>
              <a:rPr lang="en-US" sz="1300" dirty="0">
                <a:solidFill>
                  <a:schemeClr val="tx1"/>
                </a:solidFill>
              </a:rPr>
              <a:t>Data Validation</a:t>
            </a:r>
            <a:endParaRPr lang="en-US" sz="1300" dirty="0"/>
          </a:p>
        </p:txBody>
      </p:sp>
      <p:sp>
        <p:nvSpPr>
          <p:cNvPr id="51" name="card-30"/>
          <p:cNvSpPr/>
          <p:nvPr/>
        </p:nvSpPr>
        <p:spPr>
          <a:xfrm>
            <a:off x="6210148" y="1554480"/>
            <a:ext cx="2602154" cy="4206240"/>
          </a:xfrm>
          <a:prstGeom prst="roundRect">
            <a:avLst>
              <a:gd name="adj" fmla="val 2811"/>
            </a:avLst>
          </a:prstGeom>
          <a:solidFill>
            <a:schemeClr val="bg2"/>
          </a:solidFill>
          <a:ln/>
        </p:spPr>
        <p:txBody>
          <a:bodyPr/>
          <a:lstStyle/>
          <a:p>
            <a:endParaRPr lang="en-US"/>
          </a:p>
        </p:txBody>
      </p:sp>
      <p:sp>
        <p:nvSpPr>
          <p:cNvPr id="52" name="badge-31"/>
          <p:cNvSpPr/>
          <p:nvPr/>
        </p:nvSpPr>
        <p:spPr>
          <a:xfrm>
            <a:off x="6438748" y="1755648"/>
            <a:ext cx="457200" cy="457200"/>
          </a:xfrm>
          <a:prstGeom prst="ellipse">
            <a:avLst/>
          </a:prstGeom>
          <a:solidFill>
            <a:srgbClr val="1E1F24"/>
          </a:solidFill>
          <a:ln/>
        </p:spPr>
        <p:txBody>
          <a:bodyPr/>
          <a:lstStyle/>
          <a:p>
            <a:endParaRPr lang="en-US"/>
          </a:p>
        </p:txBody>
      </p:sp>
      <p:sp>
        <p:nvSpPr>
          <p:cNvPr id="53" name="badge-t-32"/>
          <p:cNvSpPr txBox="1"/>
          <p:nvPr/>
        </p:nvSpPr>
        <p:spPr>
          <a:xfrm>
            <a:off x="6438748" y="1755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54" name="txt-33"/>
          <p:cNvSpPr txBox="1"/>
          <p:nvPr/>
        </p:nvSpPr>
        <p:spPr>
          <a:xfrm>
            <a:off x="7033108" y="1691640"/>
            <a:ext cx="1687754" cy="292608"/>
          </a:xfrm>
          <a:prstGeom prst="rect">
            <a:avLst/>
          </a:prstGeom>
          <a:noFill/>
          <a:ln/>
        </p:spPr>
        <p:txBody>
          <a:bodyPr wrap="square" lIns="0" tIns="0" rIns="0" bIns="0" rtlCol="0" anchor="t"/>
          <a:lstStyle/>
          <a:p>
            <a:pPr marL="0" indent="0">
              <a:buNone/>
            </a:pPr>
            <a:r>
              <a:rPr lang="en-US" sz="1100" b="1" kern="0" spc="100" dirty="0">
                <a:solidFill>
                  <a:schemeClr val="accent5"/>
                </a:solidFill>
              </a:rPr>
              <a:t>CLASS 3</a:t>
            </a:r>
            <a:endParaRPr lang="en-US" sz="1100" dirty="0"/>
          </a:p>
        </p:txBody>
      </p:sp>
      <p:sp>
        <p:nvSpPr>
          <p:cNvPr id="55" name="txt-34"/>
          <p:cNvSpPr txBox="1"/>
          <p:nvPr/>
        </p:nvSpPr>
        <p:spPr>
          <a:xfrm>
            <a:off x="7033108" y="1938528"/>
            <a:ext cx="1687754" cy="36576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Assembling Data</a:t>
            </a:r>
            <a:endParaRPr lang="en-US" sz="1700" dirty="0"/>
          </a:p>
        </p:txBody>
      </p:sp>
      <p:sp>
        <p:nvSpPr>
          <p:cNvPr id="56" name="Shape 53"/>
          <p:cNvSpPr/>
          <p:nvPr/>
        </p:nvSpPr>
        <p:spPr>
          <a:xfrm>
            <a:off x="6457036" y="2610612"/>
            <a:ext cx="82296" cy="82296"/>
          </a:xfrm>
          <a:prstGeom prst="ellipse">
            <a:avLst/>
          </a:prstGeom>
          <a:solidFill>
            <a:srgbClr val="8A8D93"/>
          </a:solidFill>
          <a:ln/>
        </p:spPr>
        <p:txBody>
          <a:bodyPr/>
          <a:lstStyle/>
          <a:p>
            <a:endParaRPr lang="en-US"/>
          </a:p>
        </p:txBody>
      </p:sp>
      <p:sp>
        <p:nvSpPr>
          <p:cNvPr id="57" name="txt-35"/>
          <p:cNvSpPr txBox="1"/>
          <p:nvPr/>
        </p:nvSpPr>
        <p:spPr>
          <a:xfrm>
            <a:off x="6621628" y="2468880"/>
            <a:ext cx="2144954" cy="365760"/>
          </a:xfrm>
          <a:prstGeom prst="rect">
            <a:avLst/>
          </a:prstGeom>
          <a:noFill/>
          <a:ln/>
        </p:spPr>
        <p:txBody>
          <a:bodyPr wrap="square" lIns="0" tIns="0" rIns="0" bIns="0" rtlCol="0" anchor="ctr"/>
          <a:lstStyle/>
          <a:p>
            <a:pPr marL="0" indent="0">
              <a:buNone/>
            </a:pPr>
            <a:r>
              <a:rPr lang="en-US" sz="1300" dirty="0">
                <a:solidFill>
                  <a:schemeClr val="tx1"/>
                </a:solidFill>
              </a:rPr>
              <a:t>SORT</a:t>
            </a:r>
            <a:endParaRPr lang="en-US" sz="1300" dirty="0"/>
          </a:p>
        </p:txBody>
      </p:sp>
      <p:sp>
        <p:nvSpPr>
          <p:cNvPr id="58" name="Shape 55"/>
          <p:cNvSpPr/>
          <p:nvPr/>
        </p:nvSpPr>
        <p:spPr>
          <a:xfrm>
            <a:off x="6457036" y="2976372"/>
            <a:ext cx="82296" cy="82296"/>
          </a:xfrm>
          <a:prstGeom prst="ellipse">
            <a:avLst/>
          </a:prstGeom>
          <a:solidFill>
            <a:srgbClr val="8A8D93"/>
          </a:solidFill>
          <a:ln/>
        </p:spPr>
        <p:txBody>
          <a:bodyPr/>
          <a:lstStyle/>
          <a:p>
            <a:endParaRPr lang="en-US"/>
          </a:p>
        </p:txBody>
      </p:sp>
      <p:sp>
        <p:nvSpPr>
          <p:cNvPr id="59" name="txt-36"/>
          <p:cNvSpPr txBox="1"/>
          <p:nvPr/>
        </p:nvSpPr>
        <p:spPr>
          <a:xfrm>
            <a:off x="6621628" y="2834640"/>
            <a:ext cx="2144954" cy="365760"/>
          </a:xfrm>
          <a:prstGeom prst="rect">
            <a:avLst/>
          </a:prstGeom>
          <a:noFill/>
          <a:ln/>
        </p:spPr>
        <p:txBody>
          <a:bodyPr wrap="square" lIns="0" tIns="0" rIns="0" bIns="0" rtlCol="0" anchor="ctr"/>
          <a:lstStyle/>
          <a:p>
            <a:pPr marL="0" indent="0">
              <a:buNone/>
            </a:pPr>
            <a:r>
              <a:rPr lang="en-US" sz="1300" dirty="0">
                <a:solidFill>
                  <a:schemeClr val="tx1"/>
                </a:solidFill>
              </a:rPr>
              <a:t>UNIQUE</a:t>
            </a:r>
            <a:endParaRPr lang="en-US" sz="1300" dirty="0"/>
          </a:p>
        </p:txBody>
      </p:sp>
      <p:sp>
        <p:nvSpPr>
          <p:cNvPr id="60" name="Shape 57"/>
          <p:cNvSpPr/>
          <p:nvPr/>
        </p:nvSpPr>
        <p:spPr>
          <a:xfrm>
            <a:off x="6457036" y="3342132"/>
            <a:ext cx="82296" cy="82296"/>
          </a:xfrm>
          <a:prstGeom prst="ellipse">
            <a:avLst/>
          </a:prstGeom>
          <a:solidFill>
            <a:srgbClr val="8A8D93"/>
          </a:solidFill>
          <a:ln/>
        </p:spPr>
        <p:txBody>
          <a:bodyPr/>
          <a:lstStyle/>
          <a:p>
            <a:endParaRPr lang="en-US"/>
          </a:p>
        </p:txBody>
      </p:sp>
      <p:sp>
        <p:nvSpPr>
          <p:cNvPr id="61" name="txt-37"/>
          <p:cNvSpPr txBox="1"/>
          <p:nvPr/>
        </p:nvSpPr>
        <p:spPr>
          <a:xfrm>
            <a:off x="6621628" y="3200400"/>
            <a:ext cx="2144954" cy="365760"/>
          </a:xfrm>
          <a:prstGeom prst="rect">
            <a:avLst/>
          </a:prstGeom>
          <a:noFill/>
          <a:ln/>
        </p:spPr>
        <p:txBody>
          <a:bodyPr wrap="square" lIns="0" tIns="0" rIns="0" bIns="0" rtlCol="0" anchor="ctr"/>
          <a:lstStyle/>
          <a:p>
            <a:pPr marL="0" indent="0">
              <a:buNone/>
            </a:pPr>
            <a:r>
              <a:rPr lang="en-US" sz="1300" dirty="0">
                <a:solidFill>
                  <a:schemeClr val="tx1"/>
                </a:solidFill>
              </a:rPr>
              <a:t>OFFSET rolling ranges</a:t>
            </a:r>
            <a:endParaRPr lang="en-US" sz="1300" dirty="0"/>
          </a:p>
        </p:txBody>
      </p:sp>
      <p:sp>
        <p:nvSpPr>
          <p:cNvPr id="62" name="Shape 59"/>
          <p:cNvSpPr/>
          <p:nvPr/>
        </p:nvSpPr>
        <p:spPr>
          <a:xfrm>
            <a:off x="6457036" y="3707892"/>
            <a:ext cx="82296" cy="82296"/>
          </a:xfrm>
          <a:prstGeom prst="ellipse">
            <a:avLst/>
          </a:prstGeom>
          <a:solidFill>
            <a:srgbClr val="8A8D93"/>
          </a:solidFill>
          <a:ln/>
        </p:spPr>
        <p:txBody>
          <a:bodyPr/>
          <a:lstStyle/>
          <a:p>
            <a:endParaRPr lang="en-US"/>
          </a:p>
        </p:txBody>
      </p:sp>
      <p:sp>
        <p:nvSpPr>
          <p:cNvPr id="63" name="txt-38"/>
          <p:cNvSpPr txBox="1"/>
          <p:nvPr/>
        </p:nvSpPr>
        <p:spPr>
          <a:xfrm>
            <a:off x="6621628" y="3566160"/>
            <a:ext cx="2144954" cy="365760"/>
          </a:xfrm>
          <a:prstGeom prst="rect">
            <a:avLst/>
          </a:prstGeom>
          <a:noFill/>
          <a:ln/>
        </p:spPr>
        <p:txBody>
          <a:bodyPr wrap="square" lIns="0" tIns="0" rIns="0" bIns="0" rtlCol="0" anchor="ctr"/>
          <a:lstStyle/>
          <a:p>
            <a:pPr marL="0" indent="0">
              <a:buNone/>
            </a:pPr>
            <a:r>
              <a:rPr lang="en-US" sz="1300" dirty="0">
                <a:solidFill>
                  <a:schemeClr val="tx1"/>
                </a:solidFill>
              </a:rPr>
              <a:t>INDIRECT</a:t>
            </a:r>
            <a:endParaRPr lang="en-US" sz="1300" dirty="0"/>
          </a:p>
        </p:txBody>
      </p:sp>
      <p:sp>
        <p:nvSpPr>
          <p:cNvPr id="64" name="Shape 61"/>
          <p:cNvSpPr/>
          <p:nvPr/>
        </p:nvSpPr>
        <p:spPr>
          <a:xfrm>
            <a:off x="6457036" y="4073652"/>
            <a:ext cx="82296" cy="82296"/>
          </a:xfrm>
          <a:prstGeom prst="ellipse">
            <a:avLst/>
          </a:prstGeom>
          <a:solidFill>
            <a:srgbClr val="8A8D93"/>
          </a:solidFill>
          <a:ln/>
        </p:spPr>
        <p:txBody>
          <a:bodyPr/>
          <a:lstStyle/>
          <a:p>
            <a:endParaRPr lang="en-US"/>
          </a:p>
        </p:txBody>
      </p:sp>
      <p:sp>
        <p:nvSpPr>
          <p:cNvPr id="65" name="txt-39"/>
          <p:cNvSpPr txBox="1"/>
          <p:nvPr/>
        </p:nvSpPr>
        <p:spPr>
          <a:xfrm>
            <a:off x="6621628" y="3931920"/>
            <a:ext cx="2144954" cy="365760"/>
          </a:xfrm>
          <a:prstGeom prst="rect">
            <a:avLst/>
          </a:prstGeom>
          <a:noFill/>
          <a:ln/>
        </p:spPr>
        <p:txBody>
          <a:bodyPr wrap="square" lIns="0" tIns="0" rIns="0" bIns="0" rtlCol="0" anchor="ctr"/>
          <a:lstStyle/>
          <a:p>
            <a:pPr marL="0" indent="0">
              <a:buNone/>
            </a:pPr>
            <a:r>
              <a:rPr lang="en-US" sz="1300" dirty="0">
                <a:solidFill>
                  <a:schemeClr val="tx1"/>
                </a:solidFill>
              </a:rPr>
              <a:t>VLOOKUP</a:t>
            </a:r>
            <a:endParaRPr lang="en-US" sz="1300" dirty="0"/>
          </a:p>
        </p:txBody>
      </p:sp>
      <p:sp>
        <p:nvSpPr>
          <p:cNvPr id="66" name="Shape 63"/>
          <p:cNvSpPr/>
          <p:nvPr/>
        </p:nvSpPr>
        <p:spPr>
          <a:xfrm>
            <a:off x="6457036" y="4439412"/>
            <a:ext cx="82296" cy="82296"/>
          </a:xfrm>
          <a:prstGeom prst="ellipse">
            <a:avLst/>
          </a:prstGeom>
          <a:solidFill>
            <a:srgbClr val="8A8D93"/>
          </a:solidFill>
          <a:ln/>
        </p:spPr>
        <p:txBody>
          <a:bodyPr/>
          <a:lstStyle/>
          <a:p>
            <a:endParaRPr lang="en-US"/>
          </a:p>
        </p:txBody>
      </p:sp>
      <p:sp>
        <p:nvSpPr>
          <p:cNvPr id="67" name="txt-40"/>
          <p:cNvSpPr txBox="1"/>
          <p:nvPr/>
        </p:nvSpPr>
        <p:spPr>
          <a:xfrm>
            <a:off x="6621628" y="4297680"/>
            <a:ext cx="2144954" cy="365760"/>
          </a:xfrm>
          <a:prstGeom prst="rect">
            <a:avLst/>
          </a:prstGeom>
          <a:noFill/>
          <a:ln/>
        </p:spPr>
        <p:txBody>
          <a:bodyPr wrap="square" lIns="0" tIns="0" rIns="0" bIns="0" rtlCol="0" anchor="ctr"/>
          <a:lstStyle/>
          <a:p>
            <a:pPr marL="0" indent="0">
              <a:buNone/>
            </a:pPr>
            <a:r>
              <a:rPr lang="en-US" sz="1300" dirty="0">
                <a:solidFill>
                  <a:schemeClr val="tx1"/>
                </a:solidFill>
              </a:rPr>
              <a:t>INDEX + MATCH</a:t>
            </a:r>
            <a:endParaRPr lang="en-US" sz="1300" dirty="0"/>
          </a:p>
        </p:txBody>
      </p:sp>
      <p:sp>
        <p:nvSpPr>
          <p:cNvPr id="68" name="Shape 65"/>
          <p:cNvSpPr/>
          <p:nvPr/>
        </p:nvSpPr>
        <p:spPr>
          <a:xfrm>
            <a:off x="6457036" y="4805172"/>
            <a:ext cx="82296" cy="82296"/>
          </a:xfrm>
          <a:prstGeom prst="ellipse">
            <a:avLst/>
          </a:prstGeom>
          <a:solidFill>
            <a:srgbClr val="8A8D93"/>
          </a:solidFill>
          <a:ln/>
        </p:spPr>
        <p:txBody>
          <a:bodyPr/>
          <a:lstStyle/>
          <a:p>
            <a:endParaRPr lang="en-US"/>
          </a:p>
        </p:txBody>
      </p:sp>
      <p:sp>
        <p:nvSpPr>
          <p:cNvPr id="69" name="txt-41"/>
          <p:cNvSpPr txBox="1"/>
          <p:nvPr/>
        </p:nvSpPr>
        <p:spPr>
          <a:xfrm>
            <a:off x="6621628" y="4663440"/>
            <a:ext cx="2144954" cy="365760"/>
          </a:xfrm>
          <a:prstGeom prst="rect">
            <a:avLst/>
          </a:prstGeom>
          <a:noFill/>
          <a:ln/>
        </p:spPr>
        <p:txBody>
          <a:bodyPr wrap="square" lIns="0" tIns="0" rIns="0" bIns="0" rtlCol="0" anchor="ctr"/>
          <a:lstStyle/>
          <a:p>
            <a:pPr marL="0" indent="0">
              <a:buNone/>
            </a:pPr>
            <a:r>
              <a:rPr lang="en-US" sz="1300" dirty="0">
                <a:solidFill>
                  <a:schemeClr val="tx1"/>
                </a:solidFill>
              </a:rPr>
              <a:t>XLOOKUP basics</a:t>
            </a:r>
            <a:endParaRPr lang="en-US" sz="1300" dirty="0"/>
          </a:p>
        </p:txBody>
      </p:sp>
      <p:sp>
        <p:nvSpPr>
          <p:cNvPr id="70" name="Shape 67"/>
          <p:cNvSpPr/>
          <p:nvPr/>
        </p:nvSpPr>
        <p:spPr>
          <a:xfrm>
            <a:off x="6457036" y="5170932"/>
            <a:ext cx="82296" cy="82296"/>
          </a:xfrm>
          <a:prstGeom prst="ellipse">
            <a:avLst/>
          </a:prstGeom>
          <a:solidFill>
            <a:srgbClr val="8A8D93"/>
          </a:solidFill>
          <a:ln/>
        </p:spPr>
        <p:txBody>
          <a:bodyPr/>
          <a:lstStyle/>
          <a:p>
            <a:endParaRPr lang="en-US"/>
          </a:p>
        </p:txBody>
      </p:sp>
      <p:sp>
        <p:nvSpPr>
          <p:cNvPr id="71" name="txt-42"/>
          <p:cNvSpPr txBox="1"/>
          <p:nvPr/>
        </p:nvSpPr>
        <p:spPr>
          <a:xfrm>
            <a:off x="6621628" y="5029200"/>
            <a:ext cx="2144954" cy="365760"/>
          </a:xfrm>
          <a:prstGeom prst="rect">
            <a:avLst/>
          </a:prstGeom>
          <a:noFill/>
          <a:ln/>
        </p:spPr>
        <p:txBody>
          <a:bodyPr wrap="square" lIns="0" tIns="0" rIns="0" bIns="0" rtlCol="0" anchor="ctr"/>
          <a:lstStyle/>
          <a:p>
            <a:pPr marL="0" indent="0">
              <a:buNone/>
            </a:pPr>
            <a:r>
              <a:rPr lang="en-US" sz="1300" dirty="0">
                <a:solidFill>
                  <a:schemeClr val="tx1"/>
                </a:solidFill>
              </a:rPr>
              <a:t>XLOOKUP 2-way &amp; multi-key</a:t>
            </a:r>
            <a:endParaRPr lang="en-US" sz="1300" dirty="0"/>
          </a:p>
        </p:txBody>
      </p:sp>
      <p:sp>
        <p:nvSpPr>
          <p:cNvPr id="72" name="Shape 69"/>
          <p:cNvSpPr/>
          <p:nvPr/>
        </p:nvSpPr>
        <p:spPr>
          <a:xfrm>
            <a:off x="6457036" y="5536692"/>
            <a:ext cx="82296" cy="82296"/>
          </a:xfrm>
          <a:prstGeom prst="ellipse">
            <a:avLst/>
          </a:prstGeom>
          <a:solidFill>
            <a:srgbClr val="8A8D93"/>
          </a:solidFill>
          <a:ln/>
        </p:spPr>
        <p:txBody>
          <a:bodyPr/>
          <a:lstStyle/>
          <a:p>
            <a:endParaRPr lang="en-US"/>
          </a:p>
        </p:txBody>
      </p:sp>
      <p:sp>
        <p:nvSpPr>
          <p:cNvPr id="73" name="txt-43"/>
          <p:cNvSpPr txBox="1"/>
          <p:nvPr/>
        </p:nvSpPr>
        <p:spPr>
          <a:xfrm>
            <a:off x="6621628" y="5394960"/>
            <a:ext cx="2144954" cy="365760"/>
          </a:xfrm>
          <a:prstGeom prst="rect">
            <a:avLst/>
          </a:prstGeom>
          <a:noFill/>
          <a:ln/>
        </p:spPr>
        <p:txBody>
          <a:bodyPr wrap="square" lIns="0" tIns="0" rIns="0" bIns="0" rtlCol="0" anchor="ctr"/>
          <a:lstStyle/>
          <a:p>
            <a:pPr marL="0" indent="0">
              <a:buNone/>
            </a:pPr>
            <a:r>
              <a:rPr lang="en-US" sz="1300" dirty="0">
                <a:solidFill>
                  <a:schemeClr val="tx1"/>
                </a:solidFill>
              </a:rPr>
              <a:t>LET &amp; LAMBDA</a:t>
            </a:r>
            <a:endParaRPr lang="en-US" sz="1300" dirty="0"/>
          </a:p>
        </p:txBody>
      </p:sp>
      <p:sp>
        <p:nvSpPr>
          <p:cNvPr id="74" name="card-44"/>
          <p:cNvSpPr/>
          <p:nvPr/>
        </p:nvSpPr>
        <p:spPr>
          <a:xfrm>
            <a:off x="9040901" y="1554480"/>
            <a:ext cx="2602154" cy="4206240"/>
          </a:xfrm>
          <a:prstGeom prst="roundRect">
            <a:avLst>
              <a:gd name="adj" fmla="val 2811"/>
            </a:avLst>
          </a:prstGeom>
          <a:solidFill>
            <a:schemeClr val="bg2"/>
          </a:solidFill>
          <a:ln/>
        </p:spPr>
        <p:txBody>
          <a:bodyPr/>
          <a:lstStyle/>
          <a:p>
            <a:endParaRPr lang="en-US"/>
          </a:p>
        </p:txBody>
      </p:sp>
      <p:sp>
        <p:nvSpPr>
          <p:cNvPr id="75" name="badge-45"/>
          <p:cNvSpPr/>
          <p:nvPr/>
        </p:nvSpPr>
        <p:spPr>
          <a:xfrm>
            <a:off x="9269501" y="1755648"/>
            <a:ext cx="457200" cy="457200"/>
          </a:xfrm>
          <a:prstGeom prst="ellipse">
            <a:avLst/>
          </a:prstGeom>
          <a:solidFill>
            <a:srgbClr val="1E1F24"/>
          </a:solidFill>
          <a:ln/>
        </p:spPr>
        <p:txBody>
          <a:bodyPr/>
          <a:lstStyle/>
          <a:p>
            <a:endParaRPr lang="en-US"/>
          </a:p>
        </p:txBody>
      </p:sp>
      <p:sp>
        <p:nvSpPr>
          <p:cNvPr id="76" name="badge-t-46"/>
          <p:cNvSpPr txBox="1"/>
          <p:nvPr/>
        </p:nvSpPr>
        <p:spPr>
          <a:xfrm>
            <a:off x="9269501" y="1755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77" name="txt-47"/>
          <p:cNvSpPr txBox="1"/>
          <p:nvPr/>
        </p:nvSpPr>
        <p:spPr>
          <a:xfrm>
            <a:off x="9863861" y="1691640"/>
            <a:ext cx="1687754" cy="292608"/>
          </a:xfrm>
          <a:prstGeom prst="rect">
            <a:avLst/>
          </a:prstGeom>
          <a:noFill/>
          <a:ln/>
        </p:spPr>
        <p:txBody>
          <a:bodyPr wrap="square" lIns="0" tIns="0" rIns="0" bIns="0" rtlCol="0" anchor="t"/>
          <a:lstStyle/>
          <a:p>
            <a:pPr marL="0" indent="0">
              <a:buNone/>
            </a:pPr>
            <a:r>
              <a:rPr lang="en-US" sz="1100" b="1" kern="0" spc="100" dirty="0">
                <a:solidFill>
                  <a:schemeClr val="accent5"/>
                </a:solidFill>
              </a:rPr>
              <a:t>CLASS 4</a:t>
            </a:r>
            <a:endParaRPr lang="en-US" sz="1100" dirty="0"/>
          </a:p>
        </p:txBody>
      </p:sp>
      <p:sp>
        <p:nvSpPr>
          <p:cNvPr id="78" name="txt-48"/>
          <p:cNvSpPr txBox="1"/>
          <p:nvPr/>
        </p:nvSpPr>
        <p:spPr>
          <a:xfrm>
            <a:off x="9863861" y="1938528"/>
            <a:ext cx="1687754" cy="36576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Analyzing Data</a:t>
            </a:r>
            <a:endParaRPr lang="en-US" sz="1700" dirty="0"/>
          </a:p>
        </p:txBody>
      </p:sp>
      <p:sp>
        <p:nvSpPr>
          <p:cNvPr id="79" name="Shape 76"/>
          <p:cNvSpPr/>
          <p:nvPr/>
        </p:nvSpPr>
        <p:spPr>
          <a:xfrm>
            <a:off x="9287789" y="2610612"/>
            <a:ext cx="82296" cy="82296"/>
          </a:xfrm>
          <a:prstGeom prst="ellipse">
            <a:avLst/>
          </a:prstGeom>
          <a:solidFill>
            <a:srgbClr val="8A8D93"/>
          </a:solidFill>
          <a:ln/>
        </p:spPr>
        <p:txBody>
          <a:bodyPr/>
          <a:lstStyle/>
          <a:p>
            <a:endParaRPr lang="en-US"/>
          </a:p>
        </p:txBody>
      </p:sp>
      <p:sp>
        <p:nvSpPr>
          <p:cNvPr id="80" name="txt-49"/>
          <p:cNvSpPr txBox="1"/>
          <p:nvPr/>
        </p:nvSpPr>
        <p:spPr>
          <a:xfrm>
            <a:off x="9452381" y="2468880"/>
            <a:ext cx="2144954" cy="365760"/>
          </a:xfrm>
          <a:prstGeom prst="rect">
            <a:avLst/>
          </a:prstGeom>
          <a:noFill/>
          <a:ln/>
        </p:spPr>
        <p:txBody>
          <a:bodyPr wrap="square" lIns="0" tIns="0" rIns="0" bIns="0" rtlCol="0" anchor="ctr"/>
          <a:lstStyle/>
          <a:p>
            <a:pPr marL="0" indent="0">
              <a:buNone/>
            </a:pPr>
            <a:r>
              <a:rPr lang="en-US" sz="1300" dirty="0">
                <a:solidFill>
                  <a:schemeClr val="tx1"/>
                </a:solidFill>
              </a:rPr>
              <a:t>PMT &amp; FV</a:t>
            </a:r>
            <a:endParaRPr lang="en-US" sz="1300" dirty="0"/>
          </a:p>
        </p:txBody>
      </p:sp>
      <p:sp>
        <p:nvSpPr>
          <p:cNvPr id="81" name="Shape 78"/>
          <p:cNvSpPr/>
          <p:nvPr/>
        </p:nvSpPr>
        <p:spPr>
          <a:xfrm>
            <a:off x="9287789" y="2976372"/>
            <a:ext cx="82296" cy="82296"/>
          </a:xfrm>
          <a:prstGeom prst="ellipse">
            <a:avLst/>
          </a:prstGeom>
          <a:solidFill>
            <a:srgbClr val="8A8D93"/>
          </a:solidFill>
          <a:ln/>
        </p:spPr>
        <p:txBody>
          <a:bodyPr/>
          <a:lstStyle/>
          <a:p>
            <a:endParaRPr lang="en-US"/>
          </a:p>
        </p:txBody>
      </p:sp>
      <p:sp>
        <p:nvSpPr>
          <p:cNvPr id="82" name="txt-50"/>
          <p:cNvSpPr txBox="1"/>
          <p:nvPr/>
        </p:nvSpPr>
        <p:spPr>
          <a:xfrm>
            <a:off x="9452381" y="2834640"/>
            <a:ext cx="2144954" cy="365760"/>
          </a:xfrm>
          <a:prstGeom prst="rect">
            <a:avLst/>
          </a:prstGeom>
          <a:noFill/>
          <a:ln/>
        </p:spPr>
        <p:txBody>
          <a:bodyPr wrap="square" lIns="0" tIns="0" rIns="0" bIns="0" rtlCol="0" anchor="ctr"/>
          <a:lstStyle/>
          <a:p>
            <a:pPr marL="0" indent="0">
              <a:buNone/>
            </a:pPr>
            <a:r>
              <a:rPr lang="en-US" sz="1300" dirty="0">
                <a:solidFill>
                  <a:schemeClr val="tx1"/>
                </a:solidFill>
              </a:rPr>
              <a:t>Sort &amp; Filter</a:t>
            </a:r>
            <a:endParaRPr lang="en-US" sz="1300" dirty="0"/>
          </a:p>
        </p:txBody>
      </p:sp>
      <p:sp>
        <p:nvSpPr>
          <p:cNvPr id="83" name="Shape 80"/>
          <p:cNvSpPr/>
          <p:nvPr/>
        </p:nvSpPr>
        <p:spPr>
          <a:xfrm>
            <a:off x="9287789" y="3342132"/>
            <a:ext cx="82296" cy="82296"/>
          </a:xfrm>
          <a:prstGeom prst="ellipse">
            <a:avLst/>
          </a:prstGeom>
          <a:solidFill>
            <a:srgbClr val="8A8D93"/>
          </a:solidFill>
          <a:ln/>
        </p:spPr>
        <p:txBody>
          <a:bodyPr/>
          <a:lstStyle/>
          <a:p>
            <a:endParaRPr lang="en-US"/>
          </a:p>
        </p:txBody>
      </p:sp>
      <p:sp>
        <p:nvSpPr>
          <p:cNvPr id="84" name="txt-51"/>
          <p:cNvSpPr txBox="1"/>
          <p:nvPr/>
        </p:nvSpPr>
        <p:spPr>
          <a:xfrm>
            <a:off x="9452381" y="3200400"/>
            <a:ext cx="2144954" cy="365760"/>
          </a:xfrm>
          <a:prstGeom prst="rect">
            <a:avLst/>
          </a:prstGeom>
          <a:noFill/>
          <a:ln/>
        </p:spPr>
        <p:txBody>
          <a:bodyPr wrap="square" lIns="0" tIns="0" rIns="0" bIns="0" rtlCol="0" anchor="ctr"/>
          <a:lstStyle/>
          <a:p>
            <a:pPr marL="0" indent="0">
              <a:buNone/>
            </a:pPr>
            <a:r>
              <a:rPr lang="en-US" sz="1300" dirty="0">
                <a:solidFill>
                  <a:schemeClr val="tx1"/>
                </a:solidFill>
              </a:rPr>
              <a:t>Conditional formatting</a:t>
            </a:r>
            <a:endParaRPr lang="en-US" sz="1300" dirty="0"/>
          </a:p>
        </p:txBody>
      </p:sp>
      <p:sp>
        <p:nvSpPr>
          <p:cNvPr id="85" name="Shape 82"/>
          <p:cNvSpPr/>
          <p:nvPr/>
        </p:nvSpPr>
        <p:spPr>
          <a:xfrm>
            <a:off x="9287789" y="3707892"/>
            <a:ext cx="82296" cy="82296"/>
          </a:xfrm>
          <a:prstGeom prst="ellipse">
            <a:avLst/>
          </a:prstGeom>
          <a:solidFill>
            <a:srgbClr val="8A8D93"/>
          </a:solidFill>
          <a:ln/>
        </p:spPr>
        <p:txBody>
          <a:bodyPr/>
          <a:lstStyle/>
          <a:p>
            <a:endParaRPr lang="en-US"/>
          </a:p>
        </p:txBody>
      </p:sp>
      <p:sp>
        <p:nvSpPr>
          <p:cNvPr id="86" name="txt-52"/>
          <p:cNvSpPr txBox="1"/>
          <p:nvPr/>
        </p:nvSpPr>
        <p:spPr>
          <a:xfrm>
            <a:off x="9452381" y="3566160"/>
            <a:ext cx="2144954" cy="365760"/>
          </a:xfrm>
          <a:prstGeom prst="rect">
            <a:avLst/>
          </a:prstGeom>
          <a:noFill/>
          <a:ln/>
        </p:spPr>
        <p:txBody>
          <a:bodyPr wrap="square" lIns="0" tIns="0" rIns="0" bIns="0" rtlCol="0" anchor="ctr"/>
          <a:lstStyle/>
          <a:p>
            <a:pPr marL="0" indent="0">
              <a:buNone/>
            </a:pPr>
            <a:r>
              <a:rPr lang="en-US" sz="1300" dirty="0">
                <a:solidFill>
                  <a:schemeClr val="tx1"/>
                </a:solidFill>
              </a:rPr>
              <a:t>Sparklines</a:t>
            </a:r>
            <a:endParaRPr lang="en-US" sz="1300" dirty="0"/>
          </a:p>
        </p:txBody>
      </p:sp>
      <p:sp>
        <p:nvSpPr>
          <p:cNvPr id="87" name="Shape 84"/>
          <p:cNvSpPr/>
          <p:nvPr/>
        </p:nvSpPr>
        <p:spPr>
          <a:xfrm>
            <a:off x="9287789" y="4073652"/>
            <a:ext cx="82296" cy="82296"/>
          </a:xfrm>
          <a:prstGeom prst="ellipse">
            <a:avLst/>
          </a:prstGeom>
          <a:solidFill>
            <a:srgbClr val="8A8D93"/>
          </a:solidFill>
          <a:ln/>
        </p:spPr>
        <p:txBody>
          <a:bodyPr/>
          <a:lstStyle/>
          <a:p>
            <a:endParaRPr lang="en-US"/>
          </a:p>
        </p:txBody>
      </p:sp>
      <p:sp>
        <p:nvSpPr>
          <p:cNvPr id="88" name="txt-53"/>
          <p:cNvSpPr txBox="1"/>
          <p:nvPr/>
        </p:nvSpPr>
        <p:spPr>
          <a:xfrm>
            <a:off x="9452381" y="3931920"/>
            <a:ext cx="2144954" cy="365760"/>
          </a:xfrm>
          <a:prstGeom prst="rect">
            <a:avLst/>
          </a:prstGeom>
          <a:noFill/>
          <a:ln/>
        </p:spPr>
        <p:txBody>
          <a:bodyPr wrap="square" lIns="0" tIns="0" rIns="0" bIns="0" rtlCol="0" anchor="ctr"/>
          <a:lstStyle/>
          <a:p>
            <a:pPr marL="0" indent="0">
              <a:buNone/>
            </a:pPr>
            <a:r>
              <a:rPr lang="en-US" sz="1300" dirty="0">
                <a:solidFill>
                  <a:schemeClr val="tx1"/>
                </a:solidFill>
              </a:rPr>
              <a:t>Pivot-ready (long) data</a:t>
            </a:r>
            <a:endParaRPr lang="en-US" sz="1300" dirty="0"/>
          </a:p>
        </p:txBody>
      </p:sp>
      <p:sp>
        <p:nvSpPr>
          <p:cNvPr id="89" name="Shape 86"/>
          <p:cNvSpPr/>
          <p:nvPr/>
        </p:nvSpPr>
        <p:spPr>
          <a:xfrm>
            <a:off x="9287789" y="4439412"/>
            <a:ext cx="82296" cy="82296"/>
          </a:xfrm>
          <a:prstGeom prst="ellipse">
            <a:avLst/>
          </a:prstGeom>
          <a:solidFill>
            <a:srgbClr val="8A8D93"/>
          </a:solidFill>
          <a:ln/>
        </p:spPr>
        <p:txBody>
          <a:bodyPr/>
          <a:lstStyle/>
          <a:p>
            <a:endParaRPr lang="en-US"/>
          </a:p>
        </p:txBody>
      </p:sp>
      <p:sp>
        <p:nvSpPr>
          <p:cNvPr id="90" name="txt-54"/>
          <p:cNvSpPr txBox="1"/>
          <p:nvPr/>
        </p:nvSpPr>
        <p:spPr>
          <a:xfrm>
            <a:off x="9452381" y="4297680"/>
            <a:ext cx="2144954" cy="365760"/>
          </a:xfrm>
          <a:prstGeom prst="rect">
            <a:avLst/>
          </a:prstGeom>
          <a:noFill/>
          <a:ln/>
        </p:spPr>
        <p:txBody>
          <a:bodyPr wrap="square" lIns="0" tIns="0" rIns="0" bIns="0" rtlCol="0" anchor="ctr"/>
          <a:lstStyle/>
          <a:p>
            <a:pPr marL="0" indent="0">
              <a:buNone/>
            </a:pPr>
            <a:r>
              <a:rPr lang="en-US" sz="1300" dirty="0">
                <a:solidFill>
                  <a:schemeClr val="tx1"/>
                </a:solidFill>
              </a:rPr>
              <a:t>PivotTables</a:t>
            </a:r>
            <a:endParaRPr lang="en-US" sz="1300" dirty="0"/>
          </a:p>
        </p:txBody>
      </p:sp>
      <p:sp>
        <p:nvSpPr>
          <p:cNvPr id="91" name="Shape 88"/>
          <p:cNvSpPr/>
          <p:nvPr/>
        </p:nvSpPr>
        <p:spPr>
          <a:xfrm>
            <a:off x="9287789" y="4805172"/>
            <a:ext cx="82296" cy="82296"/>
          </a:xfrm>
          <a:prstGeom prst="ellipse">
            <a:avLst/>
          </a:prstGeom>
          <a:solidFill>
            <a:srgbClr val="8A8D93"/>
          </a:solidFill>
          <a:ln/>
        </p:spPr>
        <p:txBody>
          <a:bodyPr/>
          <a:lstStyle/>
          <a:p>
            <a:endParaRPr lang="en-US"/>
          </a:p>
        </p:txBody>
      </p:sp>
      <p:sp>
        <p:nvSpPr>
          <p:cNvPr id="92" name="txt-55"/>
          <p:cNvSpPr txBox="1"/>
          <p:nvPr/>
        </p:nvSpPr>
        <p:spPr>
          <a:xfrm>
            <a:off x="9452381" y="4663440"/>
            <a:ext cx="2144954" cy="365760"/>
          </a:xfrm>
          <a:prstGeom prst="rect">
            <a:avLst/>
          </a:prstGeom>
          <a:noFill/>
          <a:ln/>
        </p:spPr>
        <p:txBody>
          <a:bodyPr wrap="square" lIns="0" tIns="0" rIns="0" bIns="0" rtlCol="0" anchor="ctr"/>
          <a:lstStyle/>
          <a:p>
            <a:pPr marL="0" indent="0">
              <a:buNone/>
            </a:pPr>
            <a:r>
              <a:rPr lang="en-US" sz="1300" dirty="0">
                <a:solidFill>
                  <a:schemeClr val="tx1"/>
                </a:solidFill>
              </a:rPr>
              <a:t>Pivot Charts</a:t>
            </a:r>
            <a:endParaRPr lang="en-US" sz="1300" dirty="0"/>
          </a:p>
        </p:txBody>
      </p:sp>
      <p:sp>
        <p:nvSpPr>
          <p:cNvPr id="4"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9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56"/>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RECOMMENDATION</a:t>
            </a:r>
            <a:endParaRPr lang="en-US" sz="1200" dirty="0"/>
          </a:p>
        </p:txBody>
      </p:sp>
      <p:sp>
        <p:nvSpPr>
          <p:cNvPr id="3" name="Text 0"/>
          <p:cNvSpPr>
            <a:spLocks noGrp="1"/>
          </p:cNvSpPr>
          <p:nvPr>
            <p:ph type="title" idx="100" hasCustomPrompt="1"/>
          </p:nvPr>
        </p:nvSpPr>
        <p:spPr>
          <a:xfrm>
            <a:off x="548640" y="704668"/>
            <a:ext cx="11292261" cy="580644"/>
          </a:xfrm>
          <a:prstGeom prst="rect">
            <a:avLst/>
          </a:prstGeom>
          <a:noFill/>
          <a:ln/>
        </p:spPr>
        <p:txBody>
          <a:bodyPr wrap="square" lIns="0" tIns="0" rIns="0" bIns="0" rtlCol="0" anchor="t"/>
          <a:lstStyle/>
          <a:p>
            <a:pPr marL="0" indent="0" algn="l">
              <a:buNone/>
            </a:pPr>
            <a:r>
              <a:rPr lang="en-US" sz="2700" b="1" dirty="0">
                <a:solidFill>
                  <a:schemeClr val="tx1"/>
                </a:solidFill>
                <a:latin typeface="Cambria" pitchFamily="34" charset="0"/>
                <a:ea typeface="Cambria" pitchFamily="34" charset="-122"/>
                <a:cs typeface="Cambria" pitchFamily="34" charset="-120"/>
              </a:rPr>
              <a:t>19 of 34 topics repeat MGCR 331 — move them to self-review in week 1</a:t>
            </a:r>
            <a:endParaRPr lang="en-US" sz="2700" dirty="0"/>
          </a:p>
        </p:txBody>
      </p:sp>
      <p:sp>
        <p:nvSpPr>
          <p:cNvPr id="5" name="card-57"/>
          <p:cNvSpPr/>
          <p:nvPr/>
        </p:nvSpPr>
        <p:spPr>
          <a:xfrm>
            <a:off x="548640" y="1554480"/>
            <a:ext cx="2602154" cy="4206240"/>
          </a:xfrm>
          <a:prstGeom prst="roundRect">
            <a:avLst>
              <a:gd name="adj" fmla="val 2811"/>
            </a:avLst>
          </a:prstGeom>
          <a:solidFill>
            <a:schemeClr val="bg2"/>
          </a:solidFill>
          <a:ln/>
        </p:spPr>
        <p:txBody>
          <a:bodyPr/>
          <a:lstStyle/>
          <a:p>
            <a:endParaRPr lang="en-US"/>
          </a:p>
        </p:txBody>
      </p:sp>
      <p:sp>
        <p:nvSpPr>
          <p:cNvPr id="6" name="badge-58"/>
          <p:cNvSpPr/>
          <p:nvPr/>
        </p:nvSpPr>
        <p:spPr>
          <a:xfrm>
            <a:off x="777240" y="1755648"/>
            <a:ext cx="457200" cy="457200"/>
          </a:xfrm>
          <a:prstGeom prst="ellipse">
            <a:avLst/>
          </a:prstGeom>
          <a:solidFill>
            <a:srgbClr val="1E1F24"/>
          </a:solidFill>
          <a:ln/>
        </p:spPr>
        <p:txBody>
          <a:bodyPr/>
          <a:lstStyle/>
          <a:p>
            <a:endParaRPr lang="en-US"/>
          </a:p>
        </p:txBody>
      </p:sp>
      <p:sp>
        <p:nvSpPr>
          <p:cNvPr id="7" name="badge-t-59"/>
          <p:cNvSpPr txBox="1"/>
          <p:nvPr/>
        </p:nvSpPr>
        <p:spPr>
          <a:xfrm>
            <a:off x="777240" y="1755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8" name="txt-60"/>
          <p:cNvSpPr txBox="1"/>
          <p:nvPr/>
        </p:nvSpPr>
        <p:spPr>
          <a:xfrm>
            <a:off x="1371600" y="1691640"/>
            <a:ext cx="1687754" cy="292608"/>
          </a:xfrm>
          <a:prstGeom prst="rect">
            <a:avLst/>
          </a:prstGeom>
          <a:noFill/>
          <a:ln/>
        </p:spPr>
        <p:txBody>
          <a:bodyPr wrap="square" lIns="0" tIns="0" rIns="0" bIns="0" rtlCol="0" anchor="t"/>
          <a:lstStyle/>
          <a:p>
            <a:pPr marL="0" indent="0">
              <a:buNone/>
            </a:pPr>
            <a:r>
              <a:rPr lang="en-US" sz="1100" b="1" kern="0" spc="100" dirty="0">
                <a:solidFill>
                  <a:schemeClr val="accent5"/>
                </a:solidFill>
              </a:rPr>
              <a:t>CLASS 1</a:t>
            </a:r>
            <a:endParaRPr lang="en-US" sz="1100" dirty="0"/>
          </a:p>
        </p:txBody>
      </p:sp>
      <p:sp>
        <p:nvSpPr>
          <p:cNvPr id="9" name="txt-61"/>
          <p:cNvSpPr txBox="1"/>
          <p:nvPr/>
        </p:nvSpPr>
        <p:spPr>
          <a:xfrm>
            <a:off x="1371600" y="1938528"/>
            <a:ext cx="1687754" cy="36576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Exploring Data</a:t>
            </a:r>
            <a:endParaRPr lang="en-US" sz="1700" dirty="0"/>
          </a:p>
        </p:txBody>
      </p:sp>
      <p:sp>
        <p:nvSpPr>
          <p:cNvPr id="10" name="Shape 7"/>
          <p:cNvSpPr/>
          <p:nvPr/>
        </p:nvSpPr>
        <p:spPr>
          <a:xfrm>
            <a:off x="685800" y="2496312"/>
            <a:ext cx="2327834" cy="310896"/>
          </a:xfrm>
          <a:prstGeom prst="roundRect">
            <a:avLst>
              <a:gd name="adj" fmla="val 17647"/>
            </a:avLst>
          </a:prstGeom>
          <a:solidFill>
            <a:srgbClr val="FBE3E6"/>
          </a:solidFill>
          <a:ln/>
        </p:spPr>
        <p:txBody>
          <a:bodyPr/>
          <a:lstStyle/>
          <a:p>
            <a:endParaRPr lang="en-US"/>
          </a:p>
        </p:txBody>
      </p:sp>
      <p:sp>
        <p:nvSpPr>
          <p:cNvPr id="11" name="txt-62"/>
          <p:cNvSpPr txBox="1"/>
          <p:nvPr/>
        </p:nvSpPr>
        <p:spPr>
          <a:xfrm>
            <a:off x="960120" y="246888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Cells, ranges, formulas</a:t>
            </a:r>
            <a:endParaRPr lang="en-US" sz="1300" dirty="0"/>
          </a:p>
        </p:txBody>
      </p:sp>
      <p:sp>
        <p:nvSpPr>
          <p:cNvPr id="12" name="Shape 9"/>
          <p:cNvSpPr/>
          <p:nvPr/>
        </p:nvSpPr>
        <p:spPr>
          <a:xfrm>
            <a:off x="795528" y="2976372"/>
            <a:ext cx="82296" cy="82296"/>
          </a:xfrm>
          <a:prstGeom prst="ellipse">
            <a:avLst/>
          </a:prstGeom>
          <a:solidFill>
            <a:srgbClr val="3D8B5F"/>
          </a:solidFill>
          <a:ln/>
        </p:spPr>
        <p:txBody>
          <a:bodyPr/>
          <a:lstStyle/>
          <a:p>
            <a:endParaRPr lang="en-US"/>
          </a:p>
        </p:txBody>
      </p:sp>
      <p:sp>
        <p:nvSpPr>
          <p:cNvPr id="13" name="txt-63"/>
          <p:cNvSpPr txBox="1"/>
          <p:nvPr/>
        </p:nvSpPr>
        <p:spPr>
          <a:xfrm>
            <a:off x="960120" y="2834640"/>
            <a:ext cx="2144954" cy="365760"/>
          </a:xfrm>
          <a:prstGeom prst="rect">
            <a:avLst/>
          </a:prstGeom>
          <a:noFill/>
          <a:ln/>
        </p:spPr>
        <p:txBody>
          <a:bodyPr wrap="square" lIns="0" tIns="0" rIns="0" bIns="0" rtlCol="0" anchor="ctr"/>
          <a:lstStyle/>
          <a:p>
            <a:pPr marL="0" indent="0">
              <a:buNone/>
            </a:pPr>
            <a:r>
              <a:rPr lang="en-US" sz="1300" dirty="0">
                <a:solidFill>
                  <a:schemeClr val="tx1"/>
                </a:solidFill>
              </a:rPr>
              <a:t>3-D sheet references</a:t>
            </a:r>
            <a:endParaRPr lang="en-US" sz="1300" dirty="0"/>
          </a:p>
        </p:txBody>
      </p:sp>
      <p:sp>
        <p:nvSpPr>
          <p:cNvPr id="14" name="Shape 11"/>
          <p:cNvSpPr/>
          <p:nvPr/>
        </p:nvSpPr>
        <p:spPr>
          <a:xfrm>
            <a:off x="685800" y="3227832"/>
            <a:ext cx="2327834" cy="310896"/>
          </a:xfrm>
          <a:prstGeom prst="roundRect">
            <a:avLst>
              <a:gd name="adj" fmla="val 17647"/>
            </a:avLst>
          </a:prstGeom>
          <a:solidFill>
            <a:srgbClr val="FBE3E6"/>
          </a:solidFill>
          <a:ln/>
        </p:spPr>
        <p:txBody>
          <a:bodyPr/>
          <a:lstStyle/>
          <a:p>
            <a:endParaRPr lang="en-US"/>
          </a:p>
        </p:txBody>
      </p:sp>
      <p:sp>
        <p:nvSpPr>
          <p:cNvPr id="15" name="txt-64"/>
          <p:cNvSpPr txBox="1"/>
          <p:nvPr/>
        </p:nvSpPr>
        <p:spPr>
          <a:xfrm>
            <a:off x="960120" y="320040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Named ranges</a:t>
            </a:r>
            <a:endParaRPr lang="en-US" sz="1300" dirty="0"/>
          </a:p>
        </p:txBody>
      </p:sp>
      <p:sp>
        <p:nvSpPr>
          <p:cNvPr id="16" name="Shape 13"/>
          <p:cNvSpPr/>
          <p:nvPr/>
        </p:nvSpPr>
        <p:spPr>
          <a:xfrm>
            <a:off x="685800" y="3593592"/>
            <a:ext cx="2327834" cy="310896"/>
          </a:xfrm>
          <a:prstGeom prst="roundRect">
            <a:avLst>
              <a:gd name="adj" fmla="val 17647"/>
            </a:avLst>
          </a:prstGeom>
          <a:solidFill>
            <a:srgbClr val="FBE3E6"/>
          </a:solidFill>
          <a:ln/>
        </p:spPr>
        <p:txBody>
          <a:bodyPr/>
          <a:lstStyle/>
          <a:p>
            <a:endParaRPr lang="en-US"/>
          </a:p>
        </p:txBody>
      </p:sp>
      <p:sp>
        <p:nvSpPr>
          <p:cNvPr id="17" name="txt-65"/>
          <p:cNvSpPr txBox="1"/>
          <p:nvPr/>
        </p:nvSpPr>
        <p:spPr>
          <a:xfrm>
            <a:off x="960120" y="356616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Relative / absolute refs</a:t>
            </a:r>
            <a:endParaRPr lang="en-US" sz="1300" dirty="0"/>
          </a:p>
        </p:txBody>
      </p:sp>
      <p:sp>
        <p:nvSpPr>
          <p:cNvPr id="18" name="Shape 15"/>
          <p:cNvSpPr/>
          <p:nvPr/>
        </p:nvSpPr>
        <p:spPr>
          <a:xfrm>
            <a:off x="685800" y="3959352"/>
            <a:ext cx="2327834" cy="310896"/>
          </a:xfrm>
          <a:prstGeom prst="roundRect">
            <a:avLst>
              <a:gd name="adj" fmla="val 17647"/>
            </a:avLst>
          </a:prstGeom>
          <a:solidFill>
            <a:srgbClr val="FBE3E6"/>
          </a:solidFill>
          <a:ln/>
        </p:spPr>
        <p:txBody>
          <a:bodyPr/>
          <a:lstStyle/>
          <a:p>
            <a:endParaRPr lang="en-US"/>
          </a:p>
        </p:txBody>
      </p:sp>
      <p:sp>
        <p:nvSpPr>
          <p:cNvPr id="19" name="txt-66"/>
          <p:cNvSpPr txBox="1"/>
          <p:nvPr/>
        </p:nvSpPr>
        <p:spPr>
          <a:xfrm>
            <a:off x="960120" y="393192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Auto Fill &amp; Flash Fill</a:t>
            </a:r>
            <a:endParaRPr lang="en-US" sz="1300" dirty="0"/>
          </a:p>
        </p:txBody>
      </p:sp>
      <p:sp>
        <p:nvSpPr>
          <p:cNvPr id="20" name="Shape 17"/>
          <p:cNvSpPr/>
          <p:nvPr/>
        </p:nvSpPr>
        <p:spPr>
          <a:xfrm>
            <a:off x="685800" y="4325112"/>
            <a:ext cx="2327834" cy="310896"/>
          </a:xfrm>
          <a:prstGeom prst="roundRect">
            <a:avLst>
              <a:gd name="adj" fmla="val 17647"/>
            </a:avLst>
          </a:prstGeom>
          <a:solidFill>
            <a:srgbClr val="FBE3E6"/>
          </a:solidFill>
          <a:ln/>
        </p:spPr>
        <p:txBody>
          <a:bodyPr/>
          <a:lstStyle/>
          <a:p>
            <a:endParaRPr lang="en-US"/>
          </a:p>
        </p:txBody>
      </p:sp>
      <p:sp>
        <p:nvSpPr>
          <p:cNvPr id="21" name="txt-67"/>
          <p:cNvSpPr txBox="1"/>
          <p:nvPr/>
        </p:nvSpPr>
        <p:spPr>
          <a:xfrm>
            <a:off x="960120" y="429768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IF, nested IF, IFS</a:t>
            </a:r>
            <a:endParaRPr lang="en-US" sz="1300" dirty="0"/>
          </a:p>
        </p:txBody>
      </p:sp>
      <p:sp>
        <p:nvSpPr>
          <p:cNvPr id="22" name="Shape 19"/>
          <p:cNvSpPr/>
          <p:nvPr/>
        </p:nvSpPr>
        <p:spPr>
          <a:xfrm>
            <a:off x="685800" y="4690872"/>
            <a:ext cx="2327834" cy="310896"/>
          </a:xfrm>
          <a:prstGeom prst="roundRect">
            <a:avLst>
              <a:gd name="adj" fmla="val 17647"/>
            </a:avLst>
          </a:prstGeom>
          <a:solidFill>
            <a:srgbClr val="FBE3E6"/>
          </a:solidFill>
          <a:ln/>
        </p:spPr>
        <p:txBody>
          <a:bodyPr/>
          <a:lstStyle/>
          <a:p>
            <a:endParaRPr lang="en-US"/>
          </a:p>
        </p:txBody>
      </p:sp>
      <p:sp>
        <p:nvSpPr>
          <p:cNvPr id="23" name="txt-68"/>
          <p:cNvSpPr txBox="1"/>
          <p:nvPr/>
        </p:nvSpPr>
        <p:spPr>
          <a:xfrm>
            <a:off x="960120" y="466344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IFERROR</a:t>
            </a:r>
            <a:endParaRPr lang="en-US" sz="1300" dirty="0"/>
          </a:p>
        </p:txBody>
      </p:sp>
      <p:sp>
        <p:nvSpPr>
          <p:cNvPr id="24" name="Shape 21"/>
          <p:cNvSpPr/>
          <p:nvPr/>
        </p:nvSpPr>
        <p:spPr>
          <a:xfrm>
            <a:off x="795528" y="5170932"/>
            <a:ext cx="82296" cy="82296"/>
          </a:xfrm>
          <a:prstGeom prst="ellipse">
            <a:avLst/>
          </a:prstGeom>
          <a:solidFill>
            <a:srgbClr val="3D8B5F"/>
          </a:solidFill>
          <a:ln/>
        </p:spPr>
        <p:txBody>
          <a:bodyPr/>
          <a:lstStyle/>
          <a:p>
            <a:endParaRPr lang="en-US"/>
          </a:p>
        </p:txBody>
      </p:sp>
      <p:sp>
        <p:nvSpPr>
          <p:cNvPr id="25" name="txt-69"/>
          <p:cNvSpPr txBox="1"/>
          <p:nvPr/>
        </p:nvSpPr>
        <p:spPr>
          <a:xfrm>
            <a:off x="960120" y="5029200"/>
            <a:ext cx="2144954" cy="365760"/>
          </a:xfrm>
          <a:prstGeom prst="rect">
            <a:avLst/>
          </a:prstGeom>
          <a:noFill/>
          <a:ln/>
        </p:spPr>
        <p:txBody>
          <a:bodyPr wrap="square" lIns="0" tIns="0" rIns="0" bIns="0" rtlCol="0" anchor="ctr"/>
          <a:lstStyle/>
          <a:p>
            <a:pPr marL="0" indent="0">
              <a:buNone/>
            </a:pPr>
            <a:r>
              <a:rPr lang="en-US" sz="1300" dirty="0">
                <a:solidFill>
                  <a:schemeClr val="tx1"/>
                </a:solidFill>
              </a:rPr>
              <a:t>ISNUMBER / VALUE checks</a:t>
            </a:r>
            <a:endParaRPr lang="en-US" sz="1300" dirty="0"/>
          </a:p>
        </p:txBody>
      </p:sp>
      <p:sp>
        <p:nvSpPr>
          <p:cNvPr id="26" name="Shape 23"/>
          <p:cNvSpPr/>
          <p:nvPr/>
        </p:nvSpPr>
        <p:spPr>
          <a:xfrm>
            <a:off x="795528" y="5536692"/>
            <a:ext cx="82296" cy="82296"/>
          </a:xfrm>
          <a:prstGeom prst="ellipse">
            <a:avLst/>
          </a:prstGeom>
          <a:solidFill>
            <a:srgbClr val="3D8B5F"/>
          </a:solidFill>
          <a:ln/>
        </p:spPr>
        <p:txBody>
          <a:bodyPr/>
          <a:lstStyle/>
          <a:p>
            <a:endParaRPr lang="en-US"/>
          </a:p>
        </p:txBody>
      </p:sp>
      <p:sp>
        <p:nvSpPr>
          <p:cNvPr id="27" name="txt-70"/>
          <p:cNvSpPr txBox="1"/>
          <p:nvPr/>
        </p:nvSpPr>
        <p:spPr>
          <a:xfrm>
            <a:off x="960120" y="5394960"/>
            <a:ext cx="2144954" cy="365760"/>
          </a:xfrm>
          <a:prstGeom prst="rect">
            <a:avLst/>
          </a:prstGeom>
          <a:noFill/>
          <a:ln/>
        </p:spPr>
        <p:txBody>
          <a:bodyPr wrap="square" lIns="0" tIns="0" rIns="0" bIns="0" rtlCol="0" anchor="ctr"/>
          <a:lstStyle/>
          <a:p>
            <a:pPr marL="0" indent="0">
              <a:buNone/>
            </a:pPr>
            <a:r>
              <a:rPr lang="en-US" sz="1300" dirty="0">
                <a:solidFill>
                  <a:schemeClr val="tx1"/>
                </a:solidFill>
              </a:rPr>
              <a:t>Number &lt; text &lt; logical</a:t>
            </a:r>
            <a:endParaRPr lang="en-US" sz="1300" dirty="0"/>
          </a:p>
        </p:txBody>
      </p:sp>
      <p:sp>
        <p:nvSpPr>
          <p:cNvPr id="28" name="card-71"/>
          <p:cNvSpPr/>
          <p:nvPr/>
        </p:nvSpPr>
        <p:spPr>
          <a:xfrm>
            <a:off x="3379394" y="1554480"/>
            <a:ext cx="2602154" cy="4206240"/>
          </a:xfrm>
          <a:prstGeom prst="roundRect">
            <a:avLst>
              <a:gd name="adj" fmla="val 2811"/>
            </a:avLst>
          </a:prstGeom>
          <a:solidFill>
            <a:schemeClr val="bg2"/>
          </a:solidFill>
          <a:ln/>
        </p:spPr>
        <p:txBody>
          <a:bodyPr/>
          <a:lstStyle/>
          <a:p>
            <a:endParaRPr lang="en-US"/>
          </a:p>
        </p:txBody>
      </p:sp>
      <p:sp>
        <p:nvSpPr>
          <p:cNvPr id="29" name="badge-72"/>
          <p:cNvSpPr/>
          <p:nvPr/>
        </p:nvSpPr>
        <p:spPr>
          <a:xfrm>
            <a:off x="3607994" y="1755648"/>
            <a:ext cx="457200" cy="457200"/>
          </a:xfrm>
          <a:prstGeom prst="ellipse">
            <a:avLst/>
          </a:prstGeom>
          <a:solidFill>
            <a:srgbClr val="1E1F24"/>
          </a:solidFill>
          <a:ln/>
        </p:spPr>
        <p:txBody>
          <a:bodyPr/>
          <a:lstStyle/>
          <a:p>
            <a:endParaRPr lang="en-US"/>
          </a:p>
        </p:txBody>
      </p:sp>
      <p:sp>
        <p:nvSpPr>
          <p:cNvPr id="30" name="badge-t-73"/>
          <p:cNvSpPr txBox="1"/>
          <p:nvPr/>
        </p:nvSpPr>
        <p:spPr>
          <a:xfrm>
            <a:off x="3607994" y="1755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31" name="txt-74"/>
          <p:cNvSpPr txBox="1"/>
          <p:nvPr/>
        </p:nvSpPr>
        <p:spPr>
          <a:xfrm>
            <a:off x="4202354" y="1691640"/>
            <a:ext cx="1687754" cy="292608"/>
          </a:xfrm>
          <a:prstGeom prst="rect">
            <a:avLst/>
          </a:prstGeom>
          <a:noFill/>
          <a:ln/>
        </p:spPr>
        <p:txBody>
          <a:bodyPr wrap="square" lIns="0" tIns="0" rIns="0" bIns="0" rtlCol="0" anchor="t"/>
          <a:lstStyle/>
          <a:p>
            <a:pPr marL="0" indent="0">
              <a:buNone/>
            </a:pPr>
            <a:r>
              <a:rPr lang="en-US" sz="1100" b="1" kern="0" spc="100" dirty="0">
                <a:solidFill>
                  <a:schemeClr val="accent5"/>
                </a:solidFill>
              </a:rPr>
              <a:t>CLASS 2</a:t>
            </a:r>
            <a:endParaRPr lang="en-US" sz="1100" dirty="0"/>
          </a:p>
        </p:txBody>
      </p:sp>
      <p:sp>
        <p:nvSpPr>
          <p:cNvPr id="32" name="txt-75"/>
          <p:cNvSpPr txBox="1"/>
          <p:nvPr/>
        </p:nvSpPr>
        <p:spPr>
          <a:xfrm>
            <a:off x="4202354" y="1938528"/>
            <a:ext cx="1687754" cy="36576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Aggregating Data</a:t>
            </a:r>
            <a:endParaRPr lang="en-US" sz="1700" dirty="0"/>
          </a:p>
        </p:txBody>
      </p:sp>
      <p:sp>
        <p:nvSpPr>
          <p:cNvPr id="33" name="Shape 30"/>
          <p:cNvSpPr/>
          <p:nvPr/>
        </p:nvSpPr>
        <p:spPr>
          <a:xfrm>
            <a:off x="3516554" y="2496312"/>
            <a:ext cx="2327834" cy="310896"/>
          </a:xfrm>
          <a:prstGeom prst="roundRect">
            <a:avLst>
              <a:gd name="adj" fmla="val 17647"/>
            </a:avLst>
          </a:prstGeom>
          <a:solidFill>
            <a:srgbClr val="FBE3E6"/>
          </a:solidFill>
          <a:ln/>
        </p:spPr>
        <p:txBody>
          <a:bodyPr/>
          <a:lstStyle/>
          <a:p>
            <a:endParaRPr lang="en-US"/>
          </a:p>
        </p:txBody>
      </p:sp>
      <p:sp>
        <p:nvSpPr>
          <p:cNvPr id="34" name="txt-76"/>
          <p:cNvSpPr txBox="1"/>
          <p:nvPr/>
        </p:nvSpPr>
        <p:spPr>
          <a:xfrm>
            <a:off x="3790874" y="246888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AND / OR</a:t>
            </a:r>
            <a:endParaRPr lang="en-US" sz="1300" dirty="0"/>
          </a:p>
        </p:txBody>
      </p:sp>
      <p:sp>
        <p:nvSpPr>
          <p:cNvPr id="35" name="Shape 32"/>
          <p:cNvSpPr/>
          <p:nvPr/>
        </p:nvSpPr>
        <p:spPr>
          <a:xfrm>
            <a:off x="3516554" y="2862072"/>
            <a:ext cx="2327834" cy="310896"/>
          </a:xfrm>
          <a:prstGeom prst="roundRect">
            <a:avLst>
              <a:gd name="adj" fmla="val 17647"/>
            </a:avLst>
          </a:prstGeom>
          <a:solidFill>
            <a:srgbClr val="FBE3E6"/>
          </a:solidFill>
          <a:ln/>
        </p:spPr>
        <p:txBody>
          <a:bodyPr/>
          <a:lstStyle/>
          <a:p>
            <a:endParaRPr lang="en-US"/>
          </a:p>
        </p:txBody>
      </p:sp>
      <p:sp>
        <p:nvSpPr>
          <p:cNvPr id="36" name="txt-77"/>
          <p:cNvSpPr txBox="1"/>
          <p:nvPr/>
        </p:nvSpPr>
        <p:spPr>
          <a:xfrm>
            <a:off x="3790874" y="283464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COUNT / COUNTA / BLANK</a:t>
            </a:r>
            <a:endParaRPr lang="en-US" sz="1300" dirty="0"/>
          </a:p>
        </p:txBody>
      </p:sp>
      <p:sp>
        <p:nvSpPr>
          <p:cNvPr id="37" name="Shape 34"/>
          <p:cNvSpPr/>
          <p:nvPr/>
        </p:nvSpPr>
        <p:spPr>
          <a:xfrm>
            <a:off x="3516554" y="3227832"/>
            <a:ext cx="2327834" cy="310896"/>
          </a:xfrm>
          <a:prstGeom prst="roundRect">
            <a:avLst>
              <a:gd name="adj" fmla="val 17647"/>
            </a:avLst>
          </a:prstGeom>
          <a:solidFill>
            <a:srgbClr val="FBE3E6"/>
          </a:solidFill>
          <a:ln/>
        </p:spPr>
        <p:txBody>
          <a:bodyPr/>
          <a:lstStyle/>
          <a:p>
            <a:endParaRPr lang="en-US"/>
          </a:p>
        </p:txBody>
      </p:sp>
      <p:sp>
        <p:nvSpPr>
          <p:cNvPr id="38" name="txt-78"/>
          <p:cNvSpPr txBox="1"/>
          <p:nvPr/>
        </p:nvSpPr>
        <p:spPr>
          <a:xfrm>
            <a:off x="3790874" y="320040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COUNTIF / COUNTIFS</a:t>
            </a:r>
            <a:endParaRPr lang="en-US" sz="1300" dirty="0"/>
          </a:p>
        </p:txBody>
      </p:sp>
      <p:sp>
        <p:nvSpPr>
          <p:cNvPr id="39" name="Shape 36"/>
          <p:cNvSpPr/>
          <p:nvPr/>
        </p:nvSpPr>
        <p:spPr>
          <a:xfrm>
            <a:off x="3516554" y="3593592"/>
            <a:ext cx="2327834" cy="310896"/>
          </a:xfrm>
          <a:prstGeom prst="roundRect">
            <a:avLst>
              <a:gd name="adj" fmla="val 17647"/>
            </a:avLst>
          </a:prstGeom>
          <a:solidFill>
            <a:srgbClr val="FBE3E6"/>
          </a:solidFill>
          <a:ln/>
        </p:spPr>
        <p:txBody>
          <a:bodyPr/>
          <a:lstStyle/>
          <a:p>
            <a:endParaRPr lang="en-US"/>
          </a:p>
        </p:txBody>
      </p:sp>
      <p:sp>
        <p:nvSpPr>
          <p:cNvPr id="40" name="txt-79"/>
          <p:cNvSpPr txBox="1"/>
          <p:nvPr/>
        </p:nvSpPr>
        <p:spPr>
          <a:xfrm>
            <a:off x="3790874" y="356616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SUM / SUMIF / SUMIFS</a:t>
            </a:r>
            <a:endParaRPr lang="en-US" sz="1300" dirty="0"/>
          </a:p>
        </p:txBody>
      </p:sp>
      <p:sp>
        <p:nvSpPr>
          <p:cNvPr id="41" name="Shape 38"/>
          <p:cNvSpPr/>
          <p:nvPr/>
        </p:nvSpPr>
        <p:spPr>
          <a:xfrm>
            <a:off x="3516554" y="3959352"/>
            <a:ext cx="2327834" cy="310896"/>
          </a:xfrm>
          <a:prstGeom prst="roundRect">
            <a:avLst>
              <a:gd name="adj" fmla="val 17647"/>
            </a:avLst>
          </a:prstGeom>
          <a:solidFill>
            <a:srgbClr val="FBE3E6"/>
          </a:solidFill>
          <a:ln/>
        </p:spPr>
        <p:txBody>
          <a:bodyPr/>
          <a:lstStyle/>
          <a:p>
            <a:endParaRPr lang="en-US"/>
          </a:p>
        </p:txBody>
      </p:sp>
      <p:sp>
        <p:nvSpPr>
          <p:cNvPr id="42" name="txt-80"/>
          <p:cNvSpPr txBox="1"/>
          <p:nvPr/>
        </p:nvSpPr>
        <p:spPr>
          <a:xfrm>
            <a:off x="3790874" y="393192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AVERAGEIF / AVERAGEIFS</a:t>
            </a:r>
            <a:endParaRPr lang="en-US" sz="1300" dirty="0"/>
          </a:p>
        </p:txBody>
      </p:sp>
      <p:sp>
        <p:nvSpPr>
          <p:cNvPr id="43" name="Shape 40"/>
          <p:cNvSpPr/>
          <p:nvPr/>
        </p:nvSpPr>
        <p:spPr>
          <a:xfrm>
            <a:off x="3626282" y="4439412"/>
            <a:ext cx="82296" cy="82296"/>
          </a:xfrm>
          <a:prstGeom prst="ellipse">
            <a:avLst/>
          </a:prstGeom>
          <a:solidFill>
            <a:srgbClr val="3D8B5F"/>
          </a:solidFill>
          <a:ln/>
        </p:spPr>
        <p:txBody>
          <a:bodyPr/>
          <a:lstStyle/>
          <a:p>
            <a:endParaRPr lang="en-US"/>
          </a:p>
        </p:txBody>
      </p:sp>
      <p:sp>
        <p:nvSpPr>
          <p:cNvPr id="44" name="txt-81"/>
          <p:cNvSpPr txBox="1"/>
          <p:nvPr/>
        </p:nvSpPr>
        <p:spPr>
          <a:xfrm>
            <a:off x="3790874" y="4297680"/>
            <a:ext cx="2144954" cy="365760"/>
          </a:xfrm>
          <a:prstGeom prst="rect">
            <a:avLst/>
          </a:prstGeom>
          <a:noFill/>
          <a:ln/>
        </p:spPr>
        <p:txBody>
          <a:bodyPr wrap="square" lIns="0" tIns="0" rIns="0" bIns="0" rtlCol="0" anchor="ctr"/>
          <a:lstStyle/>
          <a:p>
            <a:pPr marL="0" indent="0">
              <a:buNone/>
            </a:pPr>
            <a:r>
              <a:rPr lang="en-US" sz="1300" dirty="0">
                <a:solidFill>
                  <a:schemeClr val="tx1"/>
                </a:solidFill>
              </a:rPr>
              <a:t>How blanks are treated</a:t>
            </a:r>
            <a:endParaRPr lang="en-US" sz="1300" dirty="0"/>
          </a:p>
        </p:txBody>
      </p:sp>
      <p:sp>
        <p:nvSpPr>
          <p:cNvPr id="45" name="Shape 42"/>
          <p:cNvSpPr/>
          <p:nvPr/>
        </p:nvSpPr>
        <p:spPr>
          <a:xfrm>
            <a:off x="3516554" y="4690872"/>
            <a:ext cx="2327834" cy="310896"/>
          </a:xfrm>
          <a:prstGeom prst="roundRect">
            <a:avLst>
              <a:gd name="adj" fmla="val 17647"/>
            </a:avLst>
          </a:prstGeom>
          <a:solidFill>
            <a:srgbClr val="FBE3E6"/>
          </a:solidFill>
          <a:ln/>
        </p:spPr>
        <p:txBody>
          <a:bodyPr/>
          <a:lstStyle/>
          <a:p>
            <a:endParaRPr lang="en-US"/>
          </a:p>
        </p:txBody>
      </p:sp>
      <p:sp>
        <p:nvSpPr>
          <p:cNvPr id="46" name="txt-82"/>
          <p:cNvSpPr txBox="1"/>
          <p:nvPr/>
        </p:nvSpPr>
        <p:spPr>
          <a:xfrm>
            <a:off x="3790874" y="466344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SUMPRODUCT basics</a:t>
            </a:r>
            <a:endParaRPr lang="en-US" sz="1300" dirty="0"/>
          </a:p>
        </p:txBody>
      </p:sp>
      <p:sp>
        <p:nvSpPr>
          <p:cNvPr id="47" name="Shape 44"/>
          <p:cNvSpPr/>
          <p:nvPr/>
        </p:nvSpPr>
        <p:spPr>
          <a:xfrm>
            <a:off x="3626282" y="5170932"/>
            <a:ext cx="82296" cy="82296"/>
          </a:xfrm>
          <a:prstGeom prst="ellipse">
            <a:avLst/>
          </a:prstGeom>
          <a:solidFill>
            <a:srgbClr val="3D8B5F"/>
          </a:solidFill>
          <a:ln/>
        </p:spPr>
        <p:txBody>
          <a:bodyPr/>
          <a:lstStyle/>
          <a:p>
            <a:endParaRPr lang="en-US"/>
          </a:p>
        </p:txBody>
      </p:sp>
      <p:sp>
        <p:nvSpPr>
          <p:cNvPr id="48" name="txt-83"/>
          <p:cNvSpPr txBox="1"/>
          <p:nvPr/>
        </p:nvSpPr>
        <p:spPr>
          <a:xfrm>
            <a:off x="3790874" y="5029200"/>
            <a:ext cx="2144954" cy="365760"/>
          </a:xfrm>
          <a:prstGeom prst="rect">
            <a:avLst/>
          </a:prstGeom>
          <a:noFill/>
          <a:ln/>
        </p:spPr>
        <p:txBody>
          <a:bodyPr wrap="square" lIns="0" tIns="0" rIns="0" bIns="0" rtlCol="0" anchor="ctr"/>
          <a:lstStyle/>
          <a:p>
            <a:pPr marL="0" indent="0">
              <a:buNone/>
            </a:pPr>
            <a:r>
              <a:rPr lang="en-US" sz="1300" dirty="0">
                <a:solidFill>
                  <a:schemeClr val="tx1"/>
                </a:solidFill>
              </a:rPr>
              <a:t>SUMPRODUCT logic (*, +, --)</a:t>
            </a:r>
            <a:endParaRPr lang="en-US" sz="1300" dirty="0"/>
          </a:p>
        </p:txBody>
      </p:sp>
      <p:sp>
        <p:nvSpPr>
          <p:cNvPr id="49" name="Shape 46"/>
          <p:cNvSpPr/>
          <p:nvPr/>
        </p:nvSpPr>
        <p:spPr>
          <a:xfrm>
            <a:off x="3516554" y="5422392"/>
            <a:ext cx="2327834" cy="310896"/>
          </a:xfrm>
          <a:prstGeom prst="roundRect">
            <a:avLst>
              <a:gd name="adj" fmla="val 17647"/>
            </a:avLst>
          </a:prstGeom>
          <a:solidFill>
            <a:srgbClr val="FBE3E6"/>
          </a:solidFill>
          <a:ln/>
        </p:spPr>
        <p:txBody>
          <a:bodyPr/>
          <a:lstStyle/>
          <a:p>
            <a:endParaRPr lang="en-US"/>
          </a:p>
        </p:txBody>
      </p:sp>
      <p:sp>
        <p:nvSpPr>
          <p:cNvPr id="50" name="txt-84"/>
          <p:cNvSpPr txBox="1"/>
          <p:nvPr/>
        </p:nvSpPr>
        <p:spPr>
          <a:xfrm>
            <a:off x="3790874" y="539496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Data Validation</a:t>
            </a:r>
            <a:endParaRPr lang="en-US" sz="1300" dirty="0"/>
          </a:p>
        </p:txBody>
      </p:sp>
      <p:sp>
        <p:nvSpPr>
          <p:cNvPr id="51" name="card-85"/>
          <p:cNvSpPr/>
          <p:nvPr/>
        </p:nvSpPr>
        <p:spPr>
          <a:xfrm>
            <a:off x="6210148" y="1554480"/>
            <a:ext cx="2602154" cy="4206240"/>
          </a:xfrm>
          <a:prstGeom prst="roundRect">
            <a:avLst>
              <a:gd name="adj" fmla="val 2811"/>
            </a:avLst>
          </a:prstGeom>
          <a:solidFill>
            <a:schemeClr val="bg2"/>
          </a:solidFill>
          <a:ln/>
        </p:spPr>
        <p:txBody>
          <a:bodyPr/>
          <a:lstStyle/>
          <a:p>
            <a:endParaRPr lang="en-US"/>
          </a:p>
        </p:txBody>
      </p:sp>
      <p:sp>
        <p:nvSpPr>
          <p:cNvPr id="52" name="badge-86"/>
          <p:cNvSpPr/>
          <p:nvPr/>
        </p:nvSpPr>
        <p:spPr>
          <a:xfrm>
            <a:off x="6438748" y="1755648"/>
            <a:ext cx="457200" cy="457200"/>
          </a:xfrm>
          <a:prstGeom prst="ellipse">
            <a:avLst/>
          </a:prstGeom>
          <a:solidFill>
            <a:srgbClr val="1E1F24"/>
          </a:solidFill>
          <a:ln/>
        </p:spPr>
        <p:txBody>
          <a:bodyPr/>
          <a:lstStyle/>
          <a:p>
            <a:endParaRPr lang="en-US"/>
          </a:p>
        </p:txBody>
      </p:sp>
      <p:sp>
        <p:nvSpPr>
          <p:cNvPr id="53" name="badge-t-87"/>
          <p:cNvSpPr txBox="1"/>
          <p:nvPr/>
        </p:nvSpPr>
        <p:spPr>
          <a:xfrm>
            <a:off x="6438748" y="1755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54" name="txt-88"/>
          <p:cNvSpPr txBox="1"/>
          <p:nvPr/>
        </p:nvSpPr>
        <p:spPr>
          <a:xfrm>
            <a:off x="7033108" y="1691640"/>
            <a:ext cx="1687754" cy="292608"/>
          </a:xfrm>
          <a:prstGeom prst="rect">
            <a:avLst/>
          </a:prstGeom>
          <a:noFill/>
          <a:ln/>
        </p:spPr>
        <p:txBody>
          <a:bodyPr wrap="square" lIns="0" tIns="0" rIns="0" bIns="0" rtlCol="0" anchor="t"/>
          <a:lstStyle/>
          <a:p>
            <a:pPr marL="0" indent="0">
              <a:buNone/>
            </a:pPr>
            <a:r>
              <a:rPr lang="en-US" sz="1100" b="1" kern="0" spc="100" dirty="0">
                <a:solidFill>
                  <a:schemeClr val="accent5"/>
                </a:solidFill>
              </a:rPr>
              <a:t>CLASS 3</a:t>
            </a:r>
            <a:endParaRPr lang="en-US" sz="1100" dirty="0"/>
          </a:p>
        </p:txBody>
      </p:sp>
      <p:sp>
        <p:nvSpPr>
          <p:cNvPr id="55" name="txt-89"/>
          <p:cNvSpPr txBox="1"/>
          <p:nvPr/>
        </p:nvSpPr>
        <p:spPr>
          <a:xfrm>
            <a:off x="7033108" y="1938528"/>
            <a:ext cx="1687754" cy="36576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Assembling Data</a:t>
            </a:r>
            <a:endParaRPr lang="en-US" sz="1700" dirty="0"/>
          </a:p>
        </p:txBody>
      </p:sp>
      <p:sp>
        <p:nvSpPr>
          <p:cNvPr id="56" name="Shape 53"/>
          <p:cNvSpPr/>
          <p:nvPr/>
        </p:nvSpPr>
        <p:spPr>
          <a:xfrm>
            <a:off x="6457036" y="2610612"/>
            <a:ext cx="82296" cy="82296"/>
          </a:xfrm>
          <a:prstGeom prst="ellipse">
            <a:avLst/>
          </a:prstGeom>
          <a:solidFill>
            <a:srgbClr val="3D8B5F"/>
          </a:solidFill>
          <a:ln/>
        </p:spPr>
        <p:txBody>
          <a:bodyPr/>
          <a:lstStyle/>
          <a:p>
            <a:endParaRPr lang="en-US"/>
          </a:p>
        </p:txBody>
      </p:sp>
      <p:sp>
        <p:nvSpPr>
          <p:cNvPr id="57" name="txt-90"/>
          <p:cNvSpPr txBox="1"/>
          <p:nvPr/>
        </p:nvSpPr>
        <p:spPr>
          <a:xfrm>
            <a:off x="6621628" y="2468880"/>
            <a:ext cx="2144954" cy="365760"/>
          </a:xfrm>
          <a:prstGeom prst="rect">
            <a:avLst/>
          </a:prstGeom>
          <a:noFill/>
          <a:ln/>
        </p:spPr>
        <p:txBody>
          <a:bodyPr wrap="square" lIns="0" tIns="0" rIns="0" bIns="0" rtlCol="0" anchor="ctr"/>
          <a:lstStyle/>
          <a:p>
            <a:pPr marL="0" indent="0">
              <a:buNone/>
            </a:pPr>
            <a:r>
              <a:rPr lang="en-US" sz="1300" dirty="0">
                <a:solidFill>
                  <a:schemeClr val="tx1"/>
                </a:solidFill>
              </a:rPr>
              <a:t>SORT</a:t>
            </a:r>
            <a:endParaRPr lang="en-US" sz="1300" dirty="0"/>
          </a:p>
        </p:txBody>
      </p:sp>
      <p:sp>
        <p:nvSpPr>
          <p:cNvPr id="58" name="Shape 55"/>
          <p:cNvSpPr/>
          <p:nvPr/>
        </p:nvSpPr>
        <p:spPr>
          <a:xfrm>
            <a:off x="6347308" y="2862072"/>
            <a:ext cx="2327834" cy="310896"/>
          </a:xfrm>
          <a:prstGeom prst="roundRect">
            <a:avLst>
              <a:gd name="adj" fmla="val 17647"/>
            </a:avLst>
          </a:prstGeom>
          <a:solidFill>
            <a:srgbClr val="FBE3E6"/>
          </a:solidFill>
          <a:ln/>
        </p:spPr>
        <p:txBody>
          <a:bodyPr/>
          <a:lstStyle/>
          <a:p>
            <a:endParaRPr lang="en-US"/>
          </a:p>
        </p:txBody>
      </p:sp>
      <p:sp>
        <p:nvSpPr>
          <p:cNvPr id="59" name="txt-91"/>
          <p:cNvSpPr txBox="1"/>
          <p:nvPr/>
        </p:nvSpPr>
        <p:spPr>
          <a:xfrm>
            <a:off x="6621628" y="283464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UNIQUE</a:t>
            </a:r>
            <a:endParaRPr lang="en-US" sz="1300" dirty="0"/>
          </a:p>
        </p:txBody>
      </p:sp>
      <p:sp>
        <p:nvSpPr>
          <p:cNvPr id="60" name="Shape 57"/>
          <p:cNvSpPr/>
          <p:nvPr/>
        </p:nvSpPr>
        <p:spPr>
          <a:xfrm>
            <a:off x="6457036" y="3342132"/>
            <a:ext cx="82296" cy="82296"/>
          </a:xfrm>
          <a:prstGeom prst="ellipse">
            <a:avLst/>
          </a:prstGeom>
          <a:solidFill>
            <a:srgbClr val="3D8B5F"/>
          </a:solidFill>
          <a:ln/>
        </p:spPr>
        <p:txBody>
          <a:bodyPr/>
          <a:lstStyle/>
          <a:p>
            <a:endParaRPr lang="en-US"/>
          </a:p>
        </p:txBody>
      </p:sp>
      <p:sp>
        <p:nvSpPr>
          <p:cNvPr id="61" name="txt-92"/>
          <p:cNvSpPr txBox="1"/>
          <p:nvPr/>
        </p:nvSpPr>
        <p:spPr>
          <a:xfrm>
            <a:off x="6621628" y="3200400"/>
            <a:ext cx="2144954" cy="365760"/>
          </a:xfrm>
          <a:prstGeom prst="rect">
            <a:avLst/>
          </a:prstGeom>
          <a:noFill/>
          <a:ln/>
        </p:spPr>
        <p:txBody>
          <a:bodyPr wrap="square" lIns="0" tIns="0" rIns="0" bIns="0" rtlCol="0" anchor="ctr"/>
          <a:lstStyle/>
          <a:p>
            <a:pPr marL="0" indent="0">
              <a:buNone/>
            </a:pPr>
            <a:r>
              <a:rPr lang="en-US" sz="1300" dirty="0">
                <a:solidFill>
                  <a:schemeClr val="tx1"/>
                </a:solidFill>
              </a:rPr>
              <a:t>OFFSET rolling ranges</a:t>
            </a:r>
            <a:endParaRPr lang="en-US" sz="1300" dirty="0"/>
          </a:p>
        </p:txBody>
      </p:sp>
      <p:sp>
        <p:nvSpPr>
          <p:cNvPr id="62" name="Shape 59"/>
          <p:cNvSpPr/>
          <p:nvPr/>
        </p:nvSpPr>
        <p:spPr>
          <a:xfrm>
            <a:off x="6457036" y="3707892"/>
            <a:ext cx="82296" cy="82296"/>
          </a:xfrm>
          <a:prstGeom prst="ellipse">
            <a:avLst/>
          </a:prstGeom>
          <a:solidFill>
            <a:srgbClr val="3D8B5F"/>
          </a:solidFill>
          <a:ln/>
        </p:spPr>
        <p:txBody>
          <a:bodyPr/>
          <a:lstStyle/>
          <a:p>
            <a:endParaRPr lang="en-US"/>
          </a:p>
        </p:txBody>
      </p:sp>
      <p:sp>
        <p:nvSpPr>
          <p:cNvPr id="63" name="txt-93"/>
          <p:cNvSpPr txBox="1"/>
          <p:nvPr/>
        </p:nvSpPr>
        <p:spPr>
          <a:xfrm>
            <a:off x="6621628" y="3566160"/>
            <a:ext cx="2144954" cy="365760"/>
          </a:xfrm>
          <a:prstGeom prst="rect">
            <a:avLst/>
          </a:prstGeom>
          <a:noFill/>
          <a:ln/>
        </p:spPr>
        <p:txBody>
          <a:bodyPr wrap="square" lIns="0" tIns="0" rIns="0" bIns="0" rtlCol="0" anchor="ctr"/>
          <a:lstStyle/>
          <a:p>
            <a:pPr marL="0" indent="0">
              <a:buNone/>
            </a:pPr>
            <a:r>
              <a:rPr lang="en-US" sz="1300" dirty="0">
                <a:solidFill>
                  <a:schemeClr val="tx1"/>
                </a:solidFill>
              </a:rPr>
              <a:t>INDIRECT</a:t>
            </a:r>
            <a:endParaRPr lang="en-US" sz="1300" dirty="0"/>
          </a:p>
        </p:txBody>
      </p:sp>
      <p:sp>
        <p:nvSpPr>
          <p:cNvPr id="64" name="Shape 61"/>
          <p:cNvSpPr/>
          <p:nvPr/>
        </p:nvSpPr>
        <p:spPr>
          <a:xfrm>
            <a:off x="6457036" y="4073652"/>
            <a:ext cx="82296" cy="82296"/>
          </a:xfrm>
          <a:prstGeom prst="ellipse">
            <a:avLst/>
          </a:prstGeom>
          <a:solidFill>
            <a:srgbClr val="3D8B5F"/>
          </a:solidFill>
          <a:ln/>
        </p:spPr>
        <p:txBody>
          <a:bodyPr/>
          <a:lstStyle/>
          <a:p>
            <a:endParaRPr lang="en-US"/>
          </a:p>
        </p:txBody>
      </p:sp>
      <p:sp>
        <p:nvSpPr>
          <p:cNvPr id="65" name="txt-94"/>
          <p:cNvSpPr txBox="1"/>
          <p:nvPr/>
        </p:nvSpPr>
        <p:spPr>
          <a:xfrm>
            <a:off x="6621628" y="3931920"/>
            <a:ext cx="2144954" cy="365760"/>
          </a:xfrm>
          <a:prstGeom prst="rect">
            <a:avLst/>
          </a:prstGeom>
          <a:noFill/>
          <a:ln/>
        </p:spPr>
        <p:txBody>
          <a:bodyPr wrap="square" lIns="0" tIns="0" rIns="0" bIns="0" rtlCol="0" anchor="ctr"/>
          <a:lstStyle/>
          <a:p>
            <a:pPr marL="0" indent="0">
              <a:buNone/>
            </a:pPr>
            <a:r>
              <a:rPr lang="en-US" sz="1300" dirty="0">
                <a:solidFill>
                  <a:schemeClr val="tx1"/>
                </a:solidFill>
              </a:rPr>
              <a:t>VLOOKUP</a:t>
            </a:r>
            <a:endParaRPr lang="en-US" sz="1300" dirty="0"/>
          </a:p>
        </p:txBody>
      </p:sp>
      <p:sp>
        <p:nvSpPr>
          <p:cNvPr id="66" name="Shape 63"/>
          <p:cNvSpPr/>
          <p:nvPr/>
        </p:nvSpPr>
        <p:spPr>
          <a:xfrm>
            <a:off x="6457036" y="4439412"/>
            <a:ext cx="82296" cy="82296"/>
          </a:xfrm>
          <a:prstGeom prst="ellipse">
            <a:avLst/>
          </a:prstGeom>
          <a:solidFill>
            <a:srgbClr val="3D8B5F"/>
          </a:solidFill>
          <a:ln/>
        </p:spPr>
        <p:txBody>
          <a:bodyPr/>
          <a:lstStyle/>
          <a:p>
            <a:endParaRPr lang="en-US"/>
          </a:p>
        </p:txBody>
      </p:sp>
      <p:sp>
        <p:nvSpPr>
          <p:cNvPr id="67" name="txt-95"/>
          <p:cNvSpPr txBox="1"/>
          <p:nvPr/>
        </p:nvSpPr>
        <p:spPr>
          <a:xfrm>
            <a:off x="6621628" y="4297680"/>
            <a:ext cx="2144954" cy="365760"/>
          </a:xfrm>
          <a:prstGeom prst="rect">
            <a:avLst/>
          </a:prstGeom>
          <a:noFill/>
          <a:ln/>
        </p:spPr>
        <p:txBody>
          <a:bodyPr wrap="square" lIns="0" tIns="0" rIns="0" bIns="0" rtlCol="0" anchor="ctr"/>
          <a:lstStyle/>
          <a:p>
            <a:pPr marL="0" indent="0">
              <a:buNone/>
            </a:pPr>
            <a:r>
              <a:rPr lang="en-US" sz="1300" dirty="0">
                <a:solidFill>
                  <a:schemeClr val="tx1"/>
                </a:solidFill>
              </a:rPr>
              <a:t>INDEX + MATCH</a:t>
            </a:r>
            <a:endParaRPr lang="en-US" sz="1300" dirty="0"/>
          </a:p>
        </p:txBody>
      </p:sp>
      <p:sp>
        <p:nvSpPr>
          <p:cNvPr id="68" name="Shape 65"/>
          <p:cNvSpPr/>
          <p:nvPr/>
        </p:nvSpPr>
        <p:spPr>
          <a:xfrm>
            <a:off x="6347308" y="4690872"/>
            <a:ext cx="2327834" cy="310896"/>
          </a:xfrm>
          <a:prstGeom prst="roundRect">
            <a:avLst>
              <a:gd name="adj" fmla="val 17647"/>
            </a:avLst>
          </a:prstGeom>
          <a:solidFill>
            <a:srgbClr val="FBE3E6"/>
          </a:solidFill>
          <a:ln/>
        </p:spPr>
        <p:txBody>
          <a:bodyPr/>
          <a:lstStyle/>
          <a:p>
            <a:endParaRPr lang="en-US"/>
          </a:p>
        </p:txBody>
      </p:sp>
      <p:sp>
        <p:nvSpPr>
          <p:cNvPr id="69" name="txt-96"/>
          <p:cNvSpPr txBox="1"/>
          <p:nvPr/>
        </p:nvSpPr>
        <p:spPr>
          <a:xfrm>
            <a:off x="6621628" y="466344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XLOOKUP basics</a:t>
            </a:r>
            <a:endParaRPr lang="en-US" sz="1300" dirty="0"/>
          </a:p>
        </p:txBody>
      </p:sp>
      <p:sp>
        <p:nvSpPr>
          <p:cNvPr id="70" name="Shape 67"/>
          <p:cNvSpPr/>
          <p:nvPr/>
        </p:nvSpPr>
        <p:spPr>
          <a:xfrm>
            <a:off x="6457036" y="5170932"/>
            <a:ext cx="82296" cy="82296"/>
          </a:xfrm>
          <a:prstGeom prst="ellipse">
            <a:avLst/>
          </a:prstGeom>
          <a:solidFill>
            <a:srgbClr val="3D8B5F"/>
          </a:solidFill>
          <a:ln/>
        </p:spPr>
        <p:txBody>
          <a:bodyPr/>
          <a:lstStyle/>
          <a:p>
            <a:endParaRPr lang="en-US"/>
          </a:p>
        </p:txBody>
      </p:sp>
      <p:sp>
        <p:nvSpPr>
          <p:cNvPr id="71" name="txt-97"/>
          <p:cNvSpPr txBox="1"/>
          <p:nvPr/>
        </p:nvSpPr>
        <p:spPr>
          <a:xfrm>
            <a:off x="6621628" y="5029200"/>
            <a:ext cx="2144954" cy="365760"/>
          </a:xfrm>
          <a:prstGeom prst="rect">
            <a:avLst/>
          </a:prstGeom>
          <a:noFill/>
          <a:ln/>
        </p:spPr>
        <p:txBody>
          <a:bodyPr wrap="square" lIns="0" tIns="0" rIns="0" bIns="0" rtlCol="0" anchor="ctr"/>
          <a:lstStyle/>
          <a:p>
            <a:pPr marL="0" indent="0">
              <a:buNone/>
            </a:pPr>
            <a:r>
              <a:rPr lang="en-US" sz="1300" dirty="0">
                <a:solidFill>
                  <a:schemeClr val="tx1"/>
                </a:solidFill>
              </a:rPr>
              <a:t>XLOOKUP 2-way &amp; multi-key</a:t>
            </a:r>
            <a:endParaRPr lang="en-US" sz="1300" dirty="0"/>
          </a:p>
        </p:txBody>
      </p:sp>
      <p:sp>
        <p:nvSpPr>
          <p:cNvPr id="72" name="Shape 69"/>
          <p:cNvSpPr/>
          <p:nvPr/>
        </p:nvSpPr>
        <p:spPr>
          <a:xfrm>
            <a:off x="6457036" y="5536692"/>
            <a:ext cx="82296" cy="82296"/>
          </a:xfrm>
          <a:prstGeom prst="ellipse">
            <a:avLst/>
          </a:prstGeom>
          <a:solidFill>
            <a:srgbClr val="3D8B5F"/>
          </a:solidFill>
          <a:ln/>
        </p:spPr>
        <p:txBody>
          <a:bodyPr/>
          <a:lstStyle/>
          <a:p>
            <a:endParaRPr lang="en-US"/>
          </a:p>
        </p:txBody>
      </p:sp>
      <p:sp>
        <p:nvSpPr>
          <p:cNvPr id="73" name="txt-98"/>
          <p:cNvSpPr txBox="1"/>
          <p:nvPr/>
        </p:nvSpPr>
        <p:spPr>
          <a:xfrm>
            <a:off x="6621628" y="5394960"/>
            <a:ext cx="2144954" cy="365760"/>
          </a:xfrm>
          <a:prstGeom prst="rect">
            <a:avLst/>
          </a:prstGeom>
          <a:noFill/>
          <a:ln/>
        </p:spPr>
        <p:txBody>
          <a:bodyPr wrap="square" lIns="0" tIns="0" rIns="0" bIns="0" rtlCol="0" anchor="ctr"/>
          <a:lstStyle/>
          <a:p>
            <a:pPr marL="0" indent="0">
              <a:buNone/>
            </a:pPr>
            <a:r>
              <a:rPr lang="en-US" sz="1300" dirty="0">
                <a:solidFill>
                  <a:schemeClr val="tx1"/>
                </a:solidFill>
              </a:rPr>
              <a:t>LET &amp; LAMBDA</a:t>
            </a:r>
            <a:endParaRPr lang="en-US" sz="1300" dirty="0"/>
          </a:p>
        </p:txBody>
      </p:sp>
      <p:sp>
        <p:nvSpPr>
          <p:cNvPr id="74" name="card-99"/>
          <p:cNvSpPr/>
          <p:nvPr/>
        </p:nvSpPr>
        <p:spPr>
          <a:xfrm>
            <a:off x="9040901" y="1554480"/>
            <a:ext cx="2602154" cy="4206240"/>
          </a:xfrm>
          <a:prstGeom prst="roundRect">
            <a:avLst>
              <a:gd name="adj" fmla="val 2811"/>
            </a:avLst>
          </a:prstGeom>
          <a:solidFill>
            <a:schemeClr val="bg2"/>
          </a:solidFill>
          <a:ln/>
        </p:spPr>
        <p:txBody>
          <a:bodyPr/>
          <a:lstStyle/>
          <a:p>
            <a:endParaRPr lang="en-US"/>
          </a:p>
        </p:txBody>
      </p:sp>
      <p:sp>
        <p:nvSpPr>
          <p:cNvPr id="75" name="badge-100"/>
          <p:cNvSpPr/>
          <p:nvPr/>
        </p:nvSpPr>
        <p:spPr>
          <a:xfrm>
            <a:off x="9269501" y="1755648"/>
            <a:ext cx="457200" cy="457200"/>
          </a:xfrm>
          <a:prstGeom prst="ellipse">
            <a:avLst/>
          </a:prstGeom>
          <a:solidFill>
            <a:srgbClr val="1E1F24"/>
          </a:solidFill>
          <a:ln/>
        </p:spPr>
        <p:txBody>
          <a:bodyPr/>
          <a:lstStyle/>
          <a:p>
            <a:endParaRPr lang="en-US"/>
          </a:p>
        </p:txBody>
      </p:sp>
      <p:sp>
        <p:nvSpPr>
          <p:cNvPr id="76" name="badge-t-101"/>
          <p:cNvSpPr txBox="1"/>
          <p:nvPr/>
        </p:nvSpPr>
        <p:spPr>
          <a:xfrm>
            <a:off x="9269501" y="1755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77" name="txt-102"/>
          <p:cNvSpPr txBox="1"/>
          <p:nvPr/>
        </p:nvSpPr>
        <p:spPr>
          <a:xfrm>
            <a:off x="9863861" y="1691640"/>
            <a:ext cx="1687754" cy="292608"/>
          </a:xfrm>
          <a:prstGeom prst="rect">
            <a:avLst/>
          </a:prstGeom>
          <a:noFill/>
          <a:ln/>
        </p:spPr>
        <p:txBody>
          <a:bodyPr wrap="square" lIns="0" tIns="0" rIns="0" bIns="0" rtlCol="0" anchor="t"/>
          <a:lstStyle/>
          <a:p>
            <a:pPr marL="0" indent="0">
              <a:buNone/>
            </a:pPr>
            <a:r>
              <a:rPr lang="en-US" sz="1100" b="1" kern="0" spc="100" dirty="0">
                <a:solidFill>
                  <a:schemeClr val="accent5"/>
                </a:solidFill>
              </a:rPr>
              <a:t>CLASS 4</a:t>
            </a:r>
            <a:endParaRPr lang="en-US" sz="1100" dirty="0"/>
          </a:p>
        </p:txBody>
      </p:sp>
      <p:sp>
        <p:nvSpPr>
          <p:cNvPr id="78" name="txt-103"/>
          <p:cNvSpPr txBox="1"/>
          <p:nvPr/>
        </p:nvSpPr>
        <p:spPr>
          <a:xfrm>
            <a:off x="9863861" y="1938528"/>
            <a:ext cx="1687754" cy="36576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Analyzing Data</a:t>
            </a:r>
            <a:endParaRPr lang="en-US" sz="1700" dirty="0"/>
          </a:p>
        </p:txBody>
      </p:sp>
      <p:sp>
        <p:nvSpPr>
          <p:cNvPr id="79" name="Shape 76"/>
          <p:cNvSpPr/>
          <p:nvPr/>
        </p:nvSpPr>
        <p:spPr>
          <a:xfrm>
            <a:off x="9178061" y="2496312"/>
            <a:ext cx="2327834" cy="310896"/>
          </a:xfrm>
          <a:prstGeom prst="roundRect">
            <a:avLst>
              <a:gd name="adj" fmla="val 17647"/>
            </a:avLst>
          </a:prstGeom>
          <a:solidFill>
            <a:srgbClr val="FBE3E6"/>
          </a:solidFill>
          <a:ln/>
        </p:spPr>
        <p:txBody>
          <a:bodyPr/>
          <a:lstStyle/>
          <a:p>
            <a:endParaRPr lang="en-US"/>
          </a:p>
        </p:txBody>
      </p:sp>
      <p:sp>
        <p:nvSpPr>
          <p:cNvPr id="80" name="txt-104"/>
          <p:cNvSpPr txBox="1"/>
          <p:nvPr/>
        </p:nvSpPr>
        <p:spPr>
          <a:xfrm>
            <a:off x="9452381" y="246888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PMT &amp; FV</a:t>
            </a:r>
            <a:endParaRPr lang="en-US" sz="1300" dirty="0"/>
          </a:p>
        </p:txBody>
      </p:sp>
      <p:sp>
        <p:nvSpPr>
          <p:cNvPr id="81" name="Shape 78"/>
          <p:cNvSpPr/>
          <p:nvPr/>
        </p:nvSpPr>
        <p:spPr>
          <a:xfrm>
            <a:off x="9287789" y="2976372"/>
            <a:ext cx="82296" cy="82296"/>
          </a:xfrm>
          <a:prstGeom prst="ellipse">
            <a:avLst/>
          </a:prstGeom>
          <a:solidFill>
            <a:srgbClr val="3D8B5F"/>
          </a:solidFill>
          <a:ln/>
        </p:spPr>
        <p:txBody>
          <a:bodyPr/>
          <a:lstStyle/>
          <a:p>
            <a:endParaRPr lang="en-US"/>
          </a:p>
        </p:txBody>
      </p:sp>
      <p:sp>
        <p:nvSpPr>
          <p:cNvPr id="82" name="txt-105"/>
          <p:cNvSpPr txBox="1"/>
          <p:nvPr/>
        </p:nvSpPr>
        <p:spPr>
          <a:xfrm>
            <a:off x="9452381" y="2834640"/>
            <a:ext cx="2144954" cy="365760"/>
          </a:xfrm>
          <a:prstGeom prst="rect">
            <a:avLst/>
          </a:prstGeom>
          <a:noFill/>
          <a:ln/>
        </p:spPr>
        <p:txBody>
          <a:bodyPr wrap="square" lIns="0" tIns="0" rIns="0" bIns="0" rtlCol="0" anchor="ctr"/>
          <a:lstStyle/>
          <a:p>
            <a:pPr marL="0" indent="0">
              <a:buNone/>
            </a:pPr>
            <a:r>
              <a:rPr lang="en-US" sz="1300" dirty="0">
                <a:solidFill>
                  <a:schemeClr val="tx1"/>
                </a:solidFill>
              </a:rPr>
              <a:t>Sort &amp; Filter</a:t>
            </a:r>
            <a:endParaRPr lang="en-US" sz="1300" dirty="0"/>
          </a:p>
        </p:txBody>
      </p:sp>
      <p:sp>
        <p:nvSpPr>
          <p:cNvPr id="83" name="Shape 80"/>
          <p:cNvSpPr/>
          <p:nvPr/>
        </p:nvSpPr>
        <p:spPr>
          <a:xfrm>
            <a:off x="9178061" y="3227832"/>
            <a:ext cx="2327834" cy="310896"/>
          </a:xfrm>
          <a:prstGeom prst="roundRect">
            <a:avLst>
              <a:gd name="adj" fmla="val 17647"/>
            </a:avLst>
          </a:prstGeom>
          <a:solidFill>
            <a:srgbClr val="FBE3E6"/>
          </a:solidFill>
          <a:ln/>
        </p:spPr>
        <p:txBody>
          <a:bodyPr/>
          <a:lstStyle/>
          <a:p>
            <a:endParaRPr lang="en-US"/>
          </a:p>
        </p:txBody>
      </p:sp>
      <p:sp>
        <p:nvSpPr>
          <p:cNvPr id="84" name="txt-106"/>
          <p:cNvSpPr txBox="1"/>
          <p:nvPr/>
        </p:nvSpPr>
        <p:spPr>
          <a:xfrm>
            <a:off x="9452381" y="320040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Conditional formatting</a:t>
            </a:r>
            <a:endParaRPr lang="en-US" sz="1300" dirty="0"/>
          </a:p>
        </p:txBody>
      </p:sp>
      <p:sp>
        <p:nvSpPr>
          <p:cNvPr id="85" name="Shape 82"/>
          <p:cNvSpPr/>
          <p:nvPr/>
        </p:nvSpPr>
        <p:spPr>
          <a:xfrm>
            <a:off x="9287789" y="3707892"/>
            <a:ext cx="82296" cy="82296"/>
          </a:xfrm>
          <a:prstGeom prst="ellipse">
            <a:avLst/>
          </a:prstGeom>
          <a:solidFill>
            <a:srgbClr val="3D8B5F"/>
          </a:solidFill>
          <a:ln/>
        </p:spPr>
        <p:txBody>
          <a:bodyPr/>
          <a:lstStyle/>
          <a:p>
            <a:endParaRPr lang="en-US"/>
          </a:p>
        </p:txBody>
      </p:sp>
      <p:sp>
        <p:nvSpPr>
          <p:cNvPr id="86" name="txt-107"/>
          <p:cNvSpPr txBox="1"/>
          <p:nvPr/>
        </p:nvSpPr>
        <p:spPr>
          <a:xfrm>
            <a:off x="9452381" y="3566160"/>
            <a:ext cx="2144954" cy="365760"/>
          </a:xfrm>
          <a:prstGeom prst="rect">
            <a:avLst/>
          </a:prstGeom>
          <a:noFill/>
          <a:ln/>
        </p:spPr>
        <p:txBody>
          <a:bodyPr wrap="square" lIns="0" tIns="0" rIns="0" bIns="0" rtlCol="0" anchor="ctr"/>
          <a:lstStyle/>
          <a:p>
            <a:pPr marL="0" indent="0">
              <a:buNone/>
            </a:pPr>
            <a:r>
              <a:rPr lang="en-US" sz="1300" dirty="0">
                <a:solidFill>
                  <a:schemeClr val="tx1"/>
                </a:solidFill>
              </a:rPr>
              <a:t>Sparklines</a:t>
            </a:r>
            <a:endParaRPr lang="en-US" sz="1300" dirty="0"/>
          </a:p>
        </p:txBody>
      </p:sp>
      <p:sp>
        <p:nvSpPr>
          <p:cNvPr id="87" name="Shape 84"/>
          <p:cNvSpPr/>
          <p:nvPr/>
        </p:nvSpPr>
        <p:spPr>
          <a:xfrm>
            <a:off x="9287789" y="4073652"/>
            <a:ext cx="82296" cy="82296"/>
          </a:xfrm>
          <a:prstGeom prst="ellipse">
            <a:avLst/>
          </a:prstGeom>
          <a:solidFill>
            <a:srgbClr val="3D8B5F"/>
          </a:solidFill>
          <a:ln/>
        </p:spPr>
        <p:txBody>
          <a:bodyPr/>
          <a:lstStyle/>
          <a:p>
            <a:endParaRPr lang="en-US"/>
          </a:p>
        </p:txBody>
      </p:sp>
      <p:sp>
        <p:nvSpPr>
          <p:cNvPr id="88" name="txt-108"/>
          <p:cNvSpPr txBox="1"/>
          <p:nvPr/>
        </p:nvSpPr>
        <p:spPr>
          <a:xfrm>
            <a:off x="9452381" y="3931920"/>
            <a:ext cx="2144954" cy="365760"/>
          </a:xfrm>
          <a:prstGeom prst="rect">
            <a:avLst/>
          </a:prstGeom>
          <a:noFill/>
          <a:ln/>
        </p:spPr>
        <p:txBody>
          <a:bodyPr wrap="square" lIns="0" tIns="0" rIns="0" bIns="0" rtlCol="0" anchor="ctr"/>
          <a:lstStyle/>
          <a:p>
            <a:pPr marL="0" indent="0">
              <a:buNone/>
            </a:pPr>
            <a:r>
              <a:rPr lang="en-US" sz="1300" dirty="0">
                <a:solidFill>
                  <a:schemeClr val="tx1"/>
                </a:solidFill>
              </a:rPr>
              <a:t>Pivot-ready (long) data</a:t>
            </a:r>
            <a:endParaRPr lang="en-US" sz="1300" dirty="0"/>
          </a:p>
        </p:txBody>
      </p:sp>
      <p:sp>
        <p:nvSpPr>
          <p:cNvPr id="89" name="Shape 86"/>
          <p:cNvSpPr/>
          <p:nvPr/>
        </p:nvSpPr>
        <p:spPr>
          <a:xfrm>
            <a:off x="9178061" y="4325112"/>
            <a:ext cx="2327834" cy="310896"/>
          </a:xfrm>
          <a:prstGeom prst="roundRect">
            <a:avLst>
              <a:gd name="adj" fmla="val 17647"/>
            </a:avLst>
          </a:prstGeom>
          <a:solidFill>
            <a:srgbClr val="FBE3E6"/>
          </a:solidFill>
          <a:ln/>
        </p:spPr>
        <p:txBody>
          <a:bodyPr/>
          <a:lstStyle/>
          <a:p>
            <a:endParaRPr lang="en-US"/>
          </a:p>
        </p:txBody>
      </p:sp>
      <p:sp>
        <p:nvSpPr>
          <p:cNvPr id="90" name="txt-109"/>
          <p:cNvSpPr txBox="1"/>
          <p:nvPr/>
        </p:nvSpPr>
        <p:spPr>
          <a:xfrm>
            <a:off x="9452381" y="429768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PivotTables</a:t>
            </a:r>
            <a:endParaRPr lang="en-US" sz="1300" dirty="0"/>
          </a:p>
        </p:txBody>
      </p:sp>
      <p:sp>
        <p:nvSpPr>
          <p:cNvPr id="91" name="Shape 88"/>
          <p:cNvSpPr/>
          <p:nvPr/>
        </p:nvSpPr>
        <p:spPr>
          <a:xfrm>
            <a:off x="9178061" y="4690872"/>
            <a:ext cx="2327834" cy="310896"/>
          </a:xfrm>
          <a:prstGeom prst="roundRect">
            <a:avLst>
              <a:gd name="adj" fmla="val 17647"/>
            </a:avLst>
          </a:prstGeom>
          <a:solidFill>
            <a:srgbClr val="FBE3E6"/>
          </a:solidFill>
          <a:ln/>
        </p:spPr>
        <p:txBody>
          <a:bodyPr/>
          <a:lstStyle/>
          <a:p>
            <a:endParaRPr lang="en-US"/>
          </a:p>
        </p:txBody>
      </p:sp>
      <p:sp>
        <p:nvSpPr>
          <p:cNvPr id="92" name="txt-110"/>
          <p:cNvSpPr txBox="1"/>
          <p:nvPr/>
        </p:nvSpPr>
        <p:spPr>
          <a:xfrm>
            <a:off x="9452381" y="4663440"/>
            <a:ext cx="2144954" cy="365760"/>
          </a:xfrm>
          <a:prstGeom prst="rect">
            <a:avLst/>
          </a:prstGeom>
          <a:noFill/>
          <a:ln/>
        </p:spPr>
        <p:txBody>
          <a:bodyPr wrap="square" lIns="0" tIns="0" rIns="0" bIns="0" rtlCol="0" anchor="ctr"/>
          <a:lstStyle/>
          <a:p>
            <a:pPr marL="0" indent="0">
              <a:buNone/>
            </a:pPr>
            <a:r>
              <a:rPr lang="en-US" sz="1300" b="1" strike="sngStrike" dirty="0">
                <a:solidFill>
                  <a:srgbClr val="C8102E"/>
                </a:solidFill>
              </a:rPr>
              <a:t>Pivot Charts</a:t>
            </a:r>
            <a:endParaRPr lang="en-US" sz="1300" dirty="0"/>
          </a:p>
        </p:txBody>
      </p:sp>
      <p:sp>
        <p:nvSpPr>
          <p:cNvPr id="93" name="Shape 90"/>
          <p:cNvSpPr/>
          <p:nvPr/>
        </p:nvSpPr>
        <p:spPr>
          <a:xfrm>
            <a:off x="6751015" y="274320"/>
            <a:ext cx="457200" cy="274320"/>
          </a:xfrm>
          <a:prstGeom prst="roundRect">
            <a:avLst>
              <a:gd name="adj" fmla="val 20000"/>
            </a:avLst>
          </a:prstGeom>
          <a:solidFill>
            <a:srgbClr val="FBE3E6"/>
          </a:solidFill>
          <a:ln/>
        </p:spPr>
        <p:txBody>
          <a:bodyPr/>
          <a:lstStyle/>
          <a:p>
            <a:endParaRPr lang="en-US"/>
          </a:p>
        </p:txBody>
      </p:sp>
      <p:sp>
        <p:nvSpPr>
          <p:cNvPr id="94" name="txt-111"/>
          <p:cNvSpPr txBox="1"/>
          <p:nvPr/>
        </p:nvSpPr>
        <p:spPr>
          <a:xfrm>
            <a:off x="7299655" y="256032"/>
            <a:ext cx="2377440" cy="310896"/>
          </a:xfrm>
          <a:prstGeom prst="rect">
            <a:avLst/>
          </a:prstGeom>
          <a:noFill/>
          <a:ln/>
        </p:spPr>
        <p:txBody>
          <a:bodyPr wrap="square" lIns="0" tIns="0" rIns="0" bIns="0" rtlCol="0" anchor="ctr"/>
          <a:lstStyle/>
          <a:p>
            <a:pPr marL="0" indent="0">
              <a:buNone/>
            </a:pPr>
            <a:r>
              <a:rPr lang="en-US" sz="1200" b="1" dirty="0">
                <a:solidFill>
                  <a:srgbClr val="C8102E"/>
                </a:solidFill>
              </a:rPr>
              <a:t>Covered in MGCR 331</a:t>
            </a:r>
            <a:endParaRPr lang="en-US" sz="1200" dirty="0"/>
          </a:p>
        </p:txBody>
      </p:sp>
      <p:sp>
        <p:nvSpPr>
          <p:cNvPr id="95" name="Shape 92"/>
          <p:cNvSpPr/>
          <p:nvPr/>
        </p:nvSpPr>
        <p:spPr>
          <a:xfrm>
            <a:off x="9768535" y="365760"/>
            <a:ext cx="100584" cy="100584"/>
          </a:xfrm>
          <a:prstGeom prst="ellipse">
            <a:avLst/>
          </a:prstGeom>
          <a:solidFill>
            <a:srgbClr val="3D8B5F"/>
          </a:solidFill>
          <a:ln/>
        </p:spPr>
        <p:txBody>
          <a:bodyPr/>
          <a:lstStyle/>
          <a:p>
            <a:endParaRPr lang="en-US"/>
          </a:p>
        </p:txBody>
      </p:sp>
      <p:sp>
        <p:nvSpPr>
          <p:cNvPr id="96" name="txt-112"/>
          <p:cNvSpPr txBox="1"/>
          <p:nvPr/>
        </p:nvSpPr>
        <p:spPr>
          <a:xfrm>
            <a:off x="9951415" y="256032"/>
            <a:ext cx="1691640" cy="310896"/>
          </a:xfrm>
          <a:prstGeom prst="rect">
            <a:avLst/>
          </a:prstGeom>
          <a:noFill/>
          <a:ln/>
        </p:spPr>
        <p:txBody>
          <a:bodyPr wrap="square" lIns="0" tIns="0" rIns="0" bIns="0" rtlCol="0" anchor="ctr"/>
          <a:lstStyle/>
          <a:p>
            <a:pPr marL="0" indent="0">
              <a:buNone/>
            </a:pPr>
            <a:r>
              <a:rPr lang="en-US" sz="1200" b="1" dirty="0">
                <a:solidFill>
                  <a:schemeClr val="accent4"/>
                </a:solidFill>
              </a:rPr>
              <a:t>Keep in INSY 442</a:t>
            </a:r>
            <a:endParaRPr lang="en-US" sz="1200" dirty="0"/>
          </a:p>
        </p:txBody>
      </p:sp>
      <p:sp>
        <p:nvSpPr>
          <p:cNvPr id="97" name="card-113"/>
          <p:cNvSpPr/>
          <p:nvPr/>
        </p:nvSpPr>
        <p:spPr>
          <a:xfrm>
            <a:off x="548640" y="5870448"/>
            <a:ext cx="11094415" cy="457200"/>
          </a:xfrm>
          <a:prstGeom prst="roundRect">
            <a:avLst>
              <a:gd name="adj" fmla="val 16000"/>
            </a:avLst>
          </a:prstGeom>
          <a:solidFill>
            <a:schemeClr val="tx1"/>
          </a:solidFill>
          <a:ln/>
        </p:spPr>
        <p:txBody>
          <a:bodyPr/>
          <a:lstStyle/>
          <a:p>
            <a:endParaRPr lang="en-US"/>
          </a:p>
        </p:txBody>
      </p:sp>
      <p:sp>
        <p:nvSpPr>
          <p:cNvPr id="98" name="txt-114"/>
          <p:cNvSpPr txBox="1"/>
          <p:nvPr/>
        </p:nvSpPr>
        <p:spPr>
          <a:xfrm>
            <a:off x="822960" y="5870448"/>
            <a:ext cx="10545775" cy="457200"/>
          </a:xfrm>
          <a:prstGeom prst="rect">
            <a:avLst/>
          </a:prstGeom>
          <a:noFill/>
          <a:ln/>
        </p:spPr>
        <p:txBody>
          <a:bodyPr wrap="square" lIns="0" tIns="0" rIns="0" bIns="0" rtlCol="0" anchor="ctr"/>
          <a:lstStyle/>
          <a:p>
            <a:pPr marL="0" indent="0">
              <a:buNone/>
            </a:pPr>
            <a:r>
              <a:rPr lang="en-US" sz="1400" b="1" dirty="0">
                <a:solidFill>
                  <a:srgbClr val="E8A33D"/>
                </a:solidFill>
              </a:rPr>
              <a:t>Recommendation: </a:t>
            </a:r>
            <a:r>
              <a:rPr lang="en-US" sz="1400" dirty="0">
                <a:solidFill>
                  <a:srgbClr val="FFFFFF"/>
                </a:solidFill>
              </a:rPr>
              <a:t>students review the red topics on their own with an </a:t>
            </a:r>
            <a:r>
              <a:rPr lang="en-US" sz="1400" b="1" dirty="0">
                <a:solidFill>
                  <a:srgbClr val="FFFFFF"/>
                </a:solidFill>
              </a:rPr>
              <a:t>Excel Refresher Package</a:t>
            </a:r>
            <a:endParaRPr lang="en-US" sz="1400" dirty="0"/>
          </a:p>
        </p:txBody>
      </p:sp>
      <p:sp>
        <p:nvSpPr>
          <p:cNvPr id="4"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9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115"/>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NEW CLASS  ·  1 OF 2</a:t>
            </a:r>
            <a:endParaRPr lang="en-US" sz="1200" dirty="0"/>
          </a:p>
        </p:txBody>
      </p:sp>
      <p:sp>
        <p:nvSpPr>
          <p:cNvPr id="3" name="Text 0"/>
          <p:cNvSpPr>
            <a:spLocks noGrp="1"/>
          </p:cNvSpPr>
          <p:nvPr>
            <p:ph type="title" idx="100" hasCustomPrompt="1"/>
          </p:nvPr>
        </p:nvSpPr>
        <p:spPr>
          <a:xfrm>
            <a:off x="548640" y="658368"/>
            <a:ext cx="11094415" cy="731520"/>
          </a:xfrm>
          <a:prstGeom prst="rect">
            <a:avLst/>
          </a:prstGeom>
          <a:noFill/>
          <a:ln/>
        </p:spPr>
        <p:txBody>
          <a:bodyPr wrap="square" lIns="0" tIns="0" rIns="0" bIns="0" rtlCol="0" anchor="t"/>
          <a:lstStyle/>
          <a:p>
            <a:pPr marL="0" indent="0" algn="l">
              <a:buNone/>
            </a:pPr>
            <a:r>
              <a:rPr lang="en-US" sz="3000" b="1" dirty="0">
                <a:solidFill>
                  <a:schemeClr val="tx1"/>
                </a:solidFill>
                <a:latin typeface="Cambria" pitchFamily="34" charset="0"/>
                <a:ea typeface="Cambria" pitchFamily="34" charset="-122"/>
                <a:cs typeface="Cambria" pitchFamily="34" charset="-120"/>
              </a:rPr>
              <a:t>Use a freed class for hands-on data cleaning</a:t>
            </a:r>
            <a:endParaRPr lang="en-US" sz="3000" dirty="0"/>
          </a:p>
        </p:txBody>
      </p:sp>
      <p:sp>
        <p:nvSpPr>
          <p:cNvPr id="5" name="card-116"/>
          <p:cNvSpPr/>
          <p:nvPr/>
        </p:nvSpPr>
        <p:spPr>
          <a:xfrm>
            <a:off x="548640" y="1645920"/>
            <a:ext cx="6309360" cy="685800"/>
          </a:xfrm>
          <a:prstGeom prst="roundRect">
            <a:avLst>
              <a:gd name="adj" fmla="val 10667"/>
            </a:avLst>
          </a:prstGeom>
          <a:solidFill>
            <a:schemeClr val="bg2"/>
          </a:solidFill>
          <a:ln/>
        </p:spPr>
        <p:txBody>
          <a:bodyPr/>
          <a:lstStyle/>
          <a:p>
            <a:endParaRPr lang="en-US"/>
          </a:p>
        </p:txBody>
      </p:sp>
      <p:sp>
        <p:nvSpPr>
          <p:cNvPr id="6" name="badge-117"/>
          <p:cNvSpPr/>
          <p:nvPr/>
        </p:nvSpPr>
        <p:spPr>
          <a:xfrm>
            <a:off x="731520" y="1773936"/>
            <a:ext cx="429768" cy="429768"/>
          </a:xfrm>
          <a:prstGeom prst="ellipse">
            <a:avLst/>
          </a:prstGeom>
          <a:solidFill>
            <a:srgbClr val="C8102E"/>
          </a:solidFill>
          <a:ln/>
        </p:spPr>
        <p:txBody>
          <a:bodyPr/>
          <a:lstStyle/>
          <a:p>
            <a:endParaRPr lang="en-US"/>
          </a:p>
        </p:txBody>
      </p:sp>
      <p:sp>
        <p:nvSpPr>
          <p:cNvPr id="7" name="badge-t-118"/>
          <p:cNvSpPr txBox="1"/>
          <p:nvPr/>
        </p:nvSpPr>
        <p:spPr>
          <a:xfrm>
            <a:off x="731520" y="1773936"/>
            <a:ext cx="429768" cy="429768"/>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8" name="txt-119"/>
          <p:cNvSpPr txBox="1"/>
          <p:nvPr/>
        </p:nvSpPr>
        <p:spPr>
          <a:xfrm>
            <a:off x="1325880" y="1645920"/>
            <a:ext cx="1920240" cy="685800"/>
          </a:xfrm>
          <a:prstGeom prst="rect">
            <a:avLst/>
          </a:prstGeom>
          <a:noFill/>
          <a:ln/>
        </p:spPr>
        <p:txBody>
          <a:bodyPr wrap="square" lIns="0" tIns="0" rIns="0" bIns="0" rtlCol="0" anchor="ctr"/>
          <a:lstStyle/>
          <a:p>
            <a:pPr marL="0" indent="0">
              <a:buNone/>
            </a:pPr>
            <a:r>
              <a:rPr lang="en-US" sz="1600" b="1" dirty="0">
                <a:solidFill>
                  <a:schemeClr val="tx1"/>
                </a:solidFill>
              </a:rPr>
              <a:t>Remove duplicates</a:t>
            </a:r>
            <a:endParaRPr lang="en-US" sz="1600" dirty="0"/>
          </a:p>
        </p:txBody>
      </p:sp>
      <p:sp>
        <p:nvSpPr>
          <p:cNvPr id="9" name="txt-120"/>
          <p:cNvSpPr txBox="1"/>
          <p:nvPr/>
        </p:nvSpPr>
        <p:spPr>
          <a:xfrm>
            <a:off x="3291840" y="1645920"/>
            <a:ext cx="3383280" cy="685800"/>
          </a:xfrm>
          <a:prstGeom prst="rect">
            <a:avLst/>
          </a:prstGeom>
          <a:noFill/>
          <a:ln/>
        </p:spPr>
        <p:txBody>
          <a:bodyPr wrap="square" lIns="0" tIns="0" rIns="0" bIns="0" rtlCol="0" anchor="ctr"/>
          <a:lstStyle/>
          <a:p>
            <a:pPr marL="0" indent="0">
              <a:buNone/>
            </a:pPr>
            <a:r>
              <a:rPr lang="en-US" sz="1400" dirty="0">
                <a:solidFill>
                  <a:schemeClr val="tx2"/>
                </a:solidFill>
              </a:rPr>
              <a:t>Data → Remove Duplicates; check with UNIQUE / COUNTIF first</a:t>
            </a:r>
            <a:endParaRPr lang="en-US" sz="1400" dirty="0"/>
          </a:p>
        </p:txBody>
      </p:sp>
      <p:sp>
        <p:nvSpPr>
          <p:cNvPr id="10" name="card-121"/>
          <p:cNvSpPr/>
          <p:nvPr/>
        </p:nvSpPr>
        <p:spPr>
          <a:xfrm>
            <a:off x="548640" y="2441448"/>
            <a:ext cx="6309360" cy="685800"/>
          </a:xfrm>
          <a:prstGeom prst="roundRect">
            <a:avLst>
              <a:gd name="adj" fmla="val 10667"/>
            </a:avLst>
          </a:prstGeom>
          <a:solidFill>
            <a:schemeClr val="bg2"/>
          </a:solidFill>
          <a:ln/>
        </p:spPr>
        <p:txBody>
          <a:bodyPr/>
          <a:lstStyle/>
          <a:p>
            <a:endParaRPr lang="en-US"/>
          </a:p>
        </p:txBody>
      </p:sp>
      <p:sp>
        <p:nvSpPr>
          <p:cNvPr id="11" name="badge-122"/>
          <p:cNvSpPr/>
          <p:nvPr/>
        </p:nvSpPr>
        <p:spPr>
          <a:xfrm>
            <a:off x="731520" y="2569464"/>
            <a:ext cx="429768" cy="429768"/>
          </a:xfrm>
          <a:prstGeom prst="ellipse">
            <a:avLst/>
          </a:prstGeom>
          <a:solidFill>
            <a:srgbClr val="C8102E"/>
          </a:solidFill>
          <a:ln/>
        </p:spPr>
        <p:txBody>
          <a:bodyPr/>
          <a:lstStyle/>
          <a:p>
            <a:endParaRPr lang="en-US"/>
          </a:p>
        </p:txBody>
      </p:sp>
      <p:sp>
        <p:nvSpPr>
          <p:cNvPr id="12" name="badge-t-123"/>
          <p:cNvSpPr txBox="1"/>
          <p:nvPr/>
        </p:nvSpPr>
        <p:spPr>
          <a:xfrm>
            <a:off x="731520" y="2569464"/>
            <a:ext cx="429768" cy="429768"/>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3" name="txt-124"/>
          <p:cNvSpPr txBox="1"/>
          <p:nvPr/>
        </p:nvSpPr>
        <p:spPr>
          <a:xfrm>
            <a:off x="1325880" y="2441448"/>
            <a:ext cx="1920240" cy="685800"/>
          </a:xfrm>
          <a:prstGeom prst="rect">
            <a:avLst/>
          </a:prstGeom>
          <a:noFill/>
          <a:ln/>
        </p:spPr>
        <p:txBody>
          <a:bodyPr wrap="square" lIns="0" tIns="0" rIns="0" bIns="0" rtlCol="0" anchor="ctr"/>
          <a:lstStyle/>
          <a:p>
            <a:pPr marL="0" indent="0">
              <a:buNone/>
            </a:pPr>
            <a:r>
              <a:rPr lang="en-US" sz="1600" b="1" dirty="0">
                <a:solidFill>
                  <a:schemeClr val="tx1"/>
                </a:solidFill>
              </a:rPr>
              <a:t>Fix text</a:t>
            </a:r>
            <a:endParaRPr lang="en-US" sz="1600" dirty="0"/>
          </a:p>
        </p:txBody>
      </p:sp>
      <p:sp>
        <p:nvSpPr>
          <p:cNvPr id="14" name="txt-125"/>
          <p:cNvSpPr txBox="1"/>
          <p:nvPr/>
        </p:nvSpPr>
        <p:spPr>
          <a:xfrm>
            <a:off x="3291840" y="2441448"/>
            <a:ext cx="3383280" cy="685800"/>
          </a:xfrm>
          <a:prstGeom prst="rect">
            <a:avLst/>
          </a:prstGeom>
          <a:noFill/>
          <a:ln/>
        </p:spPr>
        <p:txBody>
          <a:bodyPr wrap="square" lIns="0" tIns="0" rIns="0" bIns="0" rtlCol="0" anchor="ctr"/>
          <a:lstStyle/>
          <a:p>
            <a:pPr marL="0" indent="0">
              <a:buNone/>
            </a:pPr>
            <a:r>
              <a:rPr lang="en-US" sz="1400" dirty="0">
                <a:solidFill>
                  <a:schemeClr val="tx2"/>
                </a:solidFill>
              </a:rPr>
              <a:t>TRIM, CLEAN, PROPER; Find &amp; Replace to standardize labels</a:t>
            </a:r>
            <a:endParaRPr lang="en-US" sz="1400" dirty="0"/>
          </a:p>
        </p:txBody>
      </p:sp>
      <p:sp>
        <p:nvSpPr>
          <p:cNvPr id="15" name="card-126"/>
          <p:cNvSpPr/>
          <p:nvPr/>
        </p:nvSpPr>
        <p:spPr>
          <a:xfrm>
            <a:off x="548640" y="3236976"/>
            <a:ext cx="6309360" cy="685800"/>
          </a:xfrm>
          <a:prstGeom prst="roundRect">
            <a:avLst>
              <a:gd name="adj" fmla="val 10667"/>
            </a:avLst>
          </a:prstGeom>
          <a:solidFill>
            <a:schemeClr val="bg2"/>
          </a:solidFill>
          <a:ln/>
        </p:spPr>
        <p:txBody>
          <a:bodyPr/>
          <a:lstStyle/>
          <a:p>
            <a:endParaRPr lang="en-US"/>
          </a:p>
        </p:txBody>
      </p:sp>
      <p:sp>
        <p:nvSpPr>
          <p:cNvPr id="16" name="badge-127"/>
          <p:cNvSpPr/>
          <p:nvPr/>
        </p:nvSpPr>
        <p:spPr>
          <a:xfrm>
            <a:off x="731520" y="3364992"/>
            <a:ext cx="429768" cy="429768"/>
          </a:xfrm>
          <a:prstGeom prst="ellipse">
            <a:avLst/>
          </a:prstGeom>
          <a:solidFill>
            <a:srgbClr val="C8102E"/>
          </a:solidFill>
          <a:ln/>
        </p:spPr>
        <p:txBody>
          <a:bodyPr/>
          <a:lstStyle/>
          <a:p>
            <a:endParaRPr lang="en-US"/>
          </a:p>
        </p:txBody>
      </p:sp>
      <p:sp>
        <p:nvSpPr>
          <p:cNvPr id="17" name="badge-t-128"/>
          <p:cNvSpPr txBox="1"/>
          <p:nvPr/>
        </p:nvSpPr>
        <p:spPr>
          <a:xfrm>
            <a:off x="731520" y="3364992"/>
            <a:ext cx="429768" cy="429768"/>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8" name="txt-129"/>
          <p:cNvSpPr txBox="1"/>
          <p:nvPr/>
        </p:nvSpPr>
        <p:spPr>
          <a:xfrm>
            <a:off x="1325880" y="3236976"/>
            <a:ext cx="1920240" cy="685800"/>
          </a:xfrm>
          <a:prstGeom prst="rect">
            <a:avLst/>
          </a:prstGeom>
          <a:noFill/>
          <a:ln/>
        </p:spPr>
        <p:txBody>
          <a:bodyPr wrap="square" lIns="0" tIns="0" rIns="0" bIns="0" rtlCol="0" anchor="ctr"/>
          <a:lstStyle/>
          <a:p>
            <a:pPr marL="0" indent="0">
              <a:buNone/>
            </a:pPr>
            <a:r>
              <a:rPr lang="en-US" sz="1600" b="1" dirty="0">
                <a:solidFill>
                  <a:schemeClr val="tx1"/>
                </a:solidFill>
              </a:rPr>
              <a:t>Split &amp; combine</a:t>
            </a:r>
            <a:endParaRPr lang="en-US" sz="1600" dirty="0"/>
          </a:p>
        </p:txBody>
      </p:sp>
      <p:sp>
        <p:nvSpPr>
          <p:cNvPr id="19" name="txt-130"/>
          <p:cNvSpPr txBox="1"/>
          <p:nvPr/>
        </p:nvSpPr>
        <p:spPr>
          <a:xfrm>
            <a:off x="3291840" y="3236976"/>
            <a:ext cx="3383280" cy="685800"/>
          </a:xfrm>
          <a:prstGeom prst="rect">
            <a:avLst/>
          </a:prstGeom>
          <a:noFill/>
          <a:ln/>
        </p:spPr>
        <p:txBody>
          <a:bodyPr wrap="square" lIns="0" tIns="0" rIns="0" bIns="0" rtlCol="0" anchor="ctr"/>
          <a:lstStyle/>
          <a:p>
            <a:pPr marL="0" indent="0">
              <a:buNone/>
            </a:pPr>
            <a:r>
              <a:rPr lang="en-US" sz="1400" dirty="0">
                <a:solidFill>
                  <a:schemeClr val="tx2"/>
                </a:solidFill>
              </a:rPr>
              <a:t>Text to Columns, TEXTSPLIT, Flash Fill, &amp; / CONCAT</a:t>
            </a:r>
            <a:endParaRPr lang="en-US" sz="1400" dirty="0"/>
          </a:p>
        </p:txBody>
      </p:sp>
      <p:sp>
        <p:nvSpPr>
          <p:cNvPr id="20" name="card-131"/>
          <p:cNvSpPr/>
          <p:nvPr/>
        </p:nvSpPr>
        <p:spPr>
          <a:xfrm>
            <a:off x="548640" y="4032504"/>
            <a:ext cx="6309360" cy="685800"/>
          </a:xfrm>
          <a:prstGeom prst="roundRect">
            <a:avLst>
              <a:gd name="adj" fmla="val 10667"/>
            </a:avLst>
          </a:prstGeom>
          <a:solidFill>
            <a:schemeClr val="bg2"/>
          </a:solidFill>
          <a:ln/>
        </p:spPr>
        <p:txBody>
          <a:bodyPr/>
          <a:lstStyle/>
          <a:p>
            <a:endParaRPr lang="en-US"/>
          </a:p>
        </p:txBody>
      </p:sp>
      <p:sp>
        <p:nvSpPr>
          <p:cNvPr id="21" name="badge-132"/>
          <p:cNvSpPr/>
          <p:nvPr/>
        </p:nvSpPr>
        <p:spPr>
          <a:xfrm>
            <a:off x="731520" y="4160520"/>
            <a:ext cx="429768" cy="429768"/>
          </a:xfrm>
          <a:prstGeom prst="ellipse">
            <a:avLst/>
          </a:prstGeom>
          <a:solidFill>
            <a:srgbClr val="C8102E"/>
          </a:solidFill>
          <a:ln/>
        </p:spPr>
        <p:txBody>
          <a:bodyPr/>
          <a:lstStyle/>
          <a:p>
            <a:endParaRPr lang="en-US"/>
          </a:p>
        </p:txBody>
      </p:sp>
      <p:sp>
        <p:nvSpPr>
          <p:cNvPr id="22" name="badge-t-133"/>
          <p:cNvSpPr txBox="1"/>
          <p:nvPr/>
        </p:nvSpPr>
        <p:spPr>
          <a:xfrm>
            <a:off x="731520" y="4160520"/>
            <a:ext cx="429768" cy="429768"/>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23" name="txt-134"/>
          <p:cNvSpPr txBox="1"/>
          <p:nvPr/>
        </p:nvSpPr>
        <p:spPr>
          <a:xfrm>
            <a:off x="1325880" y="4032504"/>
            <a:ext cx="1920240" cy="685800"/>
          </a:xfrm>
          <a:prstGeom prst="rect">
            <a:avLst/>
          </a:prstGeom>
          <a:noFill/>
          <a:ln/>
        </p:spPr>
        <p:txBody>
          <a:bodyPr wrap="square" lIns="0" tIns="0" rIns="0" bIns="0" rtlCol="0" anchor="ctr"/>
          <a:lstStyle/>
          <a:p>
            <a:pPr marL="0" indent="0">
              <a:buNone/>
            </a:pPr>
            <a:r>
              <a:rPr lang="en-US" sz="1600" b="1" dirty="0">
                <a:solidFill>
                  <a:schemeClr val="tx1"/>
                </a:solidFill>
              </a:rPr>
              <a:t>Fix numbers &amp; dates</a:t>
            </a:r>
            <a:endParaRPr lang="en-US" sz="1600" dirty="0"/>
          </a:p>
        </p:txBody>
      </p:sp>
      <p:sp>
        <p:nvSpPr>
          <p:cNvPr id="24" name="txt-135"/>
          <p:cNvSpPr txBox="1"/>
          <p:nvPr/>
        </p:nvSpPr>
        <p:spPr>
          <a:xfrm>
            <a:off x="3291840" y="4032504"/>
            <a:ext cx="3383280" cy="685800"/>
          </a:xfrm>
          <a:prstGeom prst="rect">
            <a:avLst/>
          </a:prstGeom>
          <a:noFill/>
          <a:ln/>
        </p:spPr>
        <p:txBody>
          <a:bodyPr wrap="square" lIns="0" tIns="0" rIns="0" bIns="0" rtlCol="0" anchor="ctr"/>
          <a:lstStyle/>
          <a:p>
            <a:pPr marL="0" indent="0">
              <a:buNone/>
            </a:pPr>
            <a:r>
              <a:rPr lang="en-US" sz="1400" dirty="0">
                <a:solidFill>
                  <a:schemeClr val="tx2"/>
                </a:solidFill>
              </a:rPr>
              <a:t>Numbers stored as text, VALUE, DATEVALUE, consistent formats</a:t>
            </a:r>
            <a:endParaRPr lang="en-US" sz="1400" dirty="0"/>
          </a:p>
        </p:txBody>
      </p:sp>
      <p:sp>
        <p:nvSpPr>
          <p:cNvPr id="25" name="card-136"/>
          <p:cNvSpPr/>
          <p:nvPr/>
        </p:nvSpPr>
        <p:spPr>
          <a:xfrm>
            <a:off x="548640" y="4828032"/>
            <a:ext cx="6309360" cy="685800"/>
          </a:xfrm>
          <a:prstGeom prst="roundRect">
            <a:avLst>
              <a:gd name="adj" fmla="val 10667"/>
            </a:avLst>
          </a:prstGeom>
          <a:solidFill>
            <a:schemeClr val="bg2"/>
          </a:solidFill>
          <a:ln/>
        </p:spPr>
        <p:txBody>
          <a:bodyPr/>
          <a:lstStyle/>
          <a:p>
            <a:endParaRPr lang="en-US"/>
          </a:p>
        </p:txBody>
      </p:sp>
      <p:sp>
        <p:nvSpPr>
          <p:cNvPr id="26" name="badge-137"/>
          <p:cNvSpPr/>
          <p:nvPr/>
        </p:nvSpPr>
        <p:spPr>
          <a:xfrm>
            <a:off x="731520" y="4956048"/>
            <a:ext cx="429768" cy="429768"/>
          </a:xfrm>
          <a:prstGeom prst="ellipse">
            <a:avLst/>
          </a:prstGeom>
          <a:solidFill>
            <a:srgbClr val="C8102E"/>
          </a:solidFill>
          <a:ln/>
        </p:spPr>
        <p:txBody>
          <a:bodyPr/>
          <a:lstStyle/>
          <a:p>
            <a:endParaRPr lang="en-US"/>
          </a:p>
        </p:txBody>
      </p:sp>
      <p:sp>
        <p:nvSpPr>
          <p:cNvPr id="27" name="badge-t-138"/>
          <p:cNvSpPr txBox="1"/>
          <p:nvPr/>
        </p:nvSpPr>
        <p:spPr>
          <a:xfrm>
            <a:off x="731520" y="4956048"/>
            <a:ext cx="429768" cy="429768"/>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8" name="txt-139"/>
          <p:cNvSpPr txBox="1"/>
          <p:nvPr/>
        </p:nvSpPr>
        <p:spPr>
          <a:xfrm>
            <a:off x="1325880" y="4828032"/>
            <a:ext cx="1920240" cy="685800"/>
          </a:xfrm>
          <a:prstGeom prst="rect">
            <a:avLst/>
          </a:prstGeom>
          <a:noFill/>
          <a:ln/>
        </p:spPr>
        <p:txBody>
          <a:bodyPr wrap="square" lIns="0" tIns="0" rIns="0" bIns="0" rtlCol="0" anchor="ctr"/>
          <a:lstStyle/>
          <a:p>
            <a:pPr marL="0" indent="0">
              <a:buNone/>
            </a:pPr>
            <a:r>
              <a:rPr lang="en-US" sz="1600" b="1" dirty="0">
                <a:solidFill>
                  <a:schemeClr val="tx1"/>
                </a:solidFill>
              </a:rPr>
              <a:t>Reshape</a:t>
            </a:r>
            <a:endParaRPr lang="en-US" sz="1600" dirty="0"/>
          </a:p>
        </p:txBody>
      </p:sp>
      <p:sp>
        <p:nvSpPr>
          <p:cNvPr id="29" name="txt-140"/>
          <p:cNvSpPr txBox="1"/>
          <p:nvPr/>
        </p:nvSpPr>
        <p:spPr>
          <a:xfrm>
            <a:off x="3291840" y="4828032"/>
            <a:ext cx="3383280" cy="685800"/>
          </a:xfrm>
          <a:prstGeom prst="rect">
            <a:avLst/>
          </a:prstGeom>
          <a:noFill/>
          <a:ln/>
        </p:spPr>
        <p:txBody>
          <a:bodyPr wrap="square" lIns="0" tIns="0" rIns="0" bIns="0" rtlCol="0" anchor="ctr"/>
          <a:lstStyle/>
          <a:p>
            <a:pPr marL="0" indent="0">
              <a:buNone/>
            </a:pPr>
            <a:r>
              <a:rPr lang="en-US" sz="1400" dirty="0">
                <a:solidFill>
                  <a:schemeClr val="tx2"/>
                </a:solidFill>
              </a:rPr>
              <a:t>Unpivot wide tables into pivot-ready long format (Power Query)</a:t>
            </a:r>
            <a:endParaRPr lang="en-US" sz="1400" dirty="0"/>
          </a:p>
        </p:txBody>
      </p:sp>
      <p:sp>
        <p:nvSpPr>
          <p:cNvPr id="30" name="card-141"/>
          <p:cNvSpPr/>
          <p:nvPr/>
        </p:nvSpPr>
        <p:spPr>
          <a:xfrm>
            <a:off x="548640" y="5650992"/>
            <a:ext cx="6309360" cy="548640"/>
          </a:xfrm>
          <a:prstGeom prst="roundRect">
            <a:avLst>
              <a:gd name="adj" fmla="val 13333"/>
            </a:avLst>
          </a:prstGeom>
          <a:solidFill>
            <a:schemeClr val="tx1"/>
          </a:solidFill>
          <a:ln/>
        </p:spPr>
        <p:txBody>
          <a:bodyPr/>
          <a:lstStyle/>
          <a:p>
            <a:endParaRPr lang="en-US"/>
          </a:p>
        </p:txBody>
      </p:sp>
      <p:sp>
        <p:nvSpPr>
          <p:cNvPr id="31" name="txt-142"/>
          <p:cNvSpPr txBox="1"/>
          <p:nvPr/>
        </p:nvSpPr>
        <p:spPr>
          <a:xfrm>
            <a:off x="777240" y="5650992"/>
            <a:ext cx="5852160" cy="548640"/>
          </a:xfrm>
          <a:prstGeom prst="rect">
            <a:avLst/>
          </a:prstGeom>
          <a:noFill/>
          <a:ln/>
        </p:spPr>
        <p:txBody>
          <a:bodyPr wrap="square" lIns="0" tIns="0" rIns="0" bIns="0" rtlCol="0" anchor="ctr"/>
          <a:lstStyle/>
          <a:p>
            <a:pPr marL="0" indent="0">
              <a:buNone/>
            </a:pPr>
            <a:r>
              <a:rPr lang="en-US" sz="1400" b="1" dirty="0">
                <a:solidFill>
                  <a:srgbClr val="E8A33D"/>
                </a:solidFill>
              </a:rPr>
              <a:t>Lab: </a:t>
            </a:r>
            <a:r>
              <a:rPr lang="en-US" sz="1400" dirty="0">
                <a:solidFill>
                  <a:srgbClr val="FFFFFF"/>
                </a:solidFill>
              </a:rPr>
              <a:t>messy sales export → clean, long-format table → PivotTable</a:t>
            </a:r>
            <a:endParaRPr lang="en-US" sz="1400" dirty="0"/>
          </a:p>
        </p:txBody>
      </p:sp>
      <p:sp>
        <p:nvSpPr>
          <p:cNvPr id="32" name="txt-143"/>
          <p:cNvSpPr txBox="1"/>
          <p:nvPr/>
        </p:nvSpPr>
        <p:spPr>
          <a:xfrm>
            <a:off x="7223760" y="1645920"/>
            <a:ext cx="4419295" cy="320040"/>
          </a:xfrm>
          <a:prstGeom prst="rect">
            <a:avLst/>
          </a:prstGeom>
          <a:noFill/>
          <a:ln/>
        </p:spPr>
        <p:txBody>
          <a:bodyPr wrap="square" lIns="0" tIns="0" rIns="0" bIns="0" rtlCol="0" anchor="t"/>
          <a:lstStyle/>
          <a:p>
            <a:pPr marL="0" indent="0">
              <a:buNone/>
            </a:pPr>
            <a:r>
              <a:rPr lang="en-US" sz="1200" b="1" kern="0" spc="100" dirty="0">
                <a:solidFill>
                  <a:schemeClr val="accent5"/>
                </a:solidFill>
              </a:rPr>
              <a:t>SOME HELPFUL LINKS FOR INSPIRATION</a:t>
            </a:r>
            <a:endParaRPr lang="en-US" sz="1200" dirty="0"/>
          </a:p>
        </p:txBody>
      </p:sp>
      <p:sp>
        <p:nvSpPr>
          <p:cNvPr id="33" name="card-144"/>
          <p:cNvSpPr/>
          <p:nvPr/>
        </p:nvSpPr>
        <p:spPr>
          <a:xfrm>
            <a:off x="7223760" y="2057400"/>
            <a:ext cx="4419295" cy="960120"/>
          </a:xfrm>
          <a:prstGeom prst="roundRect">
            <a:avLst>
              <a:gd name="adj" fmla="val 7619"/>
            </a:avLst>
          </a:prstGeom>
          <a:solidFill>
            <a:schemeClr val="bg2"/>
          </a:solidFill>
          <a:ln/>
        </p:spPr>
        <p:txBody>
          <a:bodyPr/>
          <a:lstStyle/>
          <a:p>
            <a:endParaRPr lang="en-US"/>
          </a:p>
        </p:txBody>
      </p:sp>
      <p:sp>
        <p:nvSpPr>
          <p:cNvPr id="34" name="chip-145"/>
          <p:cNvSpPr/>
          <p:nvPr/>
        </p:nvSpPr>
        <p:spPr>
          <a:xfrm>
            <a:off x="7406640" y="2368296"/>
            <a:ext cx="777240" cy="329184"/>
          </a:xfrm>
          <a:prstGeom prst="roundRect">
            <a:avLst>
              <a:gd name="adj" fmla="val 50000"/>
            </a:avLst>
          </a:prstGeom>
          <a:solidFill>
            <a:srgbClr val="3A3D45"/>
          </a:solidFill>
          <a:ln/>
        </p:spPr>
        <p:txBody>
          <a:bodyPr/>
          <a:lstStyle/>
          <a:p>
            <a:endParaRPr lang="en-US"/>
          </a:p>
        </p:txBody>
      </p:sp>
      <p:sp>
        <p:nvSpPr>
          <p:cNvPr id="35" name="chip-t-146"/>
          <p:cNvSpPr txBox="1"/>
          <p:nvPr/>
        </p:nvSpPr>
        <p:spPr>
          <a:xfrm>
            <a:off x="7406640" y="2368296"/>
            <a:ext cx="777240" cy="329184"/>
          </a:xfrm>
          <a:prstGeom prst="rect">
            <a:avLst/>
          </a:prstGeom>
          <a:noFill/>
          <a:ln/>
        </p:spPr>
        <p:txBody>
          <a:bodyPr wrap="square" lIns="0" tIns="0" rIns="0" bIns="0" rtlCol="0" anchor="ctr"/>
          <a:lstStyle/>
          <a:p>
            <a:pPr marL="0" indent="0" algn="ctr">
              <a:buNone/>
            </a:pPr>
            <a:r>
              <a:rPr lang="en-US" sz="1100" b="1" dirty="0">
                <a:solidFill>
                  <a:schemeClr val="bg1"/>
                </a:solidFill>
              </a:rPr>
              <a:t>WEB</a:t>
            </a:r>
            <a:endParaRPr lang="en-US" sz="1100" dirty="0"/>
          </a:p>
        </p:txBody>
      </p:sp>
      <p:sp>
        <p:nvSpPr>
          <p:cNvPr id="36" name="Text 33"/>
          <p:cNvSpPr txBox="1"/>
          <p:nvPr/>
        </p:nvSpPr>
        <p:spPr>
          <a:xfrm>
            <a:off x="8366760" y="2167128"/>
            <a:ext cx="3139135" cy="365760"/>
          </a:xfrm>
          <a:prstGeom prst="rect">
            <a:avLst/>
          </a:prstGeom>
          <a:noFill/>
          <a:ln/>
        </p:spPr>
        <p:txBody>
          <a:bodyPr wrap="square" lIns="0" tIns="0" rIns="0" bIns="0" rtlCol="0" anchor="ctr"/>
          <a:lstStyle/>
          <a:p>
            <a:pPr marL="0" indent="0">
              <a:buNone/>
            </a:pPr>
            <a:r>
              <a:rPr lang="en-US" sz="1400" b="1" u="sng" dirty="0">
                <a:solidFill>
                  <a:srgbClr val="2F6EA5"/>
                </a:solidFill>
                <a:hlinkClick r:id="rId3" tooltip="https://support.microsoft.com/en-us/Excel/top-ten-ways-to-clean-your-data">
                  <a:extLst>
                    <a:ext uri="{A12FA001-AC4F-418D-AE19-62706E023703}">
                      <ahyp:hlinkClr xmlns:ahyp="http://schemas.microsoft.com/office/drawing/2018/hyperlinkcolor" val="tx"/>
                    </a:ext>
                  </a:extLst>
                </a:hlinkClick>
              </a:rPr>
              <a:t>Top ten ways to clean your data</a:t>
            </a:r>
            <a:endParaRPr lang="en-US" sz="1400" dirty="0"/>
          </a:p>
        </p:txBody>
      </p:sp>
      <p:sp>
        <p:nvSpPr>
          <p:cNvPr id="37" name="txt-147"/>
          <p:cNvSpPr txBox="1"/>
          <p:nvPr/>
        </p:nvSpPr>
        <p:spPr>
          <a:xfrm>
            <a:off x="8366760" y="2560320"/>
            <a:ext cx="3139135" cy="411480"/>
          </a:xfrm>
          <a:prstGeom prst="rect">
            <a:avLst/>
          </a:prstGeom>
          <a:noFill/>
          <a:ln/>
        </p:spPr>
        <p:txBody>
          <a:bodyPr wrap="square" lIns="0" tIns="0" rIns="0" bIns="0" rtlCol="0" anchor="t"/>
          <a:lstStyle/>
          <a:p>
            <a:pPr marL="0" indent="0">
              <a:buNone/>
            </a:pPr>
            <a:r>
              <a:rPr lang="en-US" sz="1200" dirty="0">
                <a:solidFill>
                  <a:schemeClr val="tx2"/>
                </a:solidFill>
              </a:rPr>
              <a:t>Microsoft Support — duplicates, TRIM/CLEAN, dates, splitting</a:t>
            </a:r>
            <a:endParaRPr lang="en-US" sz="1200" dirty="0"/>
          </a:p>
        </p:txBody>
      </p:sp>
      <p:sp>
        <p:nvSpPr>
          <p:cNvPr id="38" name="card-148"/>
          <p:cNvSpPr/>
          <p:nvPr/>
        </p:nvSpPr>
        <p:spPr>
          <a:xfrm>
            <a:off x="7223760" y="3154680"/>
            <a:ext cx="4419295" cy="960120"/>
          </a:xfrm>
          <a:prstGeom prst="roundRect">
            <a:avLst>
              <a:gd name="adj" fmla="val 7619"/>
            </a:avLst>
          </a:prstGeom>
          <a:solidFill>
            <a:schemeClr val="bg2"/>
          </a:solidFill>
          <a:ln/>
        </p:spPr>
        <p:txBody>
          <a:bodyPr/>
          <a:lstStyle/>
          <a:p>
            <a:endParaRPr lang="en-US"/>
          </a:p>
        </p:txBody>
      </p:sp>
      <p:sp>
        <p:nvSpPr>
          <p:cNvPr id="39" name="chip-149"/>
          <p:cNvSpPr/>
          <p:nvPr/>
        </p:nvSpPr>
        <p:spPr>
          <a:xfrm>
            <a:off x="7406640" y="3465576"/>
            <a:ext cx="777240" cy="329184"/>
          </a:xfrm>
          <a:prstGeom prst="roundRect">
            <a:avLst>
              <a:gd name="adj" fmla="val 50000"/>
            </a:avLst>
          </a:prstGeom>
          <a:solidFill>
            <a:srgbClr val="C8102E"/>
          </a:solidFill>
          <a:ln/>
        </p:spPr>
        <p:txBody>
          <a:bodyPr/>
          <a:lstStyle/>
          <a:p>
            <a:endParaRPr lang="en-US"/>
          </a:p>
        </p:txBody>
      </p:sp>
      <p:sp>
        <p:nvSpPr>
          <p:cNvPr id="40" name="chip-t-150"/>
          <p:cNvSpPr txBox="1"/>
          <p:nvPr/>
        </p:nvSpPr>
        <p:spPr>
          <a:xfrm>
            <a:off x="7406640" y="3465576"/>
            <a:ext cx="777240" cy="329184"/>
          </a:xfrm>
          <a:prstGeom prst="rect">
            <a:avLst/>
          </a:prstGeom>
          <a:noFill/>
          <a:ln/>
        </p:spPr>
        <p:txBody>
          <a:bodyPr wrap="square" lIns="0" tIns="0" rIns="0" bIns="0" rtlCol="0" anchor="ctr"/>
          <a:lstStyle/>
          <a:p>
            <a:pPr marL="0" indent="0" algn="ctr">
              <a:buNone/>
            </a:pPr>
            <a:r>
              <a:rPr lang="en-US" sz="1100" b="1" dirty="0">
                <a:solidFill>
                  <a:schemeClr val="bg1"/>
                </a:solidFill>
              </a:rPr>
              <a:t>VIDEO</a:t>
            </a:r>
            <a:endParaRPr lang="en-US" sz="1100" dirty="0"/>
          </a:p>
        </p:txBody>
      </p:sp>
      <p:sp>
        <p:nvSpPr>
          <p:cNvPr id="41" name="Text 38"/>
          <p:cNvSpPr txBox="1"/>
          <p:nvPr/>
        </p:nvSpPr>
        <p:spPr>
          <a:xfrm>
            <a:off x="8366760" y="3264408"/>
            <a:ext cx="3139135" cy="365760"/>
          </a:xfrm>
          <a:prstGeom prst="rect">
            <a:avLst/>
          </a:prstGeom>
          <a:noFill/>
          <a:ln/>
        </p:spPr>
        <p:txBody>
          <a:bodyPr wrap="square" lIns="0" tIns="0" rIns="0" bIns="0" rtlCol="0" anchor="ctr"/>
          <a:lstStyle/>
          <a:p>
            <a:pPr marL="0" indent="0">
              <a:buNone/>
            </a:pPr>
            <a:r>
              <a:rPr lang="en-US" sz="1400" b="1" u="sng" dirty="0">
                <a:solidFill>
                  <a:srgbClr val="2F6EA5"/>
                </a:solidFill>
                <a:hlinkClick r:id="rId4" tooltip="https://www.youtube.com/watch?v=x78JR7XHTro">
                  <a:extLst>
                    <a:ext uri="{A12FA001-AC4F-418D-AE19-62706E023703}">
                      <ahyp:hlinkClr xmlns:ahyp="http://schemas.microsoft.com/office/drawing/2018/hyperlinkcolor" val="tx"/>
                    </a:ext>
                  </a:extLst>
                </a:hlinkClick>
              </a:rPr>
              <a:t>TRIM, PROPER &amp; Text to Columns</a:t>
            </a:r>
            <a:endParaRPr lang="en-US" sz="1400" dirty="0"/>
          </a:p>
        </p:txBody>
      </p:sp>
      <p:sp>
        <p:nvSpPr>
          <p:cNvPr id="42" name="txt-151"/>
          <p:cNvSpPr txBox="1"/>
          <p:nvPr/>
        </p:nvSpPr>
        <p:spPr>
          <a:xfrm>
            <a:off x="8366760" y="3657600"/>
            <a:ext cx="3139135" cy="411480"/>
          </a:xfrm>
          <a:prstGeom prst="rect">
            <a:avLst/>
          </a:prstGeom>
          <a:noFill/>
          <a:ln/>
        </p:spPr>
        <p:txBody>
          <a:bodyPr wrap="square" lIns="0" tIns="0" rIns="0" bIns="0" rtlCol="0" anchor="t"/>
          <a:lstStyle/>
          <a:p>
            <a:pPr marL="0" indent="0">
              <a:buNone/>
            </a:pPr>
            <a:r>
              <a:rPr lang="en-US" sz="1200" dirty="0">
                <a:solidFill>
                  <a:schemeClr val="tx2"/>
                </a:solidFill>
              </a:rPr>
              <a:t>YouTube walkthrough of core text clean-up</a:t>
            </a:r>
            <a:endParaRPr lang="en-US" sz="1200" dirty="0"/>
          </a:p>
        </p:txBody>
      </p:sp>
      <p:sp>
        <p:nvSpPr>
          <p:cNvPr id="43" name="card-152"/>
          <p:cNvSpPr/>
          <p:nvPr/>
        </p:nvSpPr>
        <p:spPr>
          <a:xfrm>
            <a:off x="7223760" y="4251960"/>
            <a:ext cx="4419295" cy="960120"/>
          </a:xfrm>
          <a:prstGeom prst="roundRect">
            <a:avLst>
              <a:gd name="adj" fmla="val 7619"/>
            </a:avLst>
          </a:prstGeom>
          <a:solidFill>
            <a:schemeClr val="bg2"/>
          </a:solidFill>
          <a:ln/>
        </p:spPr>
        <p:txBody>
          <a:bodyPr/>
          <a:lstStyle/>
          <a:p>
            <a:endParaRPr lang="en-US"/>
          </a:p>
        </p:txBody>
      </p:sp>
      <p:sp>
        <p:nvSpPr>
          <p:cNvPr id="44" name="chip-153"/>
          <p:cNvSpPr/>
          <p:nvPr/>
        </p:nvSpPr>
        <p:spPr>
          <a:xfrm>
            <a:off x="7406640" y="4562856"/>
            <a:ext cx="777240" cy="329184"/>
          </a:xfrm>
          <a:prstGeom prst="roundRect">
            <a:avLst>
              <a:gd name="adj" fmla="val 50000"/>
            </a:avLst>
          </a:prstGeom>
          <a:solidFill>
            <a:srgbClr val="C8102E"/>
          </a:solidFill>
          <a:ln/>
        </p:spPr>
        <p:txBody>
          <a:bodyPr/>
          <a:lstStyle/>
          <a:p>
            <a:endParaRPr lang="en-US"/>
          </a:p>
        </p:txBody>
      </p:sp>
      <p:sp>
        <p:nvSpPr>
          <p:cNvPr id="45" name="chip-t-154"/>
          <p:cNvSpPr txBox="1"/>
          <p:nvPr/>
        </p:nvSpPr>
        <p:spPr>
          <a:xfrm>
            <a:off x="7406640" y="4562856"/>
            <a:ext cx="777240" cy="329184"/>
          </a:xfrm>
          <a:prstGeom prst="rect">
            <a:avLst/>
          </a:prstGeom>
          <a:noFill/>
          <a:ln/>
        </p:spPr>
        <p:txBody>
          <a:bodyPr wrap="square" lIns="0" tIns="0" rIns="0" bIns="0" rtlCol="0" anchor="ctr"/>
          <a:lstStyle/>
          <a:p>
            <a:pPr marL="0" indent="0" algn="ctr">
              <a:buNone/>
            </a:pPr>
            <a:r>
              <a:rPr lang="en-US" sz="1100" b="1" dirty="0">
                <a:solidFill>
                  <a:schemeClr val="bg1"/>
                </a:solidFill>
              </a:rPr>
              <a:t>VIDEO</a:t>
            </a:r>
            <a:endParaRPr lang="en-US" sz="1100" dirty="0"/>
          </a:p>
        </p:txBody>
      </p:sp>
      <p:sp>
        <p:nvSpPr>
          <p:cNvPr id="46" name="Text 43"/>
          <p:cNvSpPr txBox="1"/>
          <p:nvPr/>
        </p:nvSpPr>
        <p:spPr>
          <a:xfrm>
            <a:off x="8366760" y="4361688"/>
            <a:ext cx="3139135" cy="365760"/>
          </a:xfrm>
          <a:prstGeom prst="rect">
            <a:avLst/>
          </a:prstGeom>
          <a:noFill/>
          <a:ln/>
        </p:spPr>
        <p:txBody>
          <a:bodyPr wrap="square" lIns="0" tIns="0" rIns="0" bIns="0" rtlCol="0" anchor="ctr"/>
          <a:lstStyle/>
          <a:p>
            <a:pPr marL="0" indent="0">
              <a:buNone/>
            </a:pPr>
            <a:r>
              <a:rPr lang="en-US" sz="1400" b="1" u="sng" dirty="0">
                <a:solidFill>
                  <a:srgbClr val="2F6EA5"/>
                </a:solidFill>
                <a:hlinkClick r:id="rId5" tooltip="https://www.youtube.com/watch?v=GoZMQLYIgMA">
                  <a:extLst>
                    <a:ext uri="{A12FA001-AC4F-418D-AE19-62706E023703}">
                      <ahyp:hlinkClr xmlns:ahyp="http://schemas.microsoft.com/office/drawing/2018/hyperlinkcolor" val="tx"/>
                    </a:ext>
                  </a:extLst>
                </a:hlinkClick>
              </a:rPr>
              <a:t>Every way to remove duplicates</a:t>
            </a:r>
            <a:endParaRPr lang="en-US" sz="1400" dirty="0"/>
          </a:p>
        </p:txBody>
      </p:sp>
      <p:sp>
        <p:nvSpPr>
          <p:cNvPr id="47" name="txt-155"/>
          <p:cNvSpPr txBox="1"/>
          <p:nvPr/>
        </p:nvSpPr>
        <p:spPr>
          <a:xfrm>
            <a:off x="8366760" y="4754880"/>
            <a:ext cx="3139135" cy="411480"/>
          </a:xfrm>
          <a:prstGeom prst="rect">
            <a:avLst/>
          </a:prstGeom>
          <a:noFill/>
          <a:ln/>
        </p:spPr>
        <p:txBody>
          <a:bodyPr wrap="square" lIns="0" tIns="0" rIns="0" bIns="0" rtlCol="0" anchor="t"/>
          <a:lstStyle/>
          <a:p>
            <a:pPr marL="0" indent="0">
              <a:buNone/>
            </a:pPr>
            <a:r>
              <a:rPr lang="en-US" sz="1200" dirty="0">
                <a:solidFill>
                  <a:schemeClr val="tx2"/>
                </a:solidFill>
              </a:rPr>
              <a:t>YouTube — compares the built-in and formula methods</a:t>
            </a:r>
            <a:endParaRPr lang="en-US" sz="1200" dirty="0"/>
          </a:p>
        </p:txBody>
      </p:sp>
      <p:sp>
        <p:nvSpPr>
          <p:cNvPr id="4"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9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156"/>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NEW CLASS  ·  2 OF 2</a:t>
            </a:r>
            <a:endParaRPr lang="en-US" sz="1200" dirty="0"/>
          </a:p>
        </p:txBody>
      </p:sp>
      <p:sp>
        <p:nvSpPr>
          <p:cNvPr id="3" name="Text 0"/>
          <p:cNvSpPr>
            <a:spLocks noGrp="1"/>
          </p:cNvSpPr>
          <p:nvPr>
            <p:ph type="title" idx="100" hasCustomPrompt="1"/>
          </p:nvPr>
        </p:nvSpPr>
        <p:spPr>
          <a:xfrm>
            <a:off x="548640" y="658368"/>
            <a:ext cx="11094415" cy="731520"/>
          </a:xfrm>
          <a:prstGeom prst="rect">
            <a:avLst/>
          </a:prstGeom>
          <a:noFill/>
          <a:ln/>
        </p:spPr>
        <p:txBody>
          <a:bodyPr wrap="square" lIns="0" tIns="0" rIns="0" bIns="0" rtlCol="0" anchor="t"/>
          <a:lstStyle/>
          <a:p>
            <a:pPr marL="0" indent="0" algn="l">
              <a:buNone/>
            </a:pPr>
            <a:r>
              <a:rPr lang="en-US" sz="3000" b="1" dirty="0">
                <a:solidFill>
                  <a:schemeClr val="tx1"/>
                </a:solidFill>
                <a:latin typeface="Cambria" pitchFamily="34" charset="0"/>
                <a:ea typeface="Cambria" pitchFamily="34" charset="-122"/>
                <a:cs typeface="Cambria" pitchFamily="34" charset="-120"/>
              </a:rPr>
              <a:t>Teach organization and speed habits analysts use daily</a:t>
            </a:r>
            <a:endParaRPr lang="en-US" sz="3000" dirty="0"/>
          </a:p>
        </p:txBody>
      </p:sp>
      <p:sp>
        <p:nvSpPr>
          <p:cNvPr id="5" name="card-157"/>
          <p:cNvSpPr/>
          <p:nvPr/>
        </p:nvSpPr>
        <p:spPr>
          <a:xfrm>
            <a:off x="548640" y="1645920"/>
            <a:ext cx="6309360" cy="804672"/>
          </a:xfrm>
          <a:prstGeom prst="roundRect">
            <a:avLst>
              <a:gd name="adj" fmla="val 9091"/>
            </a:avLst>
          </a:prstGeom>
          <a:solidFill>
            <a:schemeClr val="bg2"/>
          </a:solidFill>
          <a:ln/>
        </p:spPr>
        <p:txBody>
          <a:bodyPr/>
          <a:lstStyle/>
          <a:p>
            <a:endParaRPr lang="en-US"/>
          </a:p>
        </p:txBody>
      </p:sp>
      <p:sp>
        <p:nvSpPr>
          <p:cNvPr id="6" name="badge-158"/>
          <p:cNvSpPr/>
          <p:nvPr/>
        </p:nvSpPr>
        <p:spPr>
          <a:xfrm>
            <a:off x="731520" y="1819656"/>
            <a:ext cx="457200" cy="457200"/>
          </a:xfrm>
          <a:prstGeom prst="ellipse">
            <a:avLst/>
          </a:prstGeom>
          <a:solidFill>
            <a:srgbClr val="C8102E"/>
          </a:solidFill>
          <a:ln/>
        </p:spPr>
        <p:txBody>
          <a:bodyPr/>
          <a:lstStyle/>
          <a:p>
            <a:endParaRPr lang="en-US"/>
          </a:p>
        </p:txBody>
      </p:sp>
      <p:sp>
        <p:nvSpPr>
          <p:cNvPr id="7" name="badge-t-159"/>
          <p:cNvSpPr txBox="1"/>
          <p:nvPr/>
        </p:nvSpPr>
        <p:spPr>
          <a:xfrm>
            <a:off x="731520" y="1819656"/>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8" name="txt-160"/>
          <p:cNvSpPr txBox="1"/>
          <p:nvPr/>
        </p:nvSpPr>
        <p:spPr>
          <a:xfrm>
            <a:off x="1371600" y="1719072"/>
            <a:ext cx="5303520" cy="329184"/>
          </a:xfrm>
          <a:prstGeom prst="rect">
            <a:avLst/>
          </a:prstGeom>
          <a:noFill/>
          <a:ln/>
        </p:spPr>
        <p:txBody>
          <a:bodyPr wrap="square" lIns="0" tIns="0" rIns="0" bIns="0" rtlCol="0" anchor="t"/>
          <a:lstStyle/>
          <a:p>
            <a:pPr marL="0" indent="0">
              <a:buNone/>
            </a:pPr>
            <a:r>
              <a:rPr lang="en-US" sz="1600" b="1" dirty="0">
                <a:solidFill>
                  <a:schemeClr val="tx1"/>
                </a:solidFill>
              </a:rPr>
              <a:t>Excel Tables</a:t>
            </a:r>
            <a:endParaRPr lang="en-US" sz="1600" dirty="0"/>
          </a:p>
        </p:txBody>
      </p:sp>
      <p:sp>
        <p:nvSpPr>
          <p:cNvPr id="9" name="txt-161"/>
          <p:cNvSpPr txBox="1"/>
          <p:nvPr/>
        </p:nvSpPr>
        <p:spPr>
          <a:xfrm>
            <a:off x="1371600" y="2048256"/>
            <a:ext cx="5303520" cy="365760"/>
          </a:xfrm>
          <a:prstGeom prst="rect">
            <a:avLst/>
          </a:prstGeom>
          <a:noFill/>
          <a:ln/>
        </p:spPr>
        <p:txBody>
          <a:bodyPr wrap="square" lIns="0" tIns="0" rIns="0" bIns="0" rtlCol="0" anchor="t"/>
          <a:lstStyle/>
          <a:p>
            <a:pPr marL="0" indent="0">
              <a:buNone/>
            </a:pPr>
            <a:r>
              <a:rPr lang="en-US" sz="1400" dirty="0">
                <a:solidFill>
                  <a:schemeClr val="tx2"/>
                </a:solidFill>
              </a:rPr>
              <a:t>Ctrl+T, Sales[Amount]-style refs, auto-expanding ranges</a:t>
            </a:r>
            <a:endParaRPr lang="en-US" sz="1400" dirty="0"/>
          </a:p>
        </p:txBody>
      </p:sp>
      <p:sp>
        <p:nvSpPr>
          <p:cNvPr id="10" name="card-162"/>
          <p:cNvSpPr/>
          <p:nvPr/>
        </p:nvSpPr>
        <p:spPr>
          <a:xfrm>
            <a:off x="548640" y="2560320"/>
            <a:ext cx="6309360" cy="804672"/>
          </a:xfrm>
          <a:prstGeom prst="roundRect">
            <a:avLst>
              <a:gd name="adj" fmla="val 9091"/>
            </a:avLst>
          </a:prstGeom>
          <a:solidFill>
            <a:schemeClr val="bg2"/>
          </a:solidFill>
          <a:ln/>
        </p:spPr>
        <p:txBody>
          <a:bodyPr/>
          <a:lstStyle/>
          <a:p>
            <a:endParaRPr lang="en-US"/>
          </a:p>
        </p:txBody>
      </p:sp>
      <p:sp>
        <p:nvSpPr>
          <p:cNvPr id="11" name="badge-163"/>
          <p:cNvSpPr/>
          <p:nvPr/>
        </p:nvSpPr>
        <p:spPr>
          <a:xfrm>
            <a:off x="731520" y="2734056"/>
            <a:ext cx="457200" cy="457200"/>
          </a:xfrm>
          <a:prstGeom prst="ellipse">
            <a:avLst/>
          </a:prstGeom>
          <a:solidFill>
            <a:srgbClr val="C8102E"/>
          </a:solidFill>
          <a:ln/>
        </p:spPr>
        <p:txBody>
          <a:bodyPr/>
          <a:lstStyle/>
          <a:p>
            <a:endParaRPr lang="en-US"/>
          </a:p>
        </p:txBody>
      </p:sp>
      <p:sp>
        <p:nvSpPr>
          <p:cNvPr id="12" name="badge-t-164"/>
          <p:cNvSpPr txBox="1"/>
          <p:nvPr/>
        </p:nvSpPr>
        <p:spPr>
          <a:xfrm>
            <a:off x="731520" y="2734056"/>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3" name="txt-165"/>
          <p:cNvSpPr txBox="1"/>
          <p:nvPr/>
        </p:nvSpPr>
        <p:spPr>
          <a:xfrm>
            <a:off x="1371600" y="2633472"/>
            <a:ext cx="5303520" cy="329184"/>
          </a:xfrm>
          <a:prstGeom prst="rect">
            <a:avLst/>
          </a:prstGeom>
          <a:noFill/>
          <a:ln/>
        </p:spPr>
        <p:txBody>
          <a:bodyPr wrap="square" lIns="0" tIns="0" rIns="0" bIns="0" rtlCol="0" anchor="t"/>
          <a:lstStyle/>
          <a:p>
            <a:pPr marL="0" indent="0">
              <a:buNone/>
            </a:pPr>
            <a:r>
              <a:rPr lang="en-US" sz="1600" b="1" dirty="0">
                <a:solidFill>
                  <a:schemeClr val="tx1"/>
                </a:solidFill>
              </a:rPr>
              <a:t>Workbook conventions</a:t>
            </a:r>
            <a:endParaRPr lang="en-US" sz="1600" dirty="0"/>
          </a:p>
        </p:txBody>
      </p:sp>
      <p:sp>
        <p:nvSpPr>
          <p:cNvPr id="14" name="txt-166"/>
          <p:cNvSpPr txBox="1"/>
          <p:nvPr/>
        </p:nvSpPr>
        <p:spPr>
          <a:xfrm>
            <a:off x="1371600" y="2962656"/>
            <a:ext cx="5303520" cy="365760"/>
          </a:xfrm>
          <a:prstGeom prst="rect">
            <a:avLst/>
          </a:prstGeom>
          <a:noFill/>
          <a:ln/>
        </p:spPr>
        <p:txBody>
          <a:bodyPr wrap="square" lIns="0" tIns="0" rIns="0" bIns="0" rtlCol="0" anchor="t"/>
          <a:lstStyle/>
          <a:p>
            <a:pPr marL="0" indent="0">
              <a:buNone/>
            </a:pPr>
            <a:r>
              <a:rPr lang="en-US" sz="1400" dirty="0">
                <a:solidFill>
                  <a:schemeClr val="tx2"/>
                </a:solidFill>
              </a:rPr>
              <a:t>Raw data / calc / output tabs; inputs in blue; no hard-coded numbers</a:t>
            </a:r>
            <a:endParaRPr lang="en-US" sz="1400" dirty="0"/>
          </a:p>
        </p:txBody>
      </p:sp>
      <p:sp>
        <p:nvSpPr>
          <p:cNvPr id="15" name="card-167"/>
          <p:cNvSpPr/>
          <p:nvPr/>
        </p:nvSpPr>
        <p:spPr>
          <a:xfrm>
            <a:off x="548640" y="3474720"/>
            <a:ext cx="6309360" cy="804672"/>
          </a:xfrm>
          <a:prstGeom prst="roundRect">
            <a:avLst>
              <a:gd name="adj" fmla="val 9091"/>
            </a:avLst>
          </a:prstGeom>
          <a:solidFill>
            <a:schemeClr val="bg2"/>
          </a:solidFill>
          <a:ln/>
        </p:spPr>
        <p:txBody>
          <a:bodyPr/>
          <a:lstStyle/>
          <a:p>
            <a:endParaRPr lang="en-US"/>
          </a:p>
        </p:txBody>
      </p:sp>
      <p:sp>
        <p:nvSpPr>
          <p:cNvPr id="16" name="badge-168"/>
          <p:cNvSpPr/>
          <p:nvPr/>
        </p:nvSpPr>
        <p:spPr>
          <a:xfrm>
            <a:off x="731520" y="3648456"/>
            <a:ext cx="457200" cy="457200"/>
          </a:xfrm>
          <a:prstGeom prst="ellipse">
            <a:avLst/>
          </a:prstGeom>
          <a:solidFill>
            <a:srgbClr val="C8102E"/>
          </a:solidFill>
          <a:ln/>
        </p:spPr>
        <p:txBody>
          <a:bodyPr/>
          <a:lstStyle/>
          <a:p>
            <a:endParaRPr lang="en-US"/>
          </a:p>
        </p:txBody>
      </p:sp>
      <p:sp>
        <p:nvSpPr>
          <p:cNvPr id="17" name="badge-t-169"/>
          <p:cNvSpPr txBox="1"/>
          <p:nvPr/>
        </p:nvSpPr>
        <p:spPr>
          <a:xfrm>
            <a:off x="731520" y="3648456"/>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8" name="txt-170"/>
          <p:cNvSpPr txBox="1"/>
          <p:nvPr/>
        </p:nvSpPr>
        <p:spPr>
          <a:xfrm>
            <a:off x="1371600" y="3547872"/>
            <a:ext cx="5303520" cy="329184"/>
          </a:xfrm>
          <a:prstGeom prst="rect">
            <a:avLst/>
          </a:prstGeom>
          <a:noFill/>
          <a:ln/>
        </p:spPr>
        <p:txBody>
          <a:bodyPr wrap="square" lIns="0" tIns="0" rIns="0" bIns="0" rtlCol="0" anchor="t"/>
          <a:lstStyle/>
          <a:p>
            <a:pPr marL="0" indent="0">
              <a:buNone/>
            </a:pPr>
            <a:r>
              <a:rPr lang="en-US" sz="1600" b="1" dirty="0">
                <a:solidFill>
                  <a:schemeClr val="tx1"/>
                </a:solidFill>
              </a:rPr>
              <a:t>Formula auditing</a:t>
            </a:r>
            <a:endParaRPr lang="en-US" sz="1600" dirty="0"/>
          </a:p>
        </p:txBody>
      </p:sp>
      <p:sp>
        <p:nvSpPr>
          <p:cNvPr id="19" name="txt-171"/>
          <p:cNvSpPr txBox="1"/>
          <p:nvPr/>
        </p:nvSpPr>
        <p:spPr>
          <a:xfrm>
            <a:off x="1371600" y="3877056"/>
            <a:ext cx="5303520" cy="365760"/>
          </a:xfrm>
          <a:prstGeom prst="rect">
            <a:avLst/>
          </a:prstGeom>
          <a:noFill/>
          <a:ln/>
        </p:spPr>
        <p:txBody>
          <a:bodyPr wrap="square" lIns="0" tIns="0" rIns="0" bIns="0" rtlCol="0" anchor="t"/>
          <a:lstStyle/>
          <a:p>
            <a:pPr marL="0" indent="0">
              <a:buNone/>
            </a:pPr>
            <a:r>
              <a:rPr lang="en-US" sz="1400" dirty="0">
                <a:solidFill>
                  <a:schemeClr val="tx2"/>
                </a:solidFill>
              </a:rPr>
              <a:t>Trace Precedents / Dependents, Evaluate Formula, F9 to test parts</a:t>
            </a:r>
            <a:endParaRPr lang="en-US" sz="1400" dirty="0"/>
          </a:p>
        </p:txBody>
      </p:sp>
      <p:sp>
        <p:nvSpPr>
          <p:cNvPr id="20" name="card-172"/>
          <p:cNvSpPr/>
          <p:nvPr/>
        </p:nvSpPr>
        <p:spPr>
          <a:xfrm>
            <a:off x="548640" y="4434840"/>
            <a:ext cx="6309360" cy="1764792"/>
          </a:xfrm>
          <a:prstGeom prst="roundRect">
            <a:avLst>
              <a:gd name="adj" fmla="val 4145"/>
            </a:avLst>
          </a:prstGeom>
          <a:solidFill>
            <a:schemeClr val="tx1"/>
          </a:solidFill>
          <a:ln/>
        </p:spPr>
        <p:txBody>
          <a:bodyPr/>
          <a:lstStyle/>
          <a:p>
            <a:endParaRPr lang="en-US"/>
          </a:p>
        </p:txBody>
      </p:sp>
      <p:sp>
        <p:nvSpPr>
          <p:cNvPr id="21" name="txt-173"/>
          <p:cNvSpPr txBox="1"/>
          <p:nvPr/>
        </p:nvSpPr>
        <p:spPr>
          <a:xfrm>
            <a:off x="777240" y="4526280"/>
            <a:ext cx="5852160" cy="320040"/>
          </a:xfrm>
          <a:prstGeom prst="rect">
            <a:avLst/>
          </a:prstGeom>
          <a:noFill/>
          <a:ln/>
        </p:spPr>
        <p:txBody>
          <a:bodyPr wrap="square" lIns="0" tIns="0" rIns="0" bIns="0" rtlCol="0" anchor="t"/>
          <a:lstStyle/>
          <a:p>
            <a:pPr marL="0" indent="0">
              <a:buNone/>
            </a:pPr>
            <a:r>
              <a:rPr lang="en-US" sz="1200" b="1" kern="0" spc="100" dirty="0">
                <a:solidFill>
                  <a:srgbClr val="E8A33D"/>
                </a:solidFill>
              </a:rPr>
              <a:t>SHORTCUT DRILL (WINDOWS)</a:t>
            </a:r>
            <a:endParaRPr lang="en-US" sz="1200" dirty="0"/>
          </a:p>
        </p:txBody>
      </p:sp>
      <p:sp>
        <p:nvSpPr>
          <p:cNvPr id="22" name="txt-174"/>
          <p:cNvSpPr txBox="1"/>
          <p:nvPr/>
        </p:nvSpPr>
        <p:spPr>
          <a:xfrm>
            <a:off x="777240" y="4892040"/>
            <a:ext cx="1691640" cy="292608"/>
          </a:xfrm>
          <a:prstGeom prst="rect">
            <a:avLst/>
          </a:prstGeom>
          <a:noFill/>
          <a:ln/>
        </p:spPr>
        <p:txBody>
          <a:bodyPr wrap="square" lIns="0" tIns="0" rIns="0" bIns="0" rtlCol="0" anchor="t"/>
          <a:lstStyle/>
          <a:p>
            <a:pPr marL="0" indent="0">
              <a:buNone/>
            </a:pPr>
            <a:r>
              <a:rPr lang="en-US" sz="1200" b="1" dirty="0">
                <a:solidFill>
                  <a:srgbClr val="FFFFFF"/>
                </a:solidFill>
                <a:latin typeface="Courier New" pitchFamily="34" charset="0"/>
                <a:ea typeface="Courier New" pitchFamily="34" charset="-122"/>
                <a:cs typeface="Courier New" pitchFamily="34" charset="-120"/>
              </a:rPr>
              <a:t>Ctrl+Arrow</a:t>
            </a:r>
            <a:endParaRPr lang="en-US" sz="1200" dirty="0"/>
          </a:p>
        </p:txBody>
      </p:sp>
      <p:sp>
        <p:nvSpPr>
          <p:cNvPr id="23" name="txt-175"/>
          <p:cNvSpPr txBox="1"/>
          <p:nvPr/>
        </p:nvSpPr>
        <p:spPr>
          <a:xfrm>
            <a:off x="2468880" y="4892040"/>
            <a:ext cx="1234440" cy="292608"/>
          </a:xfrm>
          <a:prstGeom prst="rect">
            <a:avLst/>
          </a:prstGeom>
          <a:noFill/>
          <a:ln/>
        </p:spPr>
        <p:txBody>
          <a:bodyPr wrap="square" lIns="0" tIns="0" rIns="0" bIns="0" rtlCol="0" anchor="t"/>
          <a:lstStyle/>
          <a:p>
            <a:pPr marL="0" indent="0">
              <a:buNone/>
            </a:pPr>
            <a:r>
              <a:rPr lang="en-US" sz="1200" dirty="0">
                <a:solidFill>
                  <a:srgbClr val="D5D6DA"/>
                </a:solidFill>
              </a:rPr>
              <a:t>jump to edge</a:t>
            </a:r>
            <a:endParaRPr lang="en-US" sz="1200" dirty="0"/>
          </a:p>
        </p:txBody>
      </p:sp>
      <p:sp>
        <p:nvSpPr>
          <p:cNvPr id="24" name="txt-176"/>
          <p:cNvSpPr txBox="1"/>
          <p:nvPr/>
        </p:nvSpPr>
        <p:spPr>
          <a:xfrm>
            <a:off x="3794760" y="4892040"/>
            <a:ext cx="1691640" cy="292608"/>
          </a:xfrm>
          <a:prstGeom prst="rect">
            <a:avLst/>
          </a:prstGeom>
          <a:noFill/>
          <a:ln/>
        </p:spPr>
        <p:txBody>
          <a:bodyPr wrap="square" lIns="0" tIns="0" rIns="0" bIns="0" rtlCol="0" anchor="t"/>
          <a:lstStyle/>
          <a:p>
            <a:pPr marL="0" indent="0">
              <a:buNone/>
            </a:pPr>
            <a:r>
              <a:rPr lang="en-US" sz="1200" b="1" dirty="0">
                <a:solidFill>
                  <a:srgbClr val="FFFFFF"/>
                </a:solidFill>
                <a:latin typeface="Courier New" pitchFamily="34" charset="0"/>
                <a:ea typeface="Courier New" pitchFamily="34" charset="-122"/>
                <a:cs typeface="Courier New" pitchFamily="34" charset="-120"/>
              </a:rPr>
              <a:t>Ctrl+Shift+Arrow</a:t>
            </a:r>
            <a:endParaRPr lang="en-US" sz="1200" dirty="0"/>
          </a:p>
        </p:txBody>
      </p:sp>
      <p:sp>
        <p:nvSpPr>
          <p:cNvPr id="25" name="txt-177"/>
          <p:cNvSpPr txBox="1"/>
          <p:nvPr/>
        </p:nvSpPr>
        <p:spPr>
          <a:xfrm>
            <a:off x="5486400" y="4892040"/>
            <a:ext cx="1234440" cy="292608"/>
          </a:xfrm>
          <a:prstGeom prst="rect">
            <a:avLst/>
          </a:prstGeom>
          <a:noFill/>
          <a:ln/>
        </p:spPr>
        <p:txBody>
          <a:bodyPr wrap="square" lIns="0" tIns="0" rIns="0" bIns="0" rtlCol="0" anchor="t"/>
          <a:lstStyle/>
          <a:p>
            <a:pPr marL="0" indent="0">
              <a:buNone/>
            </a:pPr>
            <a:r>
              <a:rPr lang="en-US" sz="1200" dirty="0">
                <a:solidFill>
                  <a:srgbClr val="D5D6DA"/>
                </a:solidFill>
              </a:rPr>
              <a:t>select to edge</a:t>
            </a:r>
            <a:endParaRPr lang="en-US" sz="1200" dirty="0"/>
          </a:p>
        </p:txBody>
      </p:sp>
      <p:sp>
        <p:nvSpPr>
          <p:cNvPr id="26" name="txt-178"/>
          <p:cNvSpPr txBox="1"/>
          <p:nvPr/>
        </p:nvSpPr>
        <p:spPr>
          <a:xfrm>
            <a:off x="777240" y="5202936"/>
            <a:ext cx="1691640" cy="292608"/>
          </a:xfrm>
          <a:prstGeom prst="rect">
            <a:avLst/>
          </a:prstGeom>
          <a:noFill/>
          <a:ln/>
        </p:spPr>
        <p:txBody>
          <a:bodyPr wrap="square" lIns="0" tIns="0" rIns="0" bIns="0" rtlCol="0" anchor="t"/>
          <a:lstStyle/>
          <a:p>
            <a:pPr marL="0" indent="0">
              <a:buNone/>
            </a:pPr>
            <a:r>
              <a:rPr lang="en-US" sz="1200" b="1" dirty="0">
                <a:solidFill>
                  <a:srgbClr val="FFFFFF"/>
                </a:solidFill>
                <a:latin typeface="Courier New" pitchFamily="34" charset="0"/>
                <a:ea typeface="Courier New" pitchFamily="34" charset="-122"/>
                <a:cs typeface="Courier New" pitchFamily="34" charset="-120"/>
              </a:rPr>
              <a:t>Ctrl+T</a:t>
            </a:r>
            <a:endParaRPr lang="en-US" sz="1200" dirty="0"/>
          </a:p>
        </p:txBody>
      </p:sp>
      <p:sp>
        <p:nvSpPr>
          <p:cNvPr id="27" name="txt-179"/>
          <p:cNvSpPr txBox="1"/>
          <p:nvPr/>
        </p:nvSpPr>
        <p:spPr>
          <a:xfrm>
            <a:off x="2468880" y="5202936"/>
            <a:ext cx="1234440" cy="292608"/>
          </a:xfrm>
          <a:prstGeom prst="rect">
            <a:avLst/>
          </a:prstGeom>
          <a:noFill/>
          <a:ln/>
        </p:spPr>
        <p:txBody>
          <a:bodyPr wrap="square" lIns="0" tIns="0" rIns="0" bIns="0" rtlCol="0" anchor="t"/>
          <a:lstStyle/>
          <a:p>
            <a:pPr marL="0" indent="0">
              <a:buNone/>
            </a:pPr>
            <a:r>
              <a:rPr lang="en-US" sz="1200" dirty="0">
                <a:solidFill>
                  <a:srgbClr val="D5D6DA"/>
                </a:solidFill>
              </a:rPr>
              <a:t>make a Table</a:t>
            </a:r>
            <a:endParaRPr lang="en-US" sz="1200" dirty="0"/>
          </a:p>
        </p:txBody>
      </p:sp>
      <p:sp>
        <p:nvSpPr>
          <p:cNvPr id="28" name="txt-180"/>
          <p:cNvSpPr txBox="1"/>
          <p:nvPr/>
        </p:nvSpPr>
        <p:spPr>
          <a:xfrm>
            <a:off x="3794760" y="5202936"/>
            <a:ext cx="1691640" cy="292608"/>
          </a:xfrm>
          <a:prstGeom prst="rect">
            <a:avLst/>
          </a:prstGeom>
          <a:noFill/>
          <a:ln/>
        </p:spPr>
        <p:txBody>
          <a:bodyPr wrap="square" lIns="0" tIns="0" rIns="0" bIns="0" rtlCol="0" anchor="t"/>
          <a:lstStyle/>
          <a:p>
            <a:pPr marL="0" indent="0">
              <a:buNone/>
            </a:pPr>
            <a:r>
              <a:rPr lang="en-US" sz="1200" b="1" dirty="0">
                <a:solidFill>
                  <a:srgbClr val="FFFFFF"/>
                </a:solidFill>
                <a:latin typeface="Courier New" pitchFamily="34" charset="0"/>
                <a:ea typeface="Courier New" pitchFamily="34" charset="-122"/>
                <a:cs typeface="Courier New" pitchFamily="34" charset="-120"/>
              </a:rPr>
              <a:t>Ctrl+Shift+L</a:t>
            </a:r>
            <a:endParaRPr lang="en-US" sz="1200" dirty="0"/>
          </a:p>
        </p:txBody>
      </p:sp>
      <p:sp>
        <p:nvSpPr>
          <p:cNvPr id="29" name="txt-181"/>
          <p:cNvSpPr txBox="1"/>
          <p:nvPr/>
        </p:nvSpPr>
        <p:spPr>
          <a:xfrm>
            <a:off x="5486400" y="5202936"/>
            <a:ext cx="1234440" cy="292608"/>
          </a:xfrm>
          <a:prstGeom prst="rect">
            <a:avLst/>
          </a:prstGeom>
          <a:noFill/>
          <a:ln/>
        </p:spPr>
        <p:txBody>
          <a:bodyPr wrap="square" lIns="0" tIns="0" rIns="0" bIns="0" rtlCol="0" anchor="t"/>
          <a:lstStyle/>
          <a:p>
            <a:pPr marL="0" indent="0">
              <a:buNone/>
            </a:pPr>
            <a:r>
              <a:rPr lang="en-US" sz="1200" dirty="0">
                <a:solidFill>
                  <a:srgbClr val="D5D6DA"/>
                </a:solidFill>
              </a:rPr>
              <a:t>toggle filters</a:t>
            </a:r>
            <a:endParaRPr lang="en-US" sz="1200" dirty="0"/>
          </a:p>
        </p:txBody>
      </p:sp>
      <p:sp>
        <p:nvSpPr>
          <p:cNvPr id="30" name="txt-182"/>
          <p:cNvSpPr txBox="1"/>
          <p:nvPr/>
        </p:nvSpPr>
        <p:spPr>
          <a:xfrm>
            <a:off x="777240" y="5513832"/>
            <a:ext cx="1691640" cy="292608"/>
          </a:xfrm>
          <a:prstGeom prst="rect">
            <a:avLst/>
          </a:prstGeom>
          <a:noFill/>
          <a:ln/>
        </p:spPr>
        <p:txBody>
          <a:bodyPr wrap="square" lIns="0" tIns="0" rIns="0" bIns="0" rtlCol="0" anchor="t"/>
          <a:lstStyle/>
          <a:p>
            <a:pPr marL="0" indent="0">
              <a:buNone/>
            </a:pPr>
            <a:r>
              <a:rPr lang="en-US" sz="1200" b="1" dirty="0">
                <a:solidFill>
                  <a:srgbClr val="FFFFFF"/>
                </a:solidFill>
                <a:latin typeface="Courier New" pitchFamily="34" charset="0"/>
                <a:ea typeface="Courier New" pitchFamily="34" charset="-122"/>
                <a:cs typeface="Courier New" pitchFamily="34" charset="-120"/>
              </a:rPr>
              <a:t>Alt+=</a:t>
            </a:r>
            <a:endParaRPr lang="en-US" sz="1200" dirty="0"/>
          </a:p>
        </p:txBody>
      </p:sp>
      <p:sp>
        <p:nvSpPr>
          <p:cNvPr id="31" name="txt-183"/>
          <p:cNvSpPr txBox="1"/>
          <p:nvPr/>
        </p:nvSpPr>
        <p:spPr>
          <a:xfrm>
            <a:off x="2468880" y="5513832"/>
            <a:ext cx="1234440" cy="292608"/>
          </a:xfrm>
          <a:prstGeom prst="rect">
            <a:avLst/>
          </a:prstGeom>
          <a:noFill/>
          <a:ln/>
        </p:spPr>
        <p:txBody>
          <a:bodyPr wrap="square" lIns="0" tIns="0" rIns="0" bIns="0" rtlCol="0" anchor="t"/>
          <a:lstStyle/>
          <a:p>
            <a:pPr marL="0" indent="0">
              <a:buNone/>
            </a:pPr>
            <a:r>
              <a:rPr lang="en-US" sz="1200" dirty="0">
                <a:solidFill>
                  <a:srgbClr val="D5D6DA"/>
                </a:solidFill>
              </a:rPr>
              <a:t>AutoSum</a:t>
            </a:r>
            <a:endParaRPr lang="en-US" sz="1200" dirty="0"/>
          </a:p>
        </p:txBody>
      </p:sp>
      <p:sp>
        <p:nvSpPr>
          <p:cNvPr id="32" name="txt-184"/>
          <p:cNvSpPr txBox="1"/>
          <p:nvPr/>
        </p:nvSpPr>
        <p:spPr>
          <a:xfrm>
            <a:off x="3794760" y="5513832"/>
            <a:ext cx="1691640" cy="292608"/>
          </a:xfrm>
          <a:prstGeom prst="rect">
            <a:avLst/>
          </a:prstGeom>
          <a:noFill/>
          <a:ln/>
        </p:spPr>
        <p:txBody>
          <a:bodyPr wrap="square" lIns="0" tIns="0" rIns="0" bIns="0" rtlCol="0" anchor="t"/>
          <a:lstStyle/>
          <a:p>
            <a:pPr marL="0" indent="0">
              <a:buNone/>
            </a:pPr>
            <a:r>
              <a:rPr lang="en-US" sz="1200" b="1" dirty="0">
                <a:solidFill>
                  <a:srgbClr val="FFFFFF"/>
                </a:solidFill>
                <a:latin typeface="Courier New" pitchFamily="34" charset="0"/>
                <a:ea typeface="Courier New" pitchFamily="34" charset="-122"/>
                <a:cs typeface="Courier New" pitchFamily="34" charset="-120"/>
              </a:rPr>
              <a:t>F4</a:t>
            </a:r>
            <a:endParaRPr lang="en-US" sz="1200" dirty="0"/>
          </a:p>
        </p:txBody>
      </p:sp>
      <p:sp>
        <p:nvSpPr>
          <p:cNvPr id="33" name="txt-185"/>
          <p:cNvSpPr txBox="1"/>
          <p:nvPr/>
        </p:nvSpPr>
        <p:spPr>
          <a:xfrm>
            <a:off x="5486400" y="5513832"/>
            <a:ext cx="1234440" cy="292608"/>
          </a:xfrm>
          <a:prstGeom prst="rect">
            <a:avLst/>
          </a:prstGeom>
          <a:noFill/>
          <a:ln/>
        </p:spPr>
        <p:txBody>
          <a:bodyPr wrap="square" lIns="0" tIns="0" rIns="0" bIns="0" rtlCol="0" anchor="t"/>
          <a:lstStyle/>
          <a:p>
            <a:pPr marL="0" indent="0">
              <a:buNone/>
            </a:pPr>
            <a:r>
              <a:rPr lang="en-US" sz="1200" dirty="0">
                <a:solidFill>
                  <a:srgbClr val="D5D6DA"/>
                </a:solidFill>
              </a:rPr>
              <a:t>lock ref ($)</a:t>
            </a:r>
            <a:endParaRPr lang="en-US" sz="1200" dirty="0"/>
          </a:p>
        </p:txBody>
      </p:sp>
      <p:sp>
        <p:nvSpPr>
          <p:cNvPr id="34" name="txt-186"/>
          <p:cNvSpPr txBox="1"/>
          <p:nvPr/>
        </p:nvSpPr>
        <p:spPr>
          <a:xfrm>
            <a:off x="777240" y="5824728"/>
            <a:ext cx="1691640" cy="292608"/>
          </a:xfrm>
          <a:prstGeom prst="rect">
            <a:avLst/>
          </a:prstGeom>
          <a:noFill/>
          <a:ln/>
        </p:spPr>
        <p:txBody>
          <a:bodyPr wrap="square" lIns="0" tIns="0" rIns="0" bIns="0" rtlCol="0" anchor="t"/>
          <a:lstStyle/>
          <a:p>
            <a:pPr marL="0" indent="0">
              <a:buNone/>
            </a:pPr>
            <a:r>
              <a:rPr lang="en-US" sz="1200" b="1" dirty="0">
                <a:solidFill>
                  <a:srgbClr val="FFFFFF"/>
                </a:solidFill>
                <a:latin typeface="Courier New" pitchFamily="34" charset="0"/>
                <a:ea typeface="Courier New" pitchFamily="34" charset="-122"/>
                <a:cs typeface="Courier New" pitchFamily="34" charset="-120"/>
              </a:rPr>
              <a:t>Ctrl+1</a:t>
            </a:r>
            <a:endParaRPr lang="en-US" sz="1200" dirty="0"/>
          </a:p>
        </p:txBody>
      </p:sp>
      <p:sp>
        <p:nvSpPr>
          <p:cNvPr id="35" name="txt-187"/>
          <p:cNvSpPr txBox="1"/>
          <p:nvPr/>
        </p:nvSpPr>
        <p:spPr>
          <a:xfrm>
            <a:off x="2468880" y="5824728"/>
            <a:ext cx="1234440" cy="292608"/>
          </a:xfrm>
          <a:prstGeom prst="rect">
            <a:avLst/>
          </a:prstGeom>
          <a:noFill/>
          <a:ln/>
        </p:spPr>
        <p:txBody>
          <a:bodyPr wrap="square" lIns="0" tIns="0" rIns="0" bIns="0" rtlCol="0" anchor="t"/>
          <a:lstStyle/>
          <a:p>
            <a:pPr marL="0" indent="0">
              <a:buNone/>
            </a:pPr>
            <a:r>
              <a:rPr lang="en-US" sz="1200" dirty="0">
                <a:solidFill>
                  <a:srgbClr val="D5D6DA"/>
                </a:solidFill>
              </a:rPr>
              <a:t>format cells</a:t>
            </a:r>
            <a:endParaRPr lang="en-US" sz="1200" dirty="0"/>
          </a:p>
        </p:txBody>
      </p:sp>
      <p:sp>
        <p:nvSpPr>
          <p:cNvPr id="36" name="txt-188"/>
          <p:cNvSpPr txBox="1"/>
          <p:nvPr/>
        </p:nvSpPr>
        <p:spPr>
          <a:xfrm>
            <a:off x="3794760" y="5824728"/>
            <a:ext cx="1691640" cy="292608"/>
          </a:xfrm>
          <a:prstGeom prst="rect">
            <a:avLst/>
          </a:prstGeom>
          <a:noFill/>
          <a:ln/>
        </p:spPr>
        <p:txBody>
          <a:bodyPr wrap="square" lIns="0" tIns="0" rIns="0" bIns="0" rtlCol="0" anchor="t"/>
          <a:lstStyle/>
          <a:p>
            <a:pPr marL="0" indent="0">
              <a:buNone/>
            </a:pPr>
            <a:r>
              <a:rPr lang="en-US" sz="1200" b="1" dirty="0">
                <a:solidFill>
                  <a:srgbClr val="FFFFFF"/>
                </a:solidFill>
                <a:latin typeface="Courier New" pitchFamily="34" charset="0"/>
                <a:ea typeface="Courier New" pitchFamily="34" charset="-122"/>
                <a:cs typeface="Courier New" pitchFamily="34" charset="-120"/>
              </a:rPr>
              <a:t>Ctrl+;</a:t>
            </a:r>
            <a:endParaRPr lang="en-US" sz="1200" dirty="0"/>
          </a:p>
        </p:txBody>
      </p:sp>
      <p:sp>
        <p:nvSpPr>
          <p:cNvPr id="37" name="txt-189"/>
          <p:cNvSpPr txBox="1"/>
          <p:nvPr/>
        </p:nvSpPr>
        <p:spPr>
          <a:xfrm>
            <a:off x="5486400" y="5824728"/>
            <a:ext cx="1234440" cy="292608"/>
          </a:xfrm>
          <a:prstGeom prst="rect">
            <a:avLst/>
          </a:prstGeom>
          <a:noFill/>
          <a:ln/>
        </p:spPr>
        <p:txBody>
          <a:bodyPr wrap="square" lIns="0" tIns="0" rIns="0" bIns="0" rtlCol="0" anchor="t"/>
          <a:lstStyle/>
          <a:p>
            <a:pPr marL="0" indent="0">
              <a:buNone/>
            </a:pPr>
            <a:r>
              <a:rPr lang="en-US" sz="1200" dirty="0">
                <a:solidFill>
                  <a:srgbClr val="D5D6DA"/>
                </a:solidFill>
              </a:rPr>
              <a:t>today's date</a:t>
            </a:r>
            <a:endParaRPr lang="en-US" sz="1200" dirty="0"/>
          </a:p>
        </p:txBody>
      </p:sp>
      <p:sp>
        <p:nvSpPr>
          <p:cNvPr id="38" name="txt-190"/>
          <p:cNvSpPr txBox="1"/>
          <p:nvPr/>
        </p:nvSpPr>
        <p:spPr>
          <a:xfrm>
            <a:off x="7223760" y="1645920"/>
            <a:ext cx="4419295" cy="320040"/>
          </a:xfrm>
          <a:prstGeom prst="rect">
            <a:avLst/>
          </a:prstGeom>
          <a:noFill/>
          <a:ln/>
        </p:spPr>
        <p:txBody>
          <a:bodyPr wrap="square" lIns="0" tIns="0" rIns="0" bIns="0" rtlCol="0" anchor="t"/>
          <a:lstStyle/>
          <a:p>
            <a:pPr marL="0" indent="0">
              <a:buNone/>
            </a:pPr>
            <a:r>
              <a:rPr lang="en-US" sz="1200" b="1" kern="0" spc="100" dirty="0">
                <a:solidFill>
                  <a:schemeClr val="accent5"/>
                </a:solidFill>
              </a:rPr>
              <a:t>SOME HELPFUL LINKS FOR INSPIRATION</a:t>
            </a:r>
            <a:endParaRPr lang="en-US" sz="1200" dirty="0"/>
          </a:p>
        </p:txBody>
      </p:sp>
      <p:sp>
        <p:nvSpPr>
          <p:cNvPr id="39" name="card-191"/>
          <p:cNvSpPr/>
          <p:nvPr/>
        </p:nvSpPr>
        <p:spPr>
          <a:xfrm>
            <a:off x="7223760" y="2057400"/>
            <a:ext cx="4419295" cy="960120"/>
          </a:xfrm>
          <a:prstGeom prst="roundRect">
            <a:avLst>
              <a:gd name="adj" fmla="val 7619"/>
            </a:avLst>
          </a:prstGeom>
          <a:solidFill>
            <a:schemeClr val="bg2"/>
          </a:solidFill>
          <a:ln/>
        </p:spPr>
        <p:txBody>
          <a:bodyPr/>
          <a:lstStyle/>
          <a:p>
            <a:endParaRPr lang="en-US"/>
          </a:p>
        </p:txBody>
      </p:sp>
      <p:sp>
        <p:nvSpPr>
          <p:cNvPr id="40" name="chip-192"/>
          <p:cNvSpPr/>
          <p:nvPr/>
        </p:nvSpPr>
        <p:spPr>
          <a:xfrm>
            <a:off x="7406640" y="2368296"/>
            <a:ext cx="777240" cy="329184"/>
          </a:xfrm>
          <a:prstGeom prst="roundRect">
            <a:avLst>
              <a:gd name="adj" fmla="val 50000"/>
            </a:avLst>
          </a:prstGeom>
          <a:solidFill>
            <a:srgbClr val="3A3D45"/>
          </a:solidFill>
          <a:ln/>
        </p:spPr>
        <p:txBody>
          <a:bodyPr/>
          <a:lstStyle/>
          <a:p>
            <a:endParaRPr lang="en-US"/>
          </a:p>
        </p:txBody>
      </p:sp>
      <p:sp>
        <p:nvSpPr>
          <p:cNvPr id="41" name="chip-t-193"/>
          <p:cNvSpPr txBox="1"/>
          <p:nvPr/>
        </p:nvSpPr>
        <p:spPr>
          <a:xfrm>
            <a:off x="7406640" y="2368296"/>
            <a:ext cx="777240" cy="329184"/>
          </a:xfrm>
          <a:prstGeom prst="rect">
            <a:avLst/>
          </a:prstGeom>
          <a:noFill/>
          <a:ln/>
        </p:spPr>
        <p:txBody>
          <a:bodyPr wrap="square" lIns="0" tIns="0" rIns="0" bIns="0" rtlCol="0" anchor="ctr"/>
          <a:lstStyle/>
          <a:p>
            <a:pPr marL="0" indent="0" algn="ctr">
              <a:buNone/>
            </a:pPr>
            <a:r>
              <a:rPr lang="en-US" sz="1100" b="1" dirty="0">
                <a:solidFill>
                  <a:schemeClr val="bg1"/>
                </a:solidFill>
              </a:rPr>
              <a:t>WEB</a:t>
            </a:r>
            <a:endParaRPr lang="en-US" sz="1100" dirty="0"/>
          </a:p>
        </p:txBody>
      </p:sp>
      <p:sp>
        <p:nvSpPr>
          <p:cNvPr id="42" name="Text 39"/>
          <p:cNvSpPr txBox="1"/>
          <p:nvPr/>
        </p:nvSpPr>
        <p:spPr>
          <a:xfrm>
            <a:off x="8366760" y="2167128"/>
            <a:ext cx="3139135" cy="365760"/>
          </a:xfrm>
          <a:prstGeom prst="rect">
            <a:avLst/>
          </a:prstGeom>
          <a:noFill/>
          <a:ln/>
        </p:spPr>
        <p:txBody>
          <a:bodyPr wrap="square" lIns="0" tIns="0" rIns="0" bIns="0" rtlCol="0" anchor="ctr"/>
          <a:lstStyle/>
          <a:p>
            <a:pPr marL="0" indent="0">
              <a:buNone/>
            </a:pPr>
            <a:r>
              <a:rPr lang="en-US" sz="1400" b="1" u="sng" dirty="0">
                <a:solidFill>
                  <a:srgbClr val="2F6EA5"/>
                </a:solidFill>
                <a:hlinkClick r:id="rId3" tooltip="https://support.microsoft.com/en-us/office/overview-of-excel-tables-7ab0bb7d-3a9e-4b56-a3c9-6c94334e492c">
                  <a:extLst>
                    <a:ext uri="{A12FA001-AC4F-418D-AE19-62706E023703}">
                      <ahyp:hlinkClr xmlns:ahyp="http://schemas.microsoft.com/office/drawing/2018/hyperlinkcolor" val="tx"/>
                    </a:ext>
                  </a:extLst>
                </a:hlinkClick>
              </a:rPr>
              <a:t>Overview of Excel tables</a:t>
            </a:r>
            <a:endParaRPr lang="en-US" sz="1400" dirty="0"/>
          </a:p>
        </p:txBody>
      </p:sp>
      <p:sp>
        <p:nvSpPr>
          <p:cNvPr id="43" name="txt-194"/>
          <p:cNvSpPr txBox="1"/>
          <p:nvPr/>
        </p:nvSpPr>
        <p:spPr>
          <a:xfrm>
            <a:off x="8366760" y="2560320"/>
            <a:ext cx="3139135" cy="411480"/>
          </a:xfrm>
          <a:prstGeom prst="rect">
            <a:avLst/>
          </a:prstGeom>
          <a:noFill/>
          <a:ln/>
        </p:spPr>
        <p:txBody>
          <a:bodyPr wrap="square" lIns="0" tIns="0" rIns="0" bIns="0" rtlCol="0" anchor="t"/>
          <a:lstStyle/>
          <a:p>
            <a:pPr marL="0" indent="0">
              <a:buNone/>
            </a:pPr>
            <a:r>
              <a:rPr lang="en-US" sz="1200" dirty="0">
                <a:solidFill>
                  <a:schemeClr val="tx2"/>
                </a:solidFill>
              </a:rPr>
              <a:t>Microsoft Support — Table features and structured refs</a:t>
            </a:r>
            <a:endParaRPr lang="en-US" sz="1200" dirty="0"/>
          </a:p>
        </p:txBody>
      </p:sp>
      <p:sp>
        <p:nvSpPr>
          <p:cNvPr id="44" name="card-195"/>
          <p:cNvSpPr/>
          <p:nvPr/>
        </p:nvSpPr>
        <p:spPr>
          <a:xfrm>
            <a:off x="7223760" y="3154680"/>
            <a:ext cx="4419295" cy="960120"/>
          </a:xfrm>
          <a:prstGeom prst="roundRect">
            <a:avLst>
              <a:gd name="adj" fmla="val 7619"/>
            </a:avLst>
          </a:prstGeom>
          <a:solidFill>
            <a:schemeClr val="bg2"/>
          </a:solidFill>
          <a:ln/>
        </p:spPr>
        <p:txBody>
          <a:bodyPr/>
          <a:lstStyle/>
          <a:p>
            <a:endParaRPr lang="en-US"/>
          </a:p>
        </p:txBody>
      </p:sp>
      <p:sp>
        <p:nvSpPr>
          <p:cNvPr id="45" name="chip-196"/>
          <p:cNvSpPr/>
          <p:nvPr/>
        </p:nvSpPr>
        <p:spPr>
          <a:xfrm>
            <a:off x="7406640" y="3465576"/>
            <a:ext cx="777240" cy="329184"/>
          </a:xfrm>
          <a:prstGeom prst="roundRect">
            <a:avLst>
              <a:gd name="adj" fmla="val 50000"/>
            </a:avLst>
          </a:prstGeom>
          <a:solidFill>
            <a:srgbClr val="C8102E"/>
          </a:solidFill>
          <a:ln/>
        </p:spPr>
        <p:txBody>
          <a:bodyPr/>
          <a:lstStyle/>
          <a:p>
            <a:endParaRPr lang="en-US"/>
          </a:p>
        </p:txBody>
      </p:sp>
      <p:sp>
        <p:nvSpPr>
          <p:cNvPr id="46" name="chip-t-197"/>
          <p:cNvSpPr txBox="1"/>
          <p:nvPr/>
        </p:nvSpPr>
        <p:spPr>
          <a:xfrm>
            <a:off x="7406640" y="3465576"/>
            <a:ext cx="777240" cy="329184"/>
          </a:xfrm>
          <a:prstGeom prst="rect">
            <a:avLst/>
          </a:prstGeom>
          <a:noFill/>
          <a:ln/>
        </p:spPr>
        <p:txBody>
          <a:bodyPr wrap="square" lIns="0" tIns="0" rIns="0" bIns="0" rtlCol="0" anchor="ctr"/>
          <a:lstStyle/>
          <a:p>
            <a:pPr marL="0" indent="0" algn="ctr">
              <a:buNone/>
            </a:pPr>
            <a:r>
              <a:rPr lang="en-US" sz="1100" b="1" dirty="0">
                <a:solidFill>
                  <a:schemeClr val="bg1"/>
                </a:solidFill>
              </a:rPr>
              <a:t>VIDEO</a:t>
            </a:r>
            <a:endParaRPr lang="en-US" sz="1100" dirty="0"/>
          </a:p>
        </p:txBody>
      </p:sp>
      <p:sp>
        <p:nvSpPr>
          <p:cNvPr id="47" name="Text 44"/>
          <p:cNvSpPr txBox="1"/>
          <p:nvPr/>
        </p:nvSpPr>
        <p:spPr>
          <a:xfrm>
            <a:off x="8366760" y="3264408"/>
            <a:ext cx="3139135" cy="365760"/>
          </a:xfrm>
          <a:prstGeom prst="rect">
            <a:avLst/>
          </a:prstGeom>
          <a:noFill/>
          <a:ln/>
        </p:spPr>
        <p:txBody>
          <a:bodyPr wrap="square" lIns="0" tIns="0" rIns="0" bIns="0" rtlCol="0" anchor="ctr"/>
          <a:lstStyle/>
          <a:p>
            <a:pPr marL="0" indent="0">
              <a:buNone/>
            </a:pPr>
            <a:r>
              <a:rPr lang="en-US" sz="1400" b="1" u="sng" dirty="0">
                <a:solidFill>
                  <a:srgbClr val="2F6EA5"/>
                </a:solidFill>
                <a:hlinkClick r:id="rId4" tooltip="https://www.youtube.com/watch?v=fA80hdoAOdU">
                  <a:extLst>
                    <a:ext uri="{A12FA001-AC4F-418D-AE19-62706E023703}">
                      <ahyp:hlinkClr xmlns:ahyp="http://schemas.microsoft.com/office/drawing/2018/hyperlinkcolor" val="tx"/>
                    </a:ext>
                  </a:extLst>
                </a:hlinkClick>
              </a:rPr>
              <a:t>Table structured references</a:t>
            </a:r>
            <a:endParaRPr lang="en-US" sz="1400" dirty="0"/>
          </a:p>
        </p:txBody>
      </p:sp>
      <p:sp>
        <p:nvSpPr>
          <p:cNvPr id="48" name="txt-198"/>
          <p:cNvSpPr txBox="1"/>
          <p:nvPr/>
        </p:nvSpPr>
        <p:spPr>
          <a:xfrm>
            <a:off x="8366760" y="3657600"/>
            <a:ext cx="3139135" cy="411480"/>
          </a:xfrm>
          <a:prstGeom prst="rect">
            <a:avLst/>
          </a:prstGeom>
          <a:noFill/>
          <a:ln/>
        </p:spPr>
        <p:txBody>
          <a:bodyPr wrap="square" lIns="0" tIns="0" rIns="0" bIns="0" rtlCol="0" anchor="t"/>
          <a:lstStyle/>
          <a:p>
            <a:pPr marL="0" indent="0">
              <a:buNone/>
            </a:pPr>
            <a:r>
              <a:rPr lang="en-US" sz="1200" dirty="0">
                <a:solidFill>
                  <a:schemeClr val="tx2"/>
                </a:solidFill>
              </a:rPr>
              <a:t>YouTube — readable, auto-expanding formulas</a:t>
            </a:r>
            <a:endParaRPr lang="en-US" sz="1200" dirty="0"/>
          </a:p>
        </p:txBody>
      </p:sp>
      <p:sp>
        <p:nvSpPr>
          <p:cNvPr id="49" name="card-199"/>
          <p:cNvSpPr/>
          <p:nvPr/>
        </p:nvSpPr>
        <p:spPr>
          <a:xfrm>
            <a:off x="7223760" y="4251960"/>
            <a:ext cx="4419295" cy="960120"/>
          </a:xfrm>
          <a:prstGeom prst="roundRect">
            <a:avLst>
              <a:gd name="adj" fmla="val 7619"/>
            </a:avLst>
          </a:prstGeom>
          <a:solidFill>
            <a:schemeClr val="bg2"/>
          </a:solidFill>
          <a:ln/>
        </p:spPr>
        <p:txBody>
          <a:bodyPr/>
          <a:lstStyle/>
          <a:p>
            <a:endParaRPr lang="en-US"/>
          </a:p>
        </p:txBody>
      </p:sp>
      <p:sp>
        <p:nvSpPr>
          <p:cNvPr id="50" name="chip-200"/>
          <p:cNvSpPr/>
          <p:nvPr/>
        </p:nvSpPr>
        <p:spPr>
          <a:xfrm>
            <a:off x="7406640" y="4562856"/>
            <a:ext cx="777240" cy="329184"/>
          </a:xfrm>
          <a:prstGeom prst="roundRect">
            <a:avLst>
              <a:gd name="adj" fmla="val 50000"/>
            </a:avLst>
          </a:prstGeom>
          <a:solidFill>
            <a:srgbClr val="3A3D45"/>
          </a:solidFill>
          <a:ln/>
        </p:spPr>
        <p:txBody>
          <a:bodyPr/>
          <a:lstStyle/>
          <a:p>
            <a:endParaRPr lang="en-US"/>
          </a:p>
        </p:txBody>
      </p:sp>
      <p:sp>
        <p:nvSpPr>
          <p:cNvPr id="51" name="chip-t-201"/>
          <p:cNvSpPr txBox="1"/>
          <p:nvPr/>
        </p:nvSpPr>
        <p:spPr>
          <a:xfrm>
            <a:off x="7406640" y="4562856"/>
            <a:ext cx="777240" cy="329184"/>
          </a:xfrm>
          <a:prstGeom prst="rect">
            <a:avLst/>
          </a:prstGeom>
          <a:noFill/>
          <a:ln/>
        </p:spPr>
        <p:txBody>
          <a:bodyPr wrap="square" lIns="0" tIns="0" rIns="0" bIns="0" rtlCol="0" anchor="ctr"/>
          <a:lstStyle/>
          <a:p>
            <a:pPr marL="0" indent="0" algn="ctr">
              <a:buNone/>
            </a:pPr>
            <a:r>
              <a:rPr lang="en-US" sz="1100" b="1" dirty="0">
                <a:solidFill>
                  <a:schemeClr val="bg1"/>
                </a:solidFill>
              </a:rPr>
              <a:t>WEB</a:t>
            </a:r>
            <a:endParaRPr lang="en-US" sz="1100" dirty="0"/>
          </a:p>
        </p:txBody>
      </p:sp>
      <p:sp>
        <p:nvSpPr>
          <p:cNvPr id="52" name="Text 49"/>
          <p:cNvSpPr txBox="1"/>
          <p:nvPr/>
        </p:nvSpPr>
        <p:spPr>
          <a:xfrm>
            <a:off x="8366760" y="4361688"/>
            <a:ext cx="3139135" cy="365760"/>
          </a:xfrm>
          <a:prstGeom prst="rect">
            <a:avLst/>
          </a:prstGeom>
          <a:noFill/>
          <a:ln/>
        </p:spPr>
        <p:txBody>
          <a:bodyPr wrap="square" lIns="0" tIns="0" rIns="0" bIns="0" rtlCol="0" anchor="ctr"/>
          <a:lstStyle/>
          <a:p>
            <a:pPr marL="0" indent="0">
              <a:buNone/>
            </a:pPr>
            <a:r>
              <a:rPr lang="en-US" sz="1400" b="1" u="sng" dirty="0">
                <a:solidFill>
                  <a:srgbClr val="2F6EA5"/>
                </a:solidFill>
                <a:hlinkClick r:id="rId5" tooltip="https://support.microsoft.com/office/keyboard-shortcuts-in-excel-1798d9d5-842a-42b8-9c99-9b7213f0040f">
                  <a:extLst>
                    <a:ext uri="{A12FA001-AC4F-418D-AE19-62706E023703}">
                      <ahyp:hlinkClr xmlns:ahyp="http://schemas.microsoft.com/office/drawing/2018/hyperlinkcolor" val="tx"/>
                    </a:ext>
                  </a:extLst>
                </a:hlinkClick>
              </a:rPr>
              <a:t>Keyboard shortcuts in Excel</a:t>
            </a:r>
            <a:endParaRPr lang="en-US" sz="1400" dirty="0"/>
          </a:p>
        </p:txBody>
      </p:sp>
      <p:sp>
        <p:nvSpPr>
          <p:cNvPr id="53" name="txt-202"/>
          <p:cNvSpPr txBox="1"/>
          <p:nvPr/>
        </p:nvSpPr>
        <p:spPr>
          <a:xfrm>
            <a:off x="8366760" y="4754880"/>
            <a:ext cx="3139135" cy="411480"/>
          </a:xfrm>
          <a:prstGeom prst="rect">
            <a:avLst/>
          </a:prstGeom>
          <a:noFill/>
          <a:ln/>
        </p:spPr>
        <p:txBody>
          <a:bodyPr wrap="square" lIns="0" tIns="0" rIns="0" bIns="0" rtlCol="0" anchor="t"/>
          <a:lstStyle/>
          <a:p>
            <a:pPr marL="0" indent="0">
              <a:buNone/>
            </a:pPr>
            <a:r>
              <a:rPr lang="en-US" sz="1200" dirty="0">
                <a:solidFill>
                  <a:schemeClr val="tx2"/>
                </a:solidFill>
              </a:rPr>
              <a:t>Microsoft Support — full shortcut reference</a:t>
            </a:r>
            <a:endParaRPr lang="en-US" sz="1200" dirty="0"/>
          </a:p>
        </p:txBody>
      </p:sp>
      <p:sp>
        <p:nvSpPr>
          <p:cNvPr id="4"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93"/>
                </a:solidFill>
              </a:defRPr>
            </a:lvl1pPr>
          </a:lstStyle>
          <a:p>
            <a:pPr algn="r"/>
            <a:fld id="{F7021451-1387-4CA6-816F-3879F97B5CBC}" type="slidenum">
              <a:rPr lang="en-US" b="0"/>
              <a:t>5</a:t>
            </a:fld>
            <a:endParaRPr lang="en-US"/>
          </a:p>
        </p:txBody>
      </p:sp>
    </p:spTree>
  </p:cSld>
  <p:clrMapOvr>
    <a:masterClrMapping/>
  </p:clrMapOvr>
</p:sld>
</file>

<file path=ppt/theme/theme1.xml><?xml version="1.0" encoding="utf-8"?>
<a:theme xmlns:a="http://schemas.openxmlformats.org/drawingml/2006/main" name="INSY442 Review">
  <a:themeElements>
    <a:clrScheme name="INSY442 Review">
      <a:dk1>
        <a:srgbClr val="1E1F24"/>
      </a:dk1>
      <a:lt1>
        <a:srgbClr val="FFFFFF"/>
      </a:lt1>
      <a:dk2>
        <a:srgbClr val="3A3D45"/>
      </a:dk2>
      <a:lt2>
        <a:srgbClr val="F2F2F4"/>
      </a:lt2>
      <a:accent1>
        <a:srgbClr val="C8102E"/>
      </a:accent1>
      <a:accent2>
        <a:srgbClr val="E8A33D"/>
      </a:accent2>
      <a:accent3>
        <a:srgbClr val="2F6EA5"/>
      </a:accent3>
      <a:accent4>
        <a:srgbClr val="3D8B5F"/>
      </a:accent4>
      <a:accent5>
        <a:srgbClr val="8A8D93"/>
      </a:accent5>
      <a:accent6>
        <a:srgbClr val="7A0E1E"/>
      </a:accent6>
      <a:hlink>
        <a:srgbClr val="2F6EA5"/>
      </a:hlink>
      <a:folHlink>
        <a:srgbClr val="7A0E1E"/>
      </a:folHlink>
    </a:clrScheme>
    <a:fontScheme name="INSY442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1052</Words>
  <Application>Microsoft Macintosh PowerPoint</Application>
  <PresentationFormat>Widescreen</PresentationFormat>
  <Paragraphs>183</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Cambria</vt:lpstr>
      <vt:lpstr>Courier New</vt:lpstr>
      <vt:lpstr>INSY442 Review</vt:lpstr>
      <vt:lpstr>Excel in INSY 442</vt:lpstr>
      <vt:lpstr>What the four Excel classes covered</vt:lpstr>
      <vt:lpstr>19 of 34 topics repeat MGCR 331 — move them to self-review in week 1</vt:lpstr>
      <vt:lpstr>Use a freed class for hands-on data cleaning</vt:lpstr>
      <vt:lpstr>Teach organization and speed habits analysts use daily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Streamlining Excel in INSY 442</dc:title>
  <dc:subject>PptxGenJS Presentation</dc:subject>
  <dc:creator>INSY 442 Research Assistant</dc:creator>
  <cp:lastModifiedBy>Cindy Liu</cp:lastModifiedBy>
  <cp:revision>12</cp:revision>
  <dcterms:created xsi:type="dcterms:W3CDTF">2026-10-16T00:26:04Z</dcterms:created>
  <dcterms:modified xsi:type="dcterms:W3CDTF">2026-10-16T00:36:14Z</dcterms:modified>
</cp:coreProperties>
</file>