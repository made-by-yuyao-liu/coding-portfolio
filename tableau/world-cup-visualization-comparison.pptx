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780"/>
    <p:restoredTop sz="94610"/>
  </p:normalViewPr>
  <p:slideViewPr>
    <p:cSldViewPr snapToGrid="0" snapToObjects="1">
      <p:cViewPr>
        <p:scale>
          <a:sx n="94" d="100"/>
          <a:sy n="94" d="100"/>
        </p:scale>
        <p:origin x="648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2280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hyperlink" Target="https://www.kaggle.com/datasets/mominullptr/fifa-world-cup-2026-dataset?select=squads_and_players.csv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kaggle.com/datasets/mominullptr/fifa-world-cup-2026-dataset?select=player_stats.csv" TargetMode="External"/><Relationship Id="rId5" Type="http://schemas.openxmlformats.org/officeDocument/2006/relationships/image" Target="../media/image2.png"/><Relationship Id="rId4" Type="http://schemas.openxmlformats.org/officeDocument/2006/relationships/hyperlink" Target="https://www.reddit.com/r/dataisbeautiful/comments/1uk8agk/oc_selfupdating_circular_2026_world_cup_bracket/" TargetMode="External"/><Relationship Id="rId9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2427712" y="1156716"/>
            <a:ext cx="7336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kern="0" spc="200" dirty="0">
                <a:solidFill>
                  <a:srgbClr val="E8B0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INSY 442 · DATA ANALYSIS &amp; VISUALIZATION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652351" y="2159132"/>
            <a:ext cx="10887298" cy="1219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Good vs. Bad Data </a:t>
            </a:r>
          </a:p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Visualizations in Tableau</a:t>
            </a:r>
            <a:endParaRPr lang="en-US" sz="5000" dirty="0"/>
          </a:p>
        </p:txBody>
      </p:sp>
      <p:sp>
        <p:nvSpPr>
          <p:cNvPr id="5" name="Text 3"/>
          <p:cNvSpPr txBox="1"/>
          <p:nvPr/>
        </p:nvSpPr>
        <p:spPr>
          <a:xfrm>
            <a:off x="3375363" y="4285844"/>
            <a:ext cx="5257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DCE6F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Visualization design Comparisons and Rationale </a:t>
            </a:r>
          </a:p>
          <a:p>
            <a:pPr marL="0" indent="0" algn="ctr">
              <a:buNone/>
            </a:pPr>
            <a:r>
              <a:rPr lang="en-US" sz="2000" i="1" dirty="0">
                <a:solidFill>
                  <a:srgbClr val="DCE6F2"/>
                </a:solidFill>
                <a:latin typeface="Palatino Linotype" pitchFamily="34" charset="0"/>
              </a:rPr>
              <a:t>Using 2026 FIFA World Cup Data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734567" cy="6858000"/>
          </a:xfrm>
          <a:prstGeom prst="rect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24128" y="627888"/>
            <a:ext cx="2103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24128" y="6278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kern="0" spc="200" dirty="0">
                <a:solidFill>
                  <a:srgbClr val="D51B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AGENDA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024127" y="1542288"/>
            <a:ext cx="5266313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Topic inspiration &amp; data sources</a:t>
            </a:r>
            <a:endParaRPr lang="en-US" sz="2000" dirty="0"/>
          </a:p>
          <a:p>
            <a:pPr marL="342900" indent="-342900">
              <a:spcAft>
                <a:spcPts val="18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Q1 · Most valuable squads</a:t>
            </a:r>
            <a:endParaRPr lang="en-US" sz="2000" dirty="0"/>
          </a:p>
          <a:p>
            <a:pPr marL="342900" indent="-342900">
              <a:spcAft>
                <a:spcPts val="18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Q2 · Experience vs. market value</a:t>
            </a:r>
            <a:endParaRPr lang="en-US" sz="2000" dirty="0"/>
          </a:p>
          <a:p>
            <a:pPr marL="342900" indent="-342900">
              <a:spcAft>
                <a:spcPts val="18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Q3 · Squad value by position</a:t>
            </a:r>
            <a:endParaRPr lang="en-US" sz="2000" dirty="0"/>
          </a:p>
          <a:p>
            <a:pPr marL="342900" indent="-342900">
              <a:spcAft>
                <a:spcPts val="18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Q4 · Player age profile</a:t>
            </a:r>
            <a:endParaRPr lang="en-US" sz="2000" dirty="0"/>
          </a:p>
          <a:p>
            <a:pPr marL="342900" indent="-342900">
              <a:spcAft>
                <a:spcPts val="18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Q5 · Attacking output vs. playing time</a:t>
            </a:r>
            <a:endParaRPr lang="en-US" sz="2000" dirty="0"/>
          </a:p>
          <a:p>
            <a:pPr marL="342900" indent="-342900">
              <a:spcAft>
                <a:spcPts val="18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Q6 · Market value across ages</a:t>
            </a:r>
            <a:endParaRPr lang="en-US" sz="2000" dirty="0"/>
          </a:p>
          <a:p>
            <a:pPr marL="342900" indent="-342900">
              <a:spcAft>
                <a:spcPts val="18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Key takeaways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8485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1. Topic Inspiration &amp; Data Sources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120640" cy="365760"/>
          </a:xfrm>
          <a:prstGeom prst="rect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Topic Inspiration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5120640" cy="10515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65960"/>
            <a:ext cx="502920" cy="5029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08760" y="1737360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r/dataisbeautiful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u="sng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[OC] Self-updating circular 2026 World Cup bracket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2944368"/>
            <a:ext cx="5120640" cy="365760"/>
          </a:xfrm>
          <a:prstGeom prst="rect">
            <a:avLst/>
          </a:prstGeom>
          <a:solidFill>
            <a:srgbClr val="D51B24"/>
          </a:solidFill>
          <a:ln w="12700">
            <a:solidFill>
              <a:srgbClr val="D51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457200" y="29443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Dataset Source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3310128"/>
            <a:ext cx="5120640" cy="10515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584448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508760" y="3355848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Kaggle · FIFA World Cup 2026 Dataset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u="sng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player_stats.csv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u="sng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squads_and_players.csv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57200" y="4562856"/>
            <a:ext cx="5120640" cy="365760"/>
          </a:xfrm>
          <a:prstGeom prst="rect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457200" y="456285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Analysis Scope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57200" y="4928616"/>
            <a:ext cx="5120640" cy="10515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5202936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508760" y="4974336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Squad-level and player-level views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i="1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Market value, caps, age, minutes, goals &amp; assists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035040" y="1325880"/>
            <a:ext cx="0" cy="4617720"/>
          </a:xfrm>
          <a:prstGeom prst="line">
            <a:avLst/>
          </a:prstGeom>
          <a:noFill/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5861304" y="3461004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61888" y="3561588"/>
            <a:ext cx="146304" cy="14630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492240" y="128016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Dataset at a Glance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6492240" y="1645920"/>
            <a:ext cx="525780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6492240" y="1920240"/>
            <a:ext cx="2491740" cy="19202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 txBox="1"/>
          <p:nvPr/>
        </p:nvSpPr>
        <p:spPr>
          <a:xfrm>
            <a:off x="6492240" y="2148840"/>
            <a:ext cx="24917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48</a:t>
            </a:r>
            <a:endParaRPr lang="en-US" sz="4400" dirty="0"/>
          </a:p>
        </p:txBody>
      </p:sp>
      <p:sp>
        <p:nvSpPr>
          <p:cNvPr id="27" name="Text 21"/>
          <p:cNvSpPr txBox="1"/>
          <p:nvPr/>
        </p:nvSpPr>
        <p:spPr>
          <a:xfrm>
            <a:off x="6675120" y="3108960"/>
            <a:ext cx="21259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National squads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9258300" y="1920240"/>
            <a:ext cx="2491740" cy="19202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 txBox="1"/>
          <p:nvPr/>
        </p:nvSpPr>
        <p:spPr>
          <a:xfrm>
            <a:off x="9258300" y="2148840"/>
            <a:ext cx="24917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4400" dirty="0"/>
          </a:p>
        </p:txBody>
      </p:sp>
      <p:sp>
        <p:nvSpPr>
          <p:cNvPr id="30" name="Text 24"/>
          <p:cNvSpPr txBox="1"/>
          <p:nvPr/>
        </p:nvSpPr>
        <p:spPr>
          <a:xfrm>
            <a:off x="9441180" y="3108960"/>
            <a:ext cx="21259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Playing positions (GK, DEF, MID, FWD)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6492240" y="4114800"/>
            <a:ext cx="2491740" cy="19202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 txBox="1"/>
          <p:nvPr/>
        </p:nvSpPr>
        <p:spPr>
          <a:xfrm>
            <a:off x="6492240" y="4343400"/>
            <a:ext cx="24917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4400" dirty="0"/>
          </a:p>
        </p:txBody>
      </p:sp>
      <p:sp>
        <p:nvSpPr>
          <p:cNvPr id="33" name="Text 27"/>
          <p:cNvSpPr txBox="1"/>
          <p:nvPr/>
        </p:nvSpPr>
        <p:spPr>
          <a:xfrm>
            <a:off x="6675120" y="5303520"/>
            <a:ext cx="21259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Kaggle CSV files joined</a:t>
            </a:r>
            <a:endParaRPr lang="en-US" sz="1300" dirty="0"/>
          </a:p>
        </p:txBody>
      </p:sp>
      <p:sp>
        <p:nvSpPr>
          <p:cNvPr id="34" name="Shape 28"/>
          <p:cNvSpPr/>
          <p:nvPr/>
        </p:nvSpPr>
        <p:spPr>
          <a:xfrm>
            <a:off x="9258300" y="4114800"/>
            <a:ext cx="2491740" cy="19202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 txBox="1"/>
          <p:nvPr/>
        </p:nvSpPr>
        <p:spPr>
          <a:xfrm>
            <a:off x="9258300" y="4343400"/>
            <a:ext cx="24917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51B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</a:t>
            </a:r>
            <a:endParaRPr lang="en-US" sz="4400" dirty="0"/>
          </a:p>
        </p:txBody>
      </p:sp>
      <p:sp>
        <p:nvSpPr>
          <p:cNvPr id="36" name="Text 30"/>
          <p:cNvSpPr txBox="1"/>
          <p:nvPr/>
        </p:nvSpPr>
        <p:spPr>
          <a:xfrm>
            <a:off x="9441180" y="5303520"/>
            <a:ext cx="21259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Business questions tested</a:t>
            </a:r>
            <a:endParaRPr lang="en-US" sz="1300" dirty="0"/>
          </a:p>
        </p:txBody>
      </p:sp>
      <p:sp>
        <p:nvSpPr>
          <p:cNvPr id="37" name="Shape 31"/>
          <p:cNvSpPr/>
          <p:nvPr/>
        </p:nvSpPr>
        <p:spPr>
          <a:xfrm>
            <a:off x="822960" y="6382512"/>
            <a:ext cx="100584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2"/>
          <p:cNvSpPr/>
          <p:nvPr/>
        </p:nvSpPr>
        <p:spPr>
          <a:xfrm>
            <a:off x="731520" y="6291072"/>
            <a:ext cx="182880" cy="182880"/>
          </a:xfrm>
          <a:prstGeom prst="ellipse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3"/>
          <p:cNvSpPr txBox="1"/>
          <p:nvPr/>
        </p:nvSpPr>
        <p:spPr>
          <a:xfrm>
            <a:off x="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Data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2205010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5"/>
          <p:cNvSpPr txBox="1"/>
          <p:nvPr/>
        </p:nvSpPr>
        <p:spPr>
          <a:xfrm>
            <a:off x="1436914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Q1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3641925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7"/>
          <p:cNvSpPr txBox="1"/>
          <p:nvPr/>
        </p:nvSpPr>
        <p:spPr>
          <a:xfrm>
            <a:off x="2873829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Q2</a:t>
            </a:r>
            <a:endParaRPr lang="en-US" sz="900" dirty="0"/>
          </a:p>
        </p:txBody>
      </p:sp>
      <p:sp>
        <p:nvSpPr>
          <p:cNvPr id="44" name="Shape 38"/>
          <p:cNvSpPr/>
          <p:nvPr/>
        </p:nvSpPr>
        <p:spPr>
          <a:xfrm>
            <a:off x="5078839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9"/>
          <p:cNvSpPr txBox="1"/>
          <p:nvPr/>
        </p:nvSpPr>
        <p:spPr>
          <a:xfrm>
            <a:off x="4310743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Q3</a:t>
            </a:r>
            <a:endParaRPr lang="en-US" sz="900" dirty="0"/>
          </a:p>
        </p:txBody>
      </p:sp>
      <p:sp>
        <p:nvSpPr>
          <p:cNvPr id="46" name="Shape 40"/>
          <p:cNvSpPr/>
          <p:nvPr/>
        </p:nvSpPr>
        <p:spPr>
          <a:xfrm>
            <a:off x="6515753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1"/>
          <p:cNvSpPr txBox="1"/>
          <p:nvPr/>
        </p:nvSpPr>
        <p:spPr>
          <a:xfrm>
            <a:off x="5747657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Q4</a:t>
            </a:r>
            <a:endParaRPr lang="en-US" sz="900" dirty="0"/>
          </a:p>
        </p:txBody>
      </p:sp>
      <p:sp>
        <p:nvSpPr>
          <p:cNvPr id="48" name="Shape 42"/>
          <p:cNvSpPr/>
          <p:nvPr/>
        </p:nvSpPr>
        <p:spPr>
          <a:xfrm>
            <a:off x="7952667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3"/>
          <p:cNvSpPr txBox="1"/>
          <p:nvPr/>
        </p:nvSpPr>
        <p:spPr>
          <a:xfrm>
            <a:off x="7184571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Q5</a:t>
            </a:r>
            <a:endParaRPr lang="en-US" sz="900" dirty="0"/>
          </a:p>
        </p:txBody>
      </p:sp>
      <p:sp>
        <p:nvSpPr>
          <p:cNvPr id="50" name="Shape 44"/>
          <p:cNvSpPr/>
          <p:nvPr/>
        </p:nvSpPr>
        <p:spPr>
          <a:xfrm>
            <a:off x="9389582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5"/>
          <p:cNvSpPr txBox="1"/>
          <p:nvPr/>
        </p:nvSpPr>
        <p:spPr>
          <a:xfrm>
            <a:off x="8621486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Q6</a:t>
            </a:r>
            <a:endParaRPr lang="en-US" sz="900" dirty="0"/>
          </a:p>
        </p:txBody>
      </p:sp>
      <p:sp>
        <p:nvSpPr>
          <p:cNvPr id="52" name="Shape 46"/>
          <p:cNvSpPr/>
          <p:nvPr/>
        </p:nvSpPr>
        <p:spPr>
          <a:xfrm>
            <a:off x="108264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47"/>
          <p:cNvSpPr txBox="1"/>
          <p:nvPr/>
        </p:nvSpPr>
        <p:spPr>
          <a:xfrm>
            <a:off x="10058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Takeaways</a:t>
            </a:r>
            <a:endParaRPr lang="en-US" sz="900" dirty="0"/>
          </a:p>
        </p:txBody>
      </p:sp>
      <p:sp>
        <p:nvSpPr>
          <p:cNvPr id="54" name="Text 48"/>
          <p:cNvSpPr txBox="1"/>
          <p:nvPr/>
        </p:nvSpPr>
        <p:spPr>
          <a:xfrm>
            <a:off x="11384280" y="6245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2.1  Packed bubbles make squad values hard to rank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Question 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420624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47672"/>
            <a:ext cx="475488" cy="47548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71600" y="17373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Which countries have the most valuable World Cup squads?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880360"/>
            <a:ext cx="4206240" cy="365760"/>
          </a:xfrm>
          <a:prstGeom prst="rect">
            <a:avLst/>
          </a:prstGeom>
          <a:solidFill>
            <a:srgbClr val="D51B24"/>
          </a:solidFill>
          <a:ln w="12700">
            <a:solidFill>
              <a:srgbClr val="D51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457200" y="2880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Why this visualization doesn't work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3246120"/>
            <a:ext cx="4206240" cy="27432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3832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24128" y="33649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51B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Packed bubble chart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640080" y="3749040"/>
            <a:ext cx="388620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Bubble sizes are difficult to compare precisely, especially when squad values are similar.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Too many colors add unnecessary visual clutter.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Countries are not clearly ranked, making it difficult to identify the most valuable squads.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Exact market values are not immediately visible.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029200" y="1325880"/>
            <a:ext cx="0" cy="4663440"/>
          </a:xfrm>
          <a:prstGeom prst="line">
            <a:avLst/>
          </a:prstGeom>
          <a:noFill/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855464" y="3483864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3584448"/>
            <a:ext cx="146304" cy="14630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394960" y="1280160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Visualization — Packed bubble chart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394960" y="1645920"/>
            <a:ext cx="635508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img/tab_image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9287" y="1810512"/>
            <a:ext cx="4506427" cy="4178808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6319287" y="1810512"/>
            <a:ext cx="4506427" cy="4178808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822960" y="6382512"/>
            <a:ext cx="100584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7680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 txBox="1"/>
          <p:nvPr/>
        </p:nvSpPr>
        <p:spPr>
          <a:xfrm>
            <a:off x="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Data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2168434" y="6291072"/>
            <a:ext cx="182880" cy="182880"/>
          </a:xfrm>
          <a:prstGeom prst="ellipse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 txBox="1"/>
          <p:nvPr/>
        </p:nvSpPr>
        <p:spPr>
          <a:xfrm>
            <a:off x="1436914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Q1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3641925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 txBox="1"/>
          <p:nvPr/>
        </p:nvSpPr>
        <p:spPr>
          <a:xfrm>
            <a:off x="2873829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Q2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5078839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 txBox="1"/>
          <p:nvPr/>
        </p:nvSpPr>
        <p:spPr>
          <a:xfrm>
            <a:off x="4310743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Q3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6515753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 txBox="1"/>
          <p:nvPr/>
        </p:nvSpPr>
        <p:spPr>
          <a:xfrm>
            <a:off x="5747657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Q4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7952667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 txBox="1"/>
          <p:nvPr/>
        </p:nvSpPr>
        <p:spPr>
          <a:xfrm>
            <a:off x="7184571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Q5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9389582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1"/>
          <p:cNvSpPr txBox="1"/>
          <p:nvPr/>
        </p:nvSpPr>
        <p:spPr>
          <a:xfrm>
            <a:off x="8621486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Q6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108264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3"/>
          <p:cNvSpPr txBox="1"/>
          <p:nvPr/>
        </p:nvSpPr>
        <p:spPr>
          <a:xfrm>
            <a:off x="10058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Takeaways</a:t>
            </a:r>
            <a:endParaRPr lang="en-US" sz="900" dirty="0"/>
          </a:p>
        </p:txBody>
      </p:sp>
      <p:sp>
        <p:nvSpPr>
          <p:cNvPr id="40" name="Text 34"/>
          <p:cNvSpPr txBox="1"/>
          <p:nvPr/>
        </p:nvSpPr>
        <p:spPr>
          <a:xfrm>
            <a:off x="11384280" y="6245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2.2  A sorted bar chart ranks squad values precisely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Question 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420624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47672"/>
            <a:ext cx="475488" cy="47548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71600" y="17373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Which countries have the most valuable World Cup squads?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880360"/>
            <a:ext cx="4206240" cy="365760"/>
          </a:xfrm>
          <a:prstGeom prst="rect">
            <a:avLst/>
          </a:prstGeom>
          <a:solidFill>
            <a:srgbClr val="156664"/>
          </a:solidFill>
          <a:ln w="12700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457200" y="2880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Why this visualization works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3246120"/>
            <a:ext cx="4206240" cy="27432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3832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24128" y="33649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66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Horizontal bar chart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640080" y="3749040"/>
            <a:ext cx="388620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Horizontal bars allow easy and accurate comparison of squad values.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Countries are clearly ranked from highest to lowest.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Data labels show exact market values.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Consistent colors reduce clutter and keep attention on the data.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chart directly answers which countries have the most valuable squads.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029200" y="1325880"/>
            <a:ext cx="0" cy="4663440"/>
          </a:xfrm>
          <a:prstGeom prst="line">
            <a:avLst/>
          </a:prstGeom>
          <a:noFill/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855464" y="3483864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3584448"/>
            <a:ext cx="146304" cy="14630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394960" y="1280160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Visualization — Horizontal bar chart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394960" y="1645920"/>
            <a:ext cx="635508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img/tab_image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4960" y="1900565"/>
            <a:ext cx="6355080" cy="3998702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5394960" y="1900565"/>
            <a:ext cx="6355080" cy="3998702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822960" y="6382512"/>
            <a:ext cx="100584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7680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 txBox="1"/>
          <p:nvPr/>
        </p:nvSpPr>
        <p:spPr>
          <a:xfrm>
            <a:off x="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Data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2168434" y="6291072"/>
            <a:ext cx="182880" cy="182880"/>
          </a:xfrm>
          <a:prstGeom prst="ellipse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 txBox="1"/>
          <p:nvPr/>
        </p:nvSpPr>
        <p:spPr>
          <a:xfrm>
            <a:off x="1436914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Q1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3641925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 txBox="1"/>
          <p:nvPr/>
        </p:nvSpPr>
        <p:spPr>
          <a:xfrm>
            <a:off x="2873829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Q2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5078839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 txBox="1"/>
          <p:nvPr/>
        </p:nvSpPr>
        <p:spPr>
          <a:xfrm>
            <a:off x="4310743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Q3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6515753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 txBox="1"/>
          <p:nvPr/>
        </p:nvSpPr>
        <p:spPr>
          <a:xfrm>
            <a:off x="5747657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Q4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7952667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 txBox="1"/>
          <p:nvPr/>
        </p:nvSpPr>
        <p:spPr>
          <a:xfrm>
            <a:off x="7184571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Q5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9389582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1"/>
          <p:cNvSpPr txBox="1"/>
          <p:nvPr/>
        </p:nvSpPr>
        <p:spPr>
          <a:xfrm>
            <a:off x="8621486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Q6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108264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3"/>
          <p:cNvSpPr txBox="1"/>
          <p:nvPr/>
        </p:nvSpPr>
        <p:spPr>
          <a:xfrm>
            <a:off x="10058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Takeaways</a:t>
            </a:r>
            <a:endParaRPr lang="en-US" sz="900" dirty="0"/>
          </a:p>
        </p:txBody>
      </p:sp>
      <p:sp>
        <p:nvSpPr>
          <p:cNvPr id="40" name="Text 34"/>
          <p:cNvSpPr txBox="1"/>
          <p:nvPr/>
        </p:nvSpPr>
        <p:spPr>
          <a:xfrm>
            <a:off x="11384280" y="6245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3.1  Averaged cap ranges hide the real relationship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Question 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420624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47672"/>
            <a:ext cx="475488" cy="47548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71600" y="17373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Does international experience relate to a player’s market value?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880360"/>
            <a:ext cx="4206240" cy="365760"/>
          </a:xfrm>
          <a:prstGeom prst="rect">
            <a:avLst/>
          </a:prstGeom>
          <a:solidFill>
            <a:srgbClr val="D51B24"/>
          </a:solidFill>
          <a:ln w="12700">
            <a:solidFill>
              <a:srgbClr val="D51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457200" y="2880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Why this visualization doesn't work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3246120"/>
            <a:ext cx="4206240" cy="27432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3832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24128" y="33649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51B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Vertical bar chart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640080" y="3749040"/>
            <a:ext cx="388620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Grouping caps into ranges hides differences between individual players.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Using averages hides the distribution and outliers within each group.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caps ranges are arbitrary and can affect the apparent pattern.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It doesn't show the relationship between caps and market value as directly as a scatterplot.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Example: 41–60 caps appears to have the highest value (€22.36M), but we can't see whether that's a general pattern or driven by a few very valuable players.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029200" y="1325880"/>
            <a:ext cx="0" cy="4663440"/>
          </a:xfrm>
          <a:prstGeom prst="line">
            <a:avLst/>
          </a:prstGeom>
          <a:noFill/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855464" y="3483864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3584448"/>
            <a:ext cx="146304" cy="14630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394960" y="1280160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Visualization — Vertical bar chart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394960" y="1645920"/>
            <a:ext cx="635508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img/tab_image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8084" y="1810512"/>
            <a:ext cx="6348832" cy="4178808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5398084" y="1810512"/>
            <a:ext cx="6348832" cy="4178808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822960" y="6382512"/>
            <a:ext cx="100584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7680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 txBox="1"/>
          <p:nvPr/>
        </p:nvSpPr>
        <p:spPr>
          <a:xfrm>
            <a:off x="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Data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2205010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 txBox="1"/>
          <p:nvPr/>
        </p:nvSpPr>
        <p:spPr>
          <a:xfrm>
            <a:off x="1436914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Q1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3605349" y="6291072"/>
            <a:ext cx="182880" cy="182880"/>
          </a:xfrm>
          <a:prstGeom prst="ellipse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 txBox="1"/>
          <p:nvPr/>
        </p:nvSpPr>
        <p:spPr>
          <a:xfrm>
            <a:off x="2873829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Q2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5078839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 txBox="1"/>
          <p:nvPr/>
        </p:nvSpPr>
        <p:spPr>
          <a:xfrm>
            <a:off x="4310743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Q3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6515753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 txBox="1"/>
          <p:nvPr/>
        </p:nvSpPr>
        <p:spPr>
          <a:xfrm>
            <a:off x="5747657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Q4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7952667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 txBox="1"/>
          <p:nvPr/>
        </p:nvSpPr>
        <p:spPr>
          <a:xfrm>
            <a:off x="7184571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Q5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9389582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1"/>
          <p:cNvSpPr txBox="1"/>
          <p:nvPr/>
        </p:nvSpPr>
        <p:spPr>
          <a:xfrm>
            <a:off x="8621486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Q6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108264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3"/>
          <p:cNvSpPr txBox="1"/>
          <p:nvPr/>
        </p:nvSpPr>
        <p:spPr>
          <a:xfrm>
            <a:off x="10058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Takeaways</a:t>
            </a:r>
            <a:endParaRPr lang="en-US" sz="900" dirty="0"/>
          </a:p>
        </p:txBody>
      </p:sp>
      <p:sp>
        <p:nvSpPr>
          <p:cNvPr id="40" name="Text 34"/>
          <p:cNvSpPr txBox="1"/>
          <p:nvPr/>
        </p:nvSpPr>
        <p:spPr>
          <a:xfrm>
            <a:off x="11384280" y="6245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3.2  A scatter plot with trend lines shows the relationship by position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Question 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420624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47672"/>
            <a:ext cx="475488" cy="47548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71600" y="17373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Does international experience relate to a player’s market value?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880360"/>
            <a:ext cx="4206240" cy="365760"/>
          </a:xfrm>
          <a:prstGeom prst="rect">
            <a:avLst/>
          </a:prstGeom>
          <a:solidFill>
            <a:srgbClr val="156664"/>
          </a:solidFill>
          <a:ln w="12700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457200" y="2880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Why this visualization works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3246120"/>
            <a:ext cx="4206240" cy="27432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3832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24128" y="33649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66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Scatter plot with trend lines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640080" y="3749040"/>
            <a:ext cx="388620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Appropriate for showing the relationship between two quantitative variables: caps and market value.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Each dot represents an individual player, preserving variation and making outliers visible.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Position is distinguished by color, allowing comparisons across player roles.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Trend lines make the overall relationship easier to identify for each position.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Avoids arbitrary grouping, so no information is lost by putting players into caps ranges.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Shows that the relationship may differ by position, adding another layer of insight.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029200" y="1325880"/>
            <a:ext cx="0" cy="4663440"/>
          </a:xfrm>
          <a:prstGeom prst="line">
            <a:avLst/>
          </a:prstGeom>
          <a:noFill/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855464" y="3483864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3584448"/>
            <a:ext cx="146304" cy="14630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394960" y="1280160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Visualization — Scatter plot with trend lines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394960" y="1645920"/>
            <a:ext cx="635508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img/tab_image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9624" y="1810512"/>
            <a:ext cx="5685753" cy="4178808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5729624" y="1810512"/>
            <a:ext cx="5685753" cy="4178808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822960" y="6382512"/>
            <a:ext cx="100584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7680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 txBox="1"/>
          <p:nvPr/>
        </p:nvSpPr>
        <p:spPr>
          <a:xfrm>
            <a:off x="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Data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2205010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 txBox="1"/>
          <p:nvPr/>
        </p:nvSpPr>
        <p:spPr>
          <a:xfrm>
            <a:off x="1436914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Q1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3605349" y="6291072"/>
            <a:ext cx="182880" cy="182880"/>
          </a:xfrm>
          <a:prstGeom prst="ellipse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 txBox="1"/>
          <p:nvPr/>
        </p:nvSpPr>
        <p:spPr>
          <a:xfrm>
            <a:off x="2873829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Q2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5078839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 txBox="1"/>
          <p:nvPr/>
        </p:nvSpPr>
        <p:spPr>
          <a:xfrm>
            <a:off x="4310743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Q3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6515753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 txBox="1"/>
          <p:nvPr/>
        </p:nvSpPr>
        <p:spPr>
          <a:xfrm>
            <a:off x="5747657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Q4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7952667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 txBox="1"/>
          <p:nvPr/>
        </p:nvSpPr>
        <p:spPr>
          <a:xfrm>
            <a:off x="7184571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Q5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9389582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1"/>
          <p:cNvSpPr txBox="1"/>
          <p:nvPr/>
        </p:nvSpPr>
        <p:spPr>
          <a:xfrm>
            <a:off x="8621486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Q6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108264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3"/>
          <p:cNvSpPr txBox="1"/>
          <p:nvPr/>
        </p:nvSpPr>
        <p:spPr>
          <a:xfrm>
            <a:off x="10058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Takeaways</a:t>
            </a:r>
            <a:endParaRPr lang="en-US" sz="900" dirty="0"/>
          </a:p>
        </p:txBody>
      </p:sp>
      <p:sp>
        <p:nvSpPr>
          <p:cNvPr id="40" name="Text 34"/>
          <p:cNvSpPr txBox="1"/>
          <p:nvPr/>
        </p:nvSpPr>
        <p:spPr>
          <a:xfrm>
            <a:off x="11384280" y="6245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4.1  Absolute values across four panels obscure squad composition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Question 3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420624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47672"/>
            <a:ext cx="475488" cy="47548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71600" y="17373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How does squad market-value composition differ by playing position across countries?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880360"/>
            <a:ext cx="4206240" cy="365760"/>
          </a:xfrm>
          <a:prstGeom prst="rect">
            <a:avLst/>
          </a:prstGeom>
          <a:solidFill>
            <a:srgbClr val="D51B24"/>
          </a:solidFill>
          <a:ln w="12700">
            <a:solidFill>
              <a:srgbClr val="D51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457200" y="2880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Why this visualization doesn't work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3246120"/>
            <a:ext cx="4206240" cy="27432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3832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24128" y="33649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51B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Small multiples bar chart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640080" y="3749040"/>
            <a:ext cx="388620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Uses absolute market value rather than each position's share of total squad value, making composition difficult to compare.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Countries with very high total market values visually dominate the chart.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Positions are split into four panels, so viewers must look back and forth to understand one country's composition.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With 48 countries, there is still a lot of information to scan.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Hard to answer questions like “Which country has the greatest share of its squad value in forwards?”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029200" y="1325880"/>
            <a:ext cx="0" cy="4663440"/>
          </a:xfrm>
          <a:prstGeom prst="line">
            <a:avLst/>
          </a:prstGeom>
          <a:noFill/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855464" y="3483864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3584448"/>
            <a:ext cx="146304" cy="14630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394960" y="1280160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Visualization — Small multiples bar chart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394960" y="1645920"/>
            <a:ext cx="635508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img/tab_image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3609" y="1810512"/>
            <a:ext cx="6197783" cy="4178808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5473609" y="1810512"/>
            <a:ext cx="6197783" cy="4178808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822960" y="6382512"/>
            <a:ext cx="100584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7680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 txBox="1"/>
          <p:nvPr/>
        </p:nvSpPr>
        <p:spPr>
          <a:xfrm>
            <a:off x="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Data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2205010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 txBox="1"/>
          <p:nvPr/>
        </p:nvSpPr>
        <p:spPr>
          <a:xfrm>
            <a:off x="1436914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Q1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3641925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 txBox="1"/>
          <p:nvPr/>
        </p:nvSpPr>
        <p:spPr>
          <a:xfrm>
            <a:off x="2873829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Q2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5042263" y="6291072"/>
            <a:ext cx="182880" cy="182880"/>
          </a:xfrm>
          <a:prstGeom prst="ellipse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 txBox="1"/>
          <p:nvPr/>
        </p:nvSpPr>
        <p:spPr>
          <a:xfrm>
            <a:off x="4310743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Q3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6515753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 txBox="1"/>
          <p:nvPr/>
        </p:nvSpPr>
        <p:spPr>
          <a:xfrm>
            <a:off x="5747657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Q4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7952667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 txBox="1"/>
          <p:nvPr/>
        </p:nvSpPr>
        <p:spPr>
          <a:xfrm>
            <a:off x="7184571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Q5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9389582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1"/>
          <p:cNvSpPr txBox="1"/>
          <p:nvPr/>
        </p:nvSpPr>
        <p:spPr>
          <a:xfrm>
            <a:off x="8621486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Q6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108264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3"/>
          <p:cNvSpPr txBox="1"/>
          <p:nvPr/>
        </p:nvSpPr>
        <p:spPr>
          <a:xfrm>
            <a:off x="10058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Takeaways</a:t>
            </a:r>
            <a:endParaRPr lang="en-US" sz="900" dirty="0"/>
          </a:p>
        </p:txBody>
      </p:sp>
      <p:sp>
        <p:nvSpPr>
          <p:cNvPr id="40" name="Text 34"/>
          <p:cNvSpPr txBox="1"/>
          <p:nvPr/>
        </p:nvSpPr>
        <p:spPr>
          <a:xfrm>
            <a:off x="11384280" y="6245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4.2  100% stacked bars make positional composition comparable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Question 3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420624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47672"/>
            <a:ext cx="475488" cy="47548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71600" y="17373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How does squad market-value composition differ by playing position across countries?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880360"/>
            <a:ext cx="4206240" cy="365760"/>
          </a:xfrm>
          <a:prstGeom prst="rect">
            <a:avLst/>
          </a:prstGeom>
          <a:solidFill>
            <a:srgbClr val="156664"/>
          </a:solidFill>
          <a:ln w="12700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457200" y="2880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Why this visualization works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3246120"/>
            <a:ext cx="4206240" cy="27432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3832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24128" y="33649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66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100% stacked horizontal bar chart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640080" y="3749040"/>
            <a:ext cx="388620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Shows how each country's total squad value is distributed across positions.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Standardizing each country to 100% allows fair comparison regardless of total squad value.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One bar per country makes positional composition easy to compare.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Consistent colors make it easy to track the same position across countries.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Percentage labels provide exact values without estimation.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Countries with unusually high or low concentration in certain positions stand out.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029200" y="1325880"/>
            <a:ext cx="0" cy="4663440"/>
          </a:xfrm>
          <a:prstGeom prst="line">
            <a:avLst/>
          </a:prstGeom>
          <a:noFill/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855464" y="3483864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3584448"/>
            <a:ext cx="146304" cy="14630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394960" y="1280160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Visualization — 100% stacked horizontal bar chart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394960" y="1645920"/>
            <a:ext cx="635508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img/tab_image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4960" y="1812109"/>
            <a:ext cx="6355080" cy="4175613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5394960" y="1812109"/>
            <a:ext cx="6355080" cy="4175613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822960" y="6382512"/>
            <a:ext cx="100584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7680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 txBox="1"/>
          <p:nvPr/>
        </p:nvSpPr>
        <p:spPr>
          <a:xfrm>
            <a:off x="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Data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2205010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 txBox="1"/>
          <p:nvPr/>
        </p:nvSpPr>
        <p:spPr>
          <a:xfrm>
            <a:off x="1436914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Q1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3641925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 txBox="1"/>
          <p:nvPr/>
        </p:nvSpPr>
        <p:spPr>
          <a:xfrm>
            <a:off x="2873829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Q2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5042263" y="6291072"/>
            <a:ext cx="182880" cy="182880"/>
          </a:xfrm>
          <a:prstGeom prst="ellipse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 txBox="1"/>
          <p:nvPr/>
        </p:nvSpPr>
        <p:spPr>
          <a:xfrm>
            <a:off x="4310743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Q3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6515753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 txBox="1"/>
          <p:nvPr/>
        </p:nvSpPr>
        <p:spPr>
          <a:xfrm>
            <a:off x="5747657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Q4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7952667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 txBox="1"/>
          <p:nvPr/>
        </p:nvSpPr>
        <p:spPr>
          <a:xfrm>
            <a:off x="7184571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Q5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9389582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1"/>
          <p:cNvSpPr txBox="1"/>
          <p:nvPr/>
        </p:nvSpPr>
        <p:spPr>
          <a:xfrm>
            <a:off x="8621486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Q6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108264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3"/>
          <p:cNvSpPr txBox="1"/>
          <p:nvPr/>
        </p:nvSpPr>
        <p:spPr>
          <a:xfrm>
            <a:off x="10058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Takeaways</a:t>
            </a:r>
            <a:endParaRPr lang="en-US" sz="900" dirty="0"/>
          </a:p>
        </p:txBody>
      </p:sp>
      <p:sp>
        <p:nvSpPr>
          <p:cNvPr id="40" name="Text 34"/>
          <p:cNvSpPr txBox="1"/>
          <p:nvPr/>
        </p:nvSpPr>
        <p:spPr>
          <a:xfrm>
            <a:off x="11384280" y="6245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5.1  Broad age groups flatten the age distribution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Question 4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420624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47672"/>
            <a:ext cx="475488" cy="47548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71600" y="17373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What is the age profile of players at the 2026 World Cup?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880360"/>
            <a:ext cx="4206240" cy="365760"/>
          </a:xfrm>
          <a:prstGeom prst="rect">
            <a:avLst/>
          </a:prstGeom>
          <a:solidFill>
            <a:srgbClr val="D51B24"/>
          </a:solidFill>
          <a:ln w="12700">
            <a:solidFill>
              <a:srgbClr val="D51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457200" y="2880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Why this visualization doesn't work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3246120"/>
            <a:ext cx="4206240" cy="27432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3832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24128" y="33649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51B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Vertical bar chart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640080" y="3749040"/>
            <a:ext cx="388620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Broad age groups hide differences between individual ages.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Group boundaries are arbitrary and can influence how the distribution appears.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Makes it difficult to identify the exact peak age.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Hides the detailed shape and spread of the age distribution.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029200" y="1325880"/>
            <a:ext cx="0" cy="4663440"/>
          </a:xfrm>
          <a:prstGeom prst="line">
            <a:avLst/>
          </a:prstGeom>
          <a:noFill/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855464" y="3483864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3584448"/>
            <a:ext cx="146304" cy="14630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394960" y="1280160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Visualization — Vertical bar chart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394960" y="1645920"/>
            <a:ext cx="635508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img/tab_image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0648" y="1810512"/>
            <a:ext cx="5863703" cy="4178808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5640648" y="1810512"/>
            <a:ext cx="5863703" cy="4178808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822960" y="6382512"/>
            <a:ext cx="100584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7680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 txBox="1"/>
          <p:nvPr/>
        </p:nvSpPr>
        <p:spPr>
          <a:xfrm>
            <a:off x="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Data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2205010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 txBox="1"/>
          <p:nvPr/>
        </p:nvSpPr>
        <p:spPr>
          <a:xfrm>
            <a:off x="1436914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Q1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3641925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 txBox="1"/>
          <p:nvPr/>
        </p:nvSpPr>
        <p:spPr>
          <a:xfrm>
            <a:off x="2873829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Q2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5078839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 txBox="1"/>
          <p:nvPr/>
        </p:nvSpPr>
        <p:spPr>
          <a:xfrm>
            <a:off x="4310743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Q3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6479177" y="6291072"/>
            <a:ext cx="182880" cy="182880"/>
          </a:xfrm>
          <a:prstGeom prst="ellipse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 txBox="1"/>
          <p:nvPr/>
        </p:nvSpPr>
        <p:spPr>
          <a:xfrm>
            <a:off x="5747657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Q4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7952667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 txBox="1"/>
          <p:nvPr/>
        </p:nvSpPr>
        <p:spPr>
          <a:xfrm>
            <a:off x="7184571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Q5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9389582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1"/>
          <p:cNvSpPr txBox="1"/>
          <p:nvPr/>
        </p:nvSpPr>
        <p:spPr>
          <a:xfrm>
            <a:off x="8621486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Q6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108264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3"/>
          <p:cNvSpPr txBox="1"/>
          <p:nvPr/>
        </p:nvSpPr>
        <p:spPr>
          <a:xfrm>
            <a:off x="10058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Takeaways</a:t>
            </a:r>
            <a:endParaRPr lang="en-US" sz="900" dirty="0"/>
          </a:p>
        </p:txBody>
      </p:sp>
      <p:sp>
        <p:nvSpPr>
          <p:cNvPr id="40" name="Text 34"/>
          <p:cNvSpPr txBox="1"/>
          <p:nvPr/>
        </p:nvSpPr>
        <p:spPr>
          <a:xfrm>
            <a:off x="11384280" y="6245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5.2  A one-year histogram reveals the true age profile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Question 4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420624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47672"/>
            <a:ext cx="475488" cy="47548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71600" y="17373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What is the age profile of players at the 2026 World Cup?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880360"/>
            <a:ext cx="4206240" cy="365760"/>
          </a:xfrm>
          <a:prstGeom prst="rect">
            <a:avLst/>
          </a:prstGeom>
          <a:solidFill>
            <a:srgbClr val="156664"/>
          </a:solidFill>
          <a:ln w="12700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457200" y="2880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Why this visualization works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3246120"/>
            <a:ext cx="4206240" cy="27432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3832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24128" y="33649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66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Histogram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640080" y="3749040"/>
            <a:ext cx="388620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Histogram is appropriate for showing the distribution of numerical data like age.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One-year bins preserve the detail of individual ages.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Clearly shows the most common ages and where players are concentrated.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Makes the overall shape, spread, and any unusual ages easy to identify.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029200" y="1325880"/>
            <a:ext cx="0" cy="4663440"/>
          </a:xfrm>
          <a:prstGeom prst="line">
            <a:avLst/>
          </a:prstGeom>
          <a:noFill/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855464" y="3483864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3584448"/>
            <a:ext cx="146304" cy="14630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394960" y="1280160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Visualization — Histogram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394960" y="1645920"/>
            <a:ext cx="635508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img/tab_image1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9072" y="1810512"/>
            <a:ext cx="5966856" cy="4178808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5589072" y="1810512"/>
            <a:ext cx="5966856" cy="4178808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822960" y="6382512"/>
            <a:ext cx="100584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7680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 txBox="1"/>
          <p:nvPr/>
        </p:nvSpPr>
        <p:spPr>
          <a:xfrm>
            <a:off x="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Data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2205010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 txBox="1"/>
          <p:nvPr/>
        </p:nvSpPr>
        <p:spPr>
          <a:xfrm>
            <a:off x="1436914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Q1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3641925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 txBox="1"/>
          <p:nvPr/>
        </p:nvSpPr>
        <p:spPr>
          <a:xfrm>
            <a:off x="2873829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Q2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5078839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 txBox="1"/>
          <p:nvPr/>
        </p:nvSpPr>
        <p:spPr>
          <a:xfrm>
            <a:off x="4310743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Q3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6479177" y="6291072"/>
            <a:ext cx="182880" cy="182880"/>
          </a:xfrm>
          <a:prstGeom prst="ellipse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 txBox="1"/>
          <p:nvPr/>
        </p:nvSpPr>
        <p:spPr>
          <a:xfrm>
            <a:off x="5747657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Q4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7952667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 txBox="1"/>
          <p:nvPr/>
        </p:nvSpPr>
        <p:spPr>
          <a:xfrm>
            <a:off x="7184571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Q5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9389582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1"/>
          <p:cNvSpPr txBox="1"/>
          <p:nvPr/>
        </p:nvSpPr>
        <p:spPr>
          <a:xfrm>
            <a:off x="8621486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Q6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108264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3"/>
          <p:cNvSpPr txBox="1"/>
          <p:nvPr/>
        </p:nvSpPr>
        <p:spPr>
          <a:xfrm>
            <a:off x="10058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Takeaways</a:t>
            </a:r>
            <a:endParaRPr lang="en-US" sz="900" dirty="0"/>
          </a:p>
        </p:txBody>
      </p:sp>
      <p:sp>
        <p:nvSpPr>
          <p:cNvPr id="40" name="Text 34"/>
          <p:cNvSpPr txBox="1"/>
          <p:nvPr/>
        </p:nvSpPr>
        <p:spPr>
          <a:xfrm>
            <a:off x="11384280" y="6245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6.1  Total goals reward playing time, not efficiency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Question 5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420624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47672"/>
            <a:ext cx="475488" cy="47548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71600" y="17373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Which players generate the greatest attacking output relative to their playing time?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880360"/>
            <a:ext cx="4206240" cy="365760"/>
          </a:xfrm>
          <a:prstGeom prst="rect">
            <a:avLst/>
          </a:prstGeom>
          <a:solidFill>
            <a:srgbClr val="D51B24"/>
          </a:solidFill>
          <a:ln w="12700">
            <a:solidFill>
              <a:srgbClr val="D51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457200" y="2880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Why this visualization doesn't work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3246120"/>
            <a:ext cx="4206240" cy="27432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3832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24128" y="33649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51B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Horizontal bar chart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640080" y="3749040"/>
            <a:ext cx="388620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Shows total goals but ignores the playing time required to score them.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Favors players with more minutes, so efficiency comparisons can be misleading.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Only considers goals and ignores assists, even though both contribute to attacking output.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Sorted bars make top scorers easy to find, but not who produces the most output relative to playing time.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029200" y="1325880"/>
            <a:ext cx="0" cy="4663440"/>
          </a:xfrm>
          <a:prstGeom prst="line">
            <a:avLst/>
          </a:prstGeom>
          <a:noFill/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855464" y="3483864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3584448"/>
            <a:ext cx="146304" cy="14630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394960" y="1280160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Visualization — Horizontal bar chart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394960" y="1645920"/>
            <a:ext cx="635508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img/tab_image1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6959" y="1810512"/>
            <a:ext cx="6231082" cy="4178808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5456959" y="1810512"/>
            <a:ext cx="6231082" cy="4178808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822960" y="6382512"/>
            <a:ext cx="100584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7680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 txBox="1"/>
          <p:nvPr/>
        </p:nvSpPr>
        <p:spPr>
          <a:xfrm>
            <a:off x="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Data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2205010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 txBox="1"/>
          <p:nvPr/>
        </p:nvSpPr>
        <p:spPr>
          <a:xfrm>
            <a:off x="1436914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Q1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3641925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 txBox="1"/>
          <p:nvPr/>
        </p:nvSpPr>
        <p:spPr>
          <a:xfrm>
            <a:off x="2873829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Q2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5078839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 txBox="1"/>
          <p:nvPr/>
        </p:nvSpPr>
        <p:spPr>
          <a:xfrm>
            <a:off x="4310743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Q3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6515753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 txBox="1"/>
          <p:nvPr/>
        </p:nvSpPr>
        <p:spPr>
          <a:xfrm>
            <a:off x="5747657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Q4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7916091" y="6291072"/>
            <a:ext cx="182880" cy="182880"/>
          </a:xfrm>
          <a:prstGeom prst="ellipse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 txBox="1"/>
          <p:nvPr/>
        </p:nvSpPr>
        <p:spPr>
          <a:xfrm>
            <a:off x="7184571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Q5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9389582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1"/>
          <p:cNvSpPr txBox="1"/>
          <p:nvPr/>
        </p:nvSpPr>
        <p:spPr>
          <a:xfrm>
            <a:off x="8621486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Q6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108264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3"/>
          <p:cNvSpPr txBox="1"/>
          <p:nvPr/>
        </p:nvSpPr>
        <p:spPr>
          <a:xfrm>
            <a:off x="10058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Takeaways</a:t>
            </a:r>
            <a:endParaRPr lang="en-US" sz="900" dirty="0"/>
          </a:p>
        </p:txBody>
      </p:sp>
      <p:sp>
        <p:nvSpPr>
          <p:cNvPr id="40" name="Text 34"/>
          <p:cNvSpPr txBox="1"/>
          <p:nvPr/>
        </p:nvSpPr>
        <p:spPr>
          <a:xfrm>
            <a:off x="11384280" y="6245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6.2  Plotting output against minutes reveals efficient attackers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Question 5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420624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47672"/>
            <a:ext cx="475488" cy="47548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71600" y="17373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Which players generate the greatest attacking output relative to their playing time?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880360"/>
            <a:ext cx="4206240" cy="365760"/>
          </a:xfrm>
          <a:prstGeom prst="rect">
            <a:avLst/>
          </a:prstGeom>
          <a:solidFill>
            <a:srgbClr val="156664"/>
          </a:solidFill>
          <a:ln w="12700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457200" y="2880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Why this visualization works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3246120"/>
            <a:ext cx="4206240" cy="27432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3832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24128" y="33649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66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Scatter plot with trend lines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640080" y="3749040"/>
            <a:ext cx="388620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Directly compares playing time with attacking output, answering the question better than ranking total goals.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Appropriate for showing the relationship between two continuous variables.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Each dot is an individual player, making high-performing outliers visible.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Trend lines make the relationship between minutes and output easier to see.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Color separates DEF, MID, and FWD, so productivity can be compared across positions.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Goals + assists gives a broader measure of attacking contribution than goals alone.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029200" y="1325880"/>
            <a:ext cx="0" cy="4663440"/>
          </a:xfrm>
          <a:prstGeom prst="line">
            <a:avLst/>
          </a:prstGeom>
          <a:noFill/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855464" y="3483864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3584448"/>
            <a:ext cx="146304" cy="14630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394960" y="1280160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Visualization — Scatter plot with trend lines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394960" y="1645920"/>
            <a:ext cx="635508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img/tab_image1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4960" y="1825338"/>
            <a:ext cx="6355080" cy="4149157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5394960" y="1825338"/>
            <a:ext cx="6355080" cy="4149157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822960" y="6382512"/>
            <a:ext cx="100584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7680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 txBox="1"/>
          <p:nvPr/>
        </p:nvSpPr>
        <p:spPr>
          <a:xfrm>
            <a:off x="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Data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2205010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 txBox="1"/>
          <p:nvPr/>
        </p:nvSpPr>
        <p:spPr>
          <a:xfrm>
            <a:off x="1436914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Q1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3641925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 txBox="1"/>
          <p:nvPr/>
        </p:nvSpPr>
        <p:spPr>
          <a:xfrm>
            <a:off x="2873829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Q2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5078839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 txBox="1"/>
          <p:nvPr/>
        </p:nvSpPr>
        <p:spPr>
          <a:xfrm>
            <a:off x="4310743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Q3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6515753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 txBox="1"/>
          <p:nvPr/>
        </p:nvSpPr>
        <p:spPr>
          <a:xfrm>
            <a:off x="5747657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Q4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7916091" y="6291072"/>
            <a:ext cx="182880" cy="182880"/>
          </a:xfrm>
          <a:prstGeom prst="ellipse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 txBox="1"/>
          <p:nvPr/>
        </p:nvSpPr>
        <p:spPr>
          <a:xfrm>
            <a:off x="7184571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Q5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9389582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1"/>
          <p:cNvSpPr txBox="1"/>
          <p:nvPr/>
        </p:nvSpPr>
        <p:spPr>
          <a:xfrm>
            <a:off x="8621486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Q6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108264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3"/>
          <p:cNvSpPr txBox="1"/>
          <p:nvPr/>
        </p:nvSpPr>
        <p:spPr>
          <a:xfrm>
            <a:off x="10058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Takeaways</a:t>
            </a:r>
            <a:endParaRPr lang="en-US" sz="900" dirty="0"/>
          </a:p>
        </p:txBody>
      </p:sp>
      <p:sp>
        <p:nvSpPr>
          <p:cNvPr id="40" name="Text 34"/>
          <p:cNvSpPr txBox="1"/>
          <p:nvPr/>
        </p:nvSpPr>
        <p:spPr>
          <a:xfrm>
            <a:off x="11384280" y="6245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7.1  Four pie charts obscure how value changes with age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Question 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420624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47672"/>
            <a:ext cx="475488" cy="47548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71600" y="17373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How does average market value change with age across different playing positions?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880360"/>
            <a:ext cx="4206240" cy="365760"/>
          </a:xfrm>
          <a:prstGeom prst="rect">
            <a:avLst/>
          </a:prstGeom>
          <a:solidFill>
            <a:srgbClr val="D51B24"/>
          </a:solidFill>
          <a:ln w="12700">
            <a:solidFill>
              <a:srgbClr val="D51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457200" y="2880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Why this visualization doesn't work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3246120"/>
            <a:ext cx="4206240" cy="27432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3832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24128" y="33649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51B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Pie charts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640080" y="3749040"/>
            <a:ext cx="388620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People judge angles and areas less accurately than position or length, so values are hard to compare.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Four separate pies force viewers to look back and forth between positions.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Age groups have a natural order, but pies do not emphasize the progression.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Hard to see whether value increases, decreases, or peaks at a certain age.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Similar-sized slices are difficult to distinguish without reading labels.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029200" y="1325880"/>
            <a:ext cx="0" cy="4663440"/>
          </a:xfrm>
          <a:prstGeom prst="line">
            <a:avLst/>
          </a:prstGeom>
          <a:noFill/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855464" y="3483864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3584448"/>
            <a:ext cx="146304" cy="14630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394960" y="1280160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Visualization — Pie charts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394960" y="1645920"/>
            <a:ext cx="635508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img/tab_image1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5462" y="1810512"/>
            <a:ext cx="5914076" cy="4178808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5615462" y="1810512"/>
            <a:ext cx="5914076" cy="4178808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822960" y="6382512"/>
            <a:ext cx="100584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7680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 txBox="1"/>
          <p:nvPr/>
        </p:nvSpPr>
        <p:spPr>
          <a:xfrm>
            <a:off x="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Data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2205010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 txBox="1"/>
          <p:nvPr/>
        </p:nvSpPr>
        <p:spPr>
          <a:xfrm>
            <a:off x="1436914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Q1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3641925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 txBox="1"/>
          <p:nvPr/>
        </p:nvSpPr>
        <p:spPr>
          <a:xfrm>
            <a:off x="2873829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Q2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5078839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 txBox="1"/>
          <p:nvPr/>
        </p:nvSpPr>
        <p:spPr>
          <a:xfrm>
            <a:off x="4310743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Q3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6515753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 txBox="1"/>
          <p:nvPr/>
        </p:nvSpPr>
        <p:spPr>
          <a:xfrm>
            <a:off x="5747657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Q4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7952667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 txBox="1"/>
          <p:nvPr/>
        </p:nvSpPr>
        <p:spPr>
          <a:xfrm>
            <a:off x="7184571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Q5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9353006" y="6291072"/>
            <a:ext cx="182880" cy="182880"/>
          </a:xfrm>
          <a:prstGeom prst="ellipse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1"/>
          <p:cNvSpPr txBox="1"/>
          <p:nvPr/>
        </p:nvSpPr>
        <p:spPr>
          <a:xfrm>
            <a:off x="8621486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Q6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108264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3"/>
          <p:cNvSpPr txBox="1"/>
          <p:nvPr/>
        </p:nvSpPr>
        <p:spPr>
          <a:xfrm>
            <a:off x="10058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Takeaways</a:t>
            </a:r>
            <a:endParaRPr lang="en-US" sz="900" dirty="0"/>
          </a:p>
        </p:txBody>
      </p:sp>
      <p:sp>
        <p:nvSpPr>
          <p:cNvPr id="40" name="Text 34"/>
          <p:cNvSpPr txBox="1"/>
          <p:nvPr/>
        </p:nvSpPr>
        <p:spPr>
          <a:xfrm>
            <a:off x="11384280" y="6245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7.2  A multi-series line chart traces value across ages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Question 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420624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47672"/>
            <a:ext cx="475488" cy="47548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71600" y="17373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How does average market value change with age across different playing positions?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880360"/>
            <a:ext cx="4206240" cy="365760"/>
          </a:xfrm>
          <a:prstGeom prst="rect">
            <a:avLst/>
          </a:prstGeom>
          <a:solidFill>
            <a:srgbClr val="156664"/>
          </a:solidFill>
          <a:ln w="12700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457200" y="2880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Why this visualization works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3246120"/>
            <a:ext cx="4206240" cy="27432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3832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24128" y="33649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66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Multi-series line chart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640080" y="3749040"/>
            <a:ext cx="388620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Clearly shows how average market value changes as age increases.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Age is naturally ordered, making a line chart appropriate for the progression.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Separate lines make differences between positions easy to compare.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Peaks and declines in market value are immediately visible.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Consistent colors make each position easy to follow across ages.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029200" y="1325880"/>
            <a:ext cx="0" cy="4663440"/>
          </a:xfrm>
          <a:prstGeom prst="line">
            <a:avLst/>
          </a:prstGeom>
          <a:noFill/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855464" y="3483864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3584448"/>
            <a:ext cx="146304" cy="14630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394960" y="1280160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Visualization — Multi-series line chart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394960" y="1645920"/>
            <a:ext cx="635508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img/tab_image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4960" y="1945947"/>
            <a:ext cx="6355080" cy="3907937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5394960" y="1945947"/>
            <a:ext cx="6355080" cy="3907937"/>
          </a:xfrm>
          <a:prstGeom prst="rect">
            <a:avLst/>
          </a:prstGeom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822960" y="6382512"/>
            <a:ext cx="100584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7680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 txBox="1"/>
          <p:nvPr/>
        </p:nvSpPr>
        <p:spPr>
          <a:xfrm>
            <a:off x="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Data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2205010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 txBox="1"/>
          <p:nvPr/>
        </p:nvSpPr>
        <p:spPr>
          <a:xfrm>
            <a:off x="1436914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Q1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3641925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 txBox="1"/>
          <p:nvPr/>
        </p:nvSpPr>
        <p:spPr>
          <a:xfrm>
            <a:off x="2873829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Q2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5078839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 txBox="1"/>
          <p:nvPr/>
        </p:nvSpPr>
        <p:spPr>
          <a:xfrm>
            <a:off x="4310743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Q3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6515753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 txBox="1"/>
          <p:nvPr/>
        </p:nvSpPr>
        <p:spPr>
          <a:xfrm>
            <a:off x="5747657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Q4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7952667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 txBox="1"/>
          <p:nvPr/>
        </p:nvSpPr>
        <p:spPr>
          <a:xfrm>
            <a:off x="7184571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Q5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9353006" y="6291072"/>
            <a:ext cx="182880" cy="182880"/>
          </a:xfrm>
          <a:prstGeom prst="ellipse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1"/>
          <p:cNvSpPr txBox="1"/>
          <p:nvPr/>
        </p:nvSpPr>
        <p:spPr>
          <a:xfrm>
            <a:off x="8621486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Q6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108264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3"/>
          <p:cNvSpPr txBox="1"/>
          <p:nvPr/>
        </p:nvSpPr>
        <p:spPr>
          <a:xfrm>
            <a:off x="10058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Takeaways</a:t>
            </a:r>
            <a:endParaRPr lang="en-US" sz="900" dirty="0"/>
          </a:p>
        </p:txBody>
      </p:sp>
      <p:sp>
        <p:nvSpPr>
          <p:cNvPr id="40" name="Text 34"/>
          <p:cNvSpPr txBox="1"/>
          <p:nvPr/>
        </p:nvSpPr>
        <p:spPr>
          <a:xfrm>
            <a:off x="11384280" y="6245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8. Key Takeaways: match the chart to the question</a:t>
            </a:r>
            <a:endParaRPr lang="en-US" sz="2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4552" cy="4407408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535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#</a:t>
                      </a:r>
                      <a:endParaRPr lang="en-US" sz="125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1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Question focus</a:t>
                      </a:r>
                      <a:endParaRPr lang="en-US" sz="125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1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✕  Weak choice</a:t>
                      </a:r>
                      <a:endParaRPr lang="en-US" sz="125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✓  Better choice</a:t>
                      </a:r>
                      <a:endParaRPr lang="en-US" sz="125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6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Design principle</a:t>
                      </a:r>
                      <a:endParaRPr lang="en-US" sz="125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7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21131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Q1</a:t>
                      </a:r>
                      <a:endParaRPr lang="en-US" sz="125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Most valuable World Cup squads</a:t>
                      </a:r>
                      <a:endParaRPr lang="en-US" sz="125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51B24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Packed bubble chart</a:t>
                      </a:r>
                      <a:endParaRPr lang="en-US" sz="125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56664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Horizontal bar chart</a:t>
                      </a:r>
                      <a:endParaRPr lang="en-US" sz="125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i="1" dirty="0">
                          <a:solidFill>
                            <a:srgbClr val="262626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Sort bars — length beats area</a:t>
                      </a:r>
                      <a:endParaRPr lang="en-US" sz="125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21131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Q2</a:t>
                      </a:r>
                      <a:endParaRPr lang="en-US" sz="125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International caps vs. market value</a:t>
                      </a:r>
                      <a:endParaRPr lang="en-US" sz="125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51B24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Vertical bar chart</a:t>
                      </a:r>
                      <a:endParaRPr lang="en-US" sz="125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56664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Scatter plot with trend lines</a:t>
                      </a:r>
                      <a:endParaRPr lang="en-US" sz="125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i="1" dirty="0">
                          <a:solidFill>
                            <a:srgbClr val="262626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Plot individuals to show relationships</a:t>
                      </a:r>
                      <a:endParaRPr lang="en-US" sz="125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21131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Q3</a:t>
                      </a:r>
                      <a:endParaRPr lang="en-US" sz="125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Squad value composition by position</a:t>
                      </a:r>
                      <a:endParaRPr lang="en-US" sz="125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51B24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Small multiples bar chart</a:t>
                      </a:r>
                      <a:endParaRPr lang="en-US" sz="125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56664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100% stacked horizontal bar chart</a:t>
                      </a:r>
                      <a:endParaRPr lang="en-US" sz="125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i="1" dirty="0">
                          <a:solidFill>
                            <a:srgbClr val="262626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Normalize to 100% for composition</a:t>
                      </a:r>
                      <a:endParaRPr lang="en-US" sz="125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21131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Q4</a:t>
                      </a:r>
                      <a:endParaRPr lang="en-US" sz="125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Age profile of players</a:t>
                      </a:r>
                      <a:endParaRPr lang="en-US" sz="125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51B24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Vertical bar chart</a:t>
                      </a:r>
                      <a:endParaRPr lang="en-US" sz="125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56664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Histogram</a:t>
                      </a:r>
                      <a:endParaRPr lang="en-US" sz="125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i="1" dirty="0">
                          <a:solidFill>
                            <a:srgbClr val="262626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Use fine bins for distributions</a:t>
                      </a:r>
                      <a:endParaRPr lang="en-US" sz="125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21131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Q5</a:t>
                      </a:r>
                      <a:endParaRPr lang="en-US" sz="125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Attacking output relative to playing time</a:t>
                      </a:r>
                      <a:endParaRPr lang="en-US" sz="125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51B24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Horizontal bar chart</a:t>
                      </a:r>
                      <a:endParaRPr lang="en-US" sz="125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56664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Scatter plot with trend lines</a:t>
                      </a:r>
                      <a:endParaRPr lang="en-US" sz="125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i="1" dirty="0">
                          <a:solidFill>
                            <a:srgbClr val="262626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Normalize output by opportunity</a:t>
                      </a:r>
                      <a:endParaRPr lang="en-US" sz="125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21131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Q6</a:t>
                      </a:r>
                      <a:endParaRPr lang="en-US" sz="125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Market value by age and position</a:t>
                      </a:r>
                      <a:endParaRPr lang="en-US" sz="125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51B24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Pie charts</a:t>
                      </a:r>
                      <a:endParaRPr lang="en-US" sz="125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56664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Multi-series line chart</a:t>
                      </a:r>
                      <a:endParaRPr lang="en-US" sz="125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i="1" dirty="0">
                          <a:solidFill>
                            <a:srgbClr val="262626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Use lines for ordered progressions</a:t>
                      </a:r>
                      <a:endParaRPr lang="en-US" sz="125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22960" y="6382512"/>
            <a:ext cx="100584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680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Data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205010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1436914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Q1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641925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2873829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Q2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078839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4310743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Q3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515753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5747657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Q4</a:t>
            </a:r>
            <a:endParaRPr lang="en-US" sz="900" dirty="0"/>
          </a:p>
        </p:txBody>
      </p:sp>
      <p:sp>
        <p:nvSpPr>
          <p:cNvPr id="5" name="Shape 14"/>
          <p:cNvSpPr/>
          <p:nvPr/>
        </p:nvSpPr>
        <p:spPr>
          <a:xfrm>
            <a:off x="7952667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7184571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Q5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9389582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8621486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Q6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10789920" y="6291072"/>
            <a:ext cx="182880" cy="182880"/>
          </a:xfrm>
          <a:prstGeom prst="ellipse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10058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Takeaways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1384280" y="6245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1666</TotalTime>
  <Words>1653</Words>
  <Application>Microsoft Macintosh PowerPoint</Application>
  <PresentationFormat>Widescreen</PresentationFormat>
  <Paragraphs>343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Palatino Linotype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Good vs. Bad Data Visualizations in Tableau</dc:title>
  <dc:subject>PptxGenJS Presentation</dc:subject>
  <dc:creator>Cindy Liu</dc:creator>
  <cp:lastModifiedBy>Cindy Liu</cp:lastModifiedBy>
  <cp:revision>5</cp:revision>
  <dcterms:created xsi:type="dcterms:W3CDTF">2026-09-30T18:16:30Z</dcterms:created>
  <dcterms:modified xsi:type="dcterms:W3CDTF">2026-10-12T02:39:53Z</dcterms:modified>
</cp:coreProperties>
</file>